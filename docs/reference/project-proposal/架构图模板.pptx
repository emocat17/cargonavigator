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7"/>
  </p:handoutMasterIdLst>
  <p:sldIdLst>
    <p:sldId id="338" r:id="rId3"/>
    <p:sldId id="306" r:id="rId5"/>
    <p:sldId id="257" r:id="rId6"/>
    <p:sldId id="260" r:id="rId7"/>
    <p:sldId id="258" r:id="rId8"/>
    <p:sldId id="259" r:id="rId9"/>
    <p:sldId id="263" r:id="rId10"/>
    <p:sldId id="264" r:id="rId11"/>
    <p:sldId id="273" r:id="rId12"/>
    <p:sldId id="274" r:id="rId13"/>
    <p:sldId id="275" r:id="rId14"/>
    <p:sldId id="280" r:id="rId15"/>
    <p:sldId id="277" r:id="rId16"/>
    <p:sldId id="286" r:id="rId17"/>
    <p:sldId id="276" r:id="rId18"/>
    <p:sldId id="281" r:id="rId19"/>
    <p:sldId id="282" r:id="rId20"/>
    <p:sldId id="27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5" r:id="rId34"/>
    <p:sldId id="304" r:id="rId35"/>
    <p:sldId id="303" r:id="rId36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DE5B81-A877-4ECC-8DE4-E1EA92033019}">
          <p14:sldIdLst>
            <p14:sldId id="338"/>
            <p14:sldId id="306"/>
            <p14:sldId id="257"/>
            <p14:sldId id="260"/>
            <p14:sldId id="258"/>
            <p14:sldId id="259"/>
            <p14:sldId id="263"/>
            <p14:sldId id="264"/>
            <p14:sldId id="273"/>
            <p14:sldId id="274"/>
            <p14:sldId id="275"/>
            <p14:sldId id="280"/>
            <p14:sldId id="277"/>
            <p14:sldId id="286"/>
            <p14:sldId id="276"/>
            <p14:sldId id="281"/>
            <p14:sldId id="282"/>
            <p14:sldId id="279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5"/>
            <p14:sldId id="304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9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/>
  <p:cmAuthor id="2" name="作者" initials="A" lastIdx="0" clrIdx="0"/>
  <p:cmAuthor id="3" name="xwp" initials="x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6F2"/>
    <a:srgbClr val="E6E0EC"/>
    <a:srgbClr val="5B9BD5"/>
    <a:srgbClr val="80FF00"/>
    <a:srgbClr val="F7EED6"/>
    <a:srgbClr val="9999FF"/>
    <a:srgbClr val="F74E27"/>
    <a:srgbClr val="61A1D7"/>
    <a:srgbClr val="33E2D7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18" y="67"/>
      </p:cViewPr>
      <p:guideLst>
        <p:guide orient="horz" pos="2164"/>
        <p:guide pos="392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84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按计划</a:t>
            </a:r>
            <a:r>
              <a:rPr lang="en-US" altLang="zh-CN" dirty="0"/>
              <a:t>3</a:t>
            </a:r>
            <a:r>
              <a:rPr lang="zh-CN" altLang="en-US" dirty="0"/>
              <a:t>年完成，前期偏重技术研究，后期主要是系统研发和应用。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1FF9AF-BABF-4BF3-AD3D-6BF15EA12EC1}" type="slidenum">
              <a:rPr lang="en-US" altLang="en-US" smtClean="0"/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7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tags" Target="../tags/tag7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7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79.xml"/><Relationship Id="rId10" Type="http://schemas.openxmlformats.org/officeDocument/2006/relationships/image" Target="../media/image54.png"/><Relationship Id="rId1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8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8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8"/>
          <p:cNvSpPr/>
          <p:nvPr/>
        </p:nvSpPr>
        <p:spPr>
          <a:xfrm>
            <a:off x="78920" y="2038784"/>
            <a:ext cx="7728032" cy="148416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1489625" y="214839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数据安全存储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1489625" y="284595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日志行为分析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7518" y="2518886"/>
            <a:ext cx="11074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数据管理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与计算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95624" y="88776"/>
            <a:ext cx="9744987" cy="1797017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60678" y="852226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应用层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1266613" y="195067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数据分享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78920" y="6055749"/>
            <a:ext cx="7711328" cy="622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0674" y="6219222"/>
            <a:ext cx="17373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数据层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1489626" y="614731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统一路网图谱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3594573" y="6137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多模态知识库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4" name="CustomShape 9"/>
          <p:cNvSpPr/>
          <p:nvPr/>
        </p:nvSpPr>
        <p:spPr>
          <a:xfrm>
            <a:off x="5706466" y="6137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数据融合服务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5624" y="3749623"/>
            <a:ext cx="7711328" cy="2190679"/>
            <a:chOff x="95624" y="3749623"/>
            <a:chExt cx="7711328" cy="2190679"/>
          </a:xfrm>
        </p:grpSpPr>
        <p:sp>
          <p:nvSpPr>
            <p:cNvPr id="45" name="文本框 44"/>
            <p:cNvSpPr txBox="1"/>
            <p:nvPr/>
          </p:nvSpPr>
          <p:spPr>
            <a:xfrm>
              <a:off x="277234" y="4450663"/>
              <a:ext cx="1016635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latin typeface="+mn-ea"/>
                </a:defRPr>
              </a:lvl1pPr>
            </a:lstStyle>
            <a:p>
              <a:r>
                <a:rPr lang="zh-CN" altLang="en-US" b="0">
                  <a:latin typeface="黑体" panose="02010609060101010101" charset="-122"/>
                  <a:ea typeface="黑体" panose="02010609060101010101" charset="-122"/>
                </a:rPr>
                <a:t>智能编</a:t>
              </a:r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  <a:p>
              <a:r>
                <a:rPr lang="zh-CN" altLang="en-US" b="0">
                  <a:latin typeface="黑体" panose="02010609060101010101" charset="-122"/>
                  <a:ea typeface="黑体" panose="02010609060101010101" charset="-122"/>
                </a:rPr>
                <a:t>排引擎</a:t>
              </a:r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471251" y="3931395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LLM</a:t>
              </a:r>
              <a:r>
                <a:rPr lang="zh-CN" altLang="en-US" b="1"/>
                <a:t>智能体</a:t>
              </a:r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 b="1"/>
            </a:p>
          </p:txBody>
        </p:sp>
        <p:sp>
          <p:nvSpPr>
            <p:cNvPr id="47" name="矩形 46"/>
            <p:cNvSpPr/>
            <p:nvPr/>
          </p:nvSpPr>
          <p:spPr>
            <a:xfrm>
              <a:off x="1659123" y="442070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自然语言理解</a:t>
              </a:r>
              <a:endParaRPr lang="zh-CN" altLang="en-US" sz="16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671854" y="509598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工具调用</a:t>
              </a:r>
              <a:endParaRPr lang="zh-CN" sz="1600"/>
            </a:p>
          </p:txBody>
        </p:sp>
        <p:sp>
          <p:nvSpPr>
            <p:cNvPr id="43" name="矩形 42"/>
            <p:cNvSpPr/>
            <p:nvPr/>
          </p:nvSpPr>
          <p:spPr>
            <a:xfrm>
              <a:off x="95624" y="3749623"/>
              <a:ext cx="7711328" cy="2190679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577752" y="3931395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RAG</a:t>
              </a:r>
              <a:r>
                <a:rPr lang="zh-CN" altLang="en-US" b="1"/>
                <a:t>服务</a:t>
              </a:r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765624" y="442070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提示词注入</a:t>
              </a:r>
              <a:endParaRPr lang="zh-CN" altLang="en-US" sz="160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778355" y="509598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混合检索</a:t>
              </a:r>
              <a:endParaRPr lang="zh-CN" sz="160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684253" y="3926153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算法服务</a:t>
              </a:r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872125" y="4415460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路径规划</a:t>
              </a:r>
              <a:endParaRPr lang="zh-CN" altLang="en-US" sz="16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884856" y="5090740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600"/>
                <a:t>模拟仿真</a:t>
              </a:r>
              <a:endParaRPr lang="zh-CN" sz="1600"/>
            </a:p>
          </p:txBody>
        </p:sp>
      </p:grpSp>
      <p:sp>
        <p:nvSpPr>
          <p:cNvPr id="30" name="CustomShape 9"/>
          <p:cNvSpPr/>
          <p:nvPr/>
        </p:nvSpPr>
        <p:spPr>
          <a:xfrm>
            <a:off x="3612947" y="214839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数据安全计算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1" name="CustomShape 13"/>
          <p:cNvSpPr/>
          <p:nvPr/>
        </p:nvSpPr>
        <p:spPr>
          <a:xfrm>
            <a:off x="3612947" y="284595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角色访问控制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5688092" y="2148397"/>
            <a:ext cx="1740909" cy="517938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分布式</a:t>
            </a: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3" name="CustomShape 13"/>
          <p:cNvSpPr/>
          <p:nvPr/>
        </p:nvSpPr>
        <p:spPr>
          <a:xfrm>
            <a:off x="5706466" y="2835865"/>
            <a:ext cx="1722535" cy="489307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可视化计算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296910" y="2148205"/>
            <a:ext cx="1608455" cy="4071620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8411709" y="2945432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路径导航与智能问答</a:t>
            </a:r>
            <a:endParaRPr lang="en-US" altLang="zh-CN" sz="1600"/>
          </a:p>
        </p:txBody>
      </p:sp>
      <p:sp>
        <p:nvSpPr>
          <p:cNvPr id="36" name="箭头: 右 35"/>
          <p:cNvSpPr/>
          <p:nvPr/>
        </p:nvSpPr>
        <p:spPr>
          <a:xfrm>
            <a:off x="7825891" y="4624636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8491986" y="2372329"/>
            <a:ext cx="11644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latin typeface="+mn-ea"/>
              </a:defRPr>
            </a:lvl1pPr>
          </a:lstStyle>
          <a:p>
            <a:r>
              <a:rPr lang="zh-CN" altLang="en-US" b="0">
                <a:latin typeface="黑体" panose="02010609060101010101" charset="-122"/>
                <a:ea typeface="黑体" panose="02010609060101010101" charset="-122"/>
              </a:rPr>
              <a:t>平台交互</a:t>
            </a:r>
            <a:endParaRPr lang="en-US" altLang="zh-CN" b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412136" y="4011446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ym typeface="+mn-ea"/>
              </a:rPr>
              <a:t>场景分析</a:t>
            </a:r>
            <a:r>
              <a:rPr lang="zh-CN" altLang="en-US" sz="1600"/>
              <a:t>与路线规划</a:t>
            </a:r>
            <a:endParaRPr lang="en-US" altLang="zh-CN" sz="1600"/>
          </a:p>
        </p:txBody>
      </p:sp>
      <p:sp>
        <p:nvSpPr>
          <p:cNvPr id="81" name="矩形 80"/>
          <p:cNvSpPr/>
          <p:nvPr/>
        </p:nvSpPr>
        <p:spPr>
          <a:xfrm>
            <a:off x="8412136" y="5090207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许可生成与任务派发</a:t>
            </a:r>
            <a:endParaRPr lang="zh-CN" altLang="en-US" sz="1600"/>
          </a:p>
        </p:txBody>
      </p:sp>
      <p:sp>
        <p:nvSpPr>
          <p:cNvPr id="85" name="矩形 84"/>
          <p:cNvSpPr/>
          <p:nvPr/>
        </p:nvSpPr>
        <p:spPr>
          <a:xfrm>
            <a:off x="10412730" y="3389630"/>
            <a:ext cx="1717040" cy="26663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数据协同计算平台</a:t>
            </a:r>
            <a:endParaRPr lang="zh-CN" altLang="en-US" sz="1400" dirty="0"/>
          </a:p>
          <a:p>
            <a:pPr algn="ctr"/>
            <a:endParaRPr lang="zh-CN" altLang="en-US" sz="1400" dirty="0"/>
          </a:p>
        </p:txBody>
      </p:sp>
      <p:sp>
        <p:nvSpPr>
          <p:cNvPr id="87" name="箭头: 右 86"/>
          <p:cNvSpPr/>
          <p:nvPr/>
        </p:nvSpPr>
        <p:spPr>
          <a:xfrm>
            <a:off x="9871968" y="45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箭头: 下 87"/>
          <p:cNvSpPr/>
          <p:nvPr/>
        </p:nvSpPr>
        <p:spPr>
          <a:xfrm rot="10800000">
            <a:off x="10960399" y="2247932"/>
            <a:ext cx="621437" cy="760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/>
        </p:nvCxnSpPr>
        <p:spPr>
          <a:xfrm>
            <a:off x="1471251" y="2740962"/>
            <a:ext cx="59577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stomShape 9"/>
          <p:cNvSpPr/>
          <p:nvPr/>
        </p:nvSpPr>
        <p:spPr>
          <a:xfrm>
            <a:off x="3373114" y="1947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数据协同计算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6" name="CustomShape 9"/>
          <p:cNvSpPr/>
          <p:nvPr/>
        </p:nvSpPr>
        <p:spPr>
          <a:xfrm>
            <a:off x="5534930" y="195067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数据动态更新</a:t>
            </a:r>
            <a:endParaRPr kumimoji="0" lang="en-US" altLang="zh-CN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8" name="CustomShape 9"/>
          <p:cNvSpPr/>
          <p:nvPr/>
        </p:nvSpPr>
        <p:spPr>
          <a:xfrm>
            <a:off x="7640796" y="1947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跨设备联动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cxnSp>
        <p:nvCxnSpPr>
          <p:cNvPr id="99" name="直接连接符 98"/>
          <p:cNvCxnSpPr/>
          <p:nvPr/>
        </p:nvCxnSpPr>
        <p:spPr>
          <a:xfrm>
            <a:off x="1266613" y="878082"/>
            <a:ext cx="80449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>
          <a:xfrm>
            <a:off x="1266614" y="946373"/>
            <a:ext cx="8044950" cy="865738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CustomShape 9"/>
          <p:cNvSpPr/>
          <p:nvPr/>
        </p:nvSpPr>
        <p:spPr>
          <a:xfrm>
            <a:off x="3780791" y="1095578"/>
            <a:ext cx="2526179" cy="5702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合规与审计追踪引擎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6" name="CustomShape 9"/>
          <p:cNvSpPr/>
          <p:nvPr/>
        </p:nvSpPr>
        <p:spPr>
          <a:xfrm>
            <a:off x="6525599" y="1098480"/>
            <a:ext cx="2526179" cy="5702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模型与算法生命周期管理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552575" y="1095375"/>
            <a:ext cx="1711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特殊车辆路线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调度系统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0379047" y="88776"/>
            <a:ext cx="1717329" cy="1788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智能物流路线调度系统</a:t>
            </a:r>
            <a:endParaRPr lang="zh-CN" altLang="en-US" sz="2400"/>
          </a:p>
        </p:txBody>
      </p:sp>
      <p:sp>
        <p:nvSpPr>
          <p:cNvPr id="112" name="箭头: 右 111"/>
          <p:cNvSpPr/>
          <p:nvPr/>
        </p:nvSpPr>
        <p:spPr>
          <a:xfrm>
            <a:off x="9820080" y="8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35"/>
          <p:cNvSpPr/>
          <p:nvPr/>
        </p:nvSpPr>
        <p:spPr>
          <a:xfrm>
            <a:off x="7825891" y="2666296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0975" y="115570"/>
            <a:ext cx="699135" cy="65608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云边协同网联商显智能防御</a:t>
            </a:r>
            <a:endParaRPr lang="zh-CN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1010920" y="141605"/>
            <a:ext cx="495935" cy="180340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云端管控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0920" y="2227580"/>
            <a:ext cx="495935" cy="439293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边缘智能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CustomShape 15"/>
          <p:cNvSpPr/>
          <p:nvPr/>
        </p:nvSpPr>
        <p:spPr>
          <a:xfrm>
            <a:off x="2077828" y="5953125"/>
            <a:ext cx="8600440" cy="66738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9" name="CustomShape 9"/>
          <p:cNvSpPr/>
          <p:nvPr/>
        </p:nvSpPr>
        <p:spPr>
          <a:xfrm>
            <a:off x="2360612" y="6089015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固件系统</a:t>
            </a:r>
            <a:endParaRPr lang="zh-CN" altLang="en-US" sz="16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" name="CustomShape 9"/>
          <p:cNvSpPr/>
          <p:nvPr/>
        </p:nvSpPr>
        <p:spPr>
          <a:xfrm>
            <a:off x="5711615" y="6089015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应用接口</a:t>
            </a:r>
            <a:endParaRPr lang="zh-CN" altLang="en-US" sz="16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1" name="CustomShape 9"/>
          <p:cNvSpPr/>
          <p:nvPr/>
        </p:nvSpPr>
        <p:spPr>
          <a:xfrm>
            <a:off x="7406046" y="6089015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设备状态</a:t>
            </a:r>
            <a:endParaRPr lang="zh-CN" altLang="en-US" sz="16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2" name="CustomShape 9"/>
          <p:cNvSpPr/>
          <p:nvPr/>
        </p:nvSpPr>
        <p:spPr>
          <a:xfrm>
            <a:off x="9109818" y="6089015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监控采集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51083" y="5795461"/>
            <a:ext cx="699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漏洞数据采集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CustomShape 9"/>
          <p:cNvSpPr/>
          <p:nvPr/>
        </p:nvSpPr>
        <p:spPr>
          <a:xfrm>
            <a:off x="4007843" y="6089015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通信协议</a:t>
            </a:r>
            <a:endParaRPr lang="zh-CN" altLang="en-US" sz="16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76834" y="3837186"/>
            <a:ext cx="2757805" cy="15036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084759" y="3778766"/>
            <a:ext cx="6774180" cy="164528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CustomShape 9"/>
          <p:cNvSpPr/>
          <p:nvPr/>
        </p:nvSpPr>
        <p:spPr>
          <a:xfrm>
            <a:off x="2310819" y="4316611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对比学习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059734" y="3838456"/>
            <a:ext cx="838835" cy="1503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智能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探测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引擎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CustomShape 9"/>
          <p:cNvSpPr/>
          <p:nvPr/>
        </p:nvSpPr>
        <p:spPr>
          <a:xfrm>
            <a:off x="3618284" y="4316611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迁移学习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1" name="CustomShape 9"/>
          <p:cNvSpPr/>
          <p:nvPr/>
        </p:nvSpPr>
        <p:spPr>
          <a:xfrm>
            <a:off x="2321614" y="4827786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知识蒸馏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2" name="CustomShape 9"/>
          <p:cNvSpPr/>
          <p:nvPr/>
        </p:nvSpPr>
        <p:spPr>
          <a:xfrm>
            <a:off x="3618284" y="4827786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有效评估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07154" y="3837186"/>
            <a:ext cx="2757805" cy="15036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4" name="CustomShape 9"/>
          <p:cNvSpPr/>
          <p:nvPr/>
        </p:nvSpPr>
        <p:spPr>
          <a:xfrm>
            <a:off x="6141139" y="4316611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跨协议渗透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709340" y="39055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威胁情报库</a:t>
            </a:r>
            <a:endParaRPr lang="zh-CN" altLang="en-US" dirty="0"/>
          </a:p>
        </p:txBody>
      </p:sp>
      <p:sp>
        <p:nvSpPr>
          <p:cNvPr id="26" name="CustomShape 9"/>
          <p:cNvSpPr/>
          <p:nvPr/>
        </p:nvSpPr>
        <p:spPr>
          <a:xfrm>
            <a:off x="7448604" y="4316611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恶意漏洞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7" name="CustomShape 9"/>
          <p:cNvSpPr/>
          <p:nvPr/>
        </p:nvSpPr>
        <p:spPr>
          <a:xfrm>
            <a:off x="6151934" y="4827786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威胁指纹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8" name="CustomShape 9"/>
          <p:cNvSpPr/>
          <p:nvPr/>
        </p:nvSpPr>
        <p:spPr>
          <a:xfrm>
            <a:off x="7448604" y="4827786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攻击载荷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1" name="上箭头 91"/>
          <p:cNvSpPr/>
          <p:nvPr/>
        </p:nvSpPr>
        <p:spPr>
          <a:xfrm>
            <a:off x="10106963" y="3489926"/>
            <a:ext cx="354965" cy="207899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467729" y="4316611"/>
            <a:ext cx="665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模型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学习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735987" y="389530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协同对抗训练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4980183" y="3418104"/>
            <a:ext cx="1171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动态输入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" name="箭头: 右 111"/>
          <p:cNvSpPr/>
          <p:nvPr/>
        </p:nvSpPr>
        <p:spPr>
          <a:xfrm rot="16200000">
            <a:off x="3557336" y="3428393"/>
            <a:ext cx="267970" cy="271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右 111"/>
          <p:cNvSpPr/>
          <p:nvPr/>
        </p:nvSpPr>
        <p:spPr>
          <a:xfrm rot="16200000">
            <a:off x="7265789" y="3437308"/>
            <a:ext cx="267970" cy="271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176834" y="2372961"/>
            <a:ext cx="3206750" cy="9182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2094284" y="2310731"/>
            <a:ext cx="8641715" cy="1043305"/>
            <a:chOff x="133089" y="3749623"/>
            <a:chExt cx="7711328" cy="2190679"/>
          </a:xfrm>
        </p:grpSpPr>
        <p:sp>
          <p:nvSpPr>
            <p:cNvPr id="40" name="矩形 39"/>
            <p:cNvSpPr/>
            <p:nvPr/>
          </p:nvSpPr>
          <p:spPr>
            <a:xfrm>
              <a:off x="133089" y="3749623"/>
              <a:ext cx="7711328" cy="2190679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6249343" y="3954957"/>
              <a:ext cx="1281727" cy="773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数据传输</a:t>
              </a:r>
              <a:endParaRPr lang="zh-CN" altLang="en-US" sz="1600"/>
            </a:p>
          </p:txBody>
        </p:sp>
      </p:grpSp>
      <p:sp>
        <p:nvSpPr>
          <p:cNvPr id="42" name="矩形 41"/>
          <p:cNvSpPr/>
          <p:nvPr/>
        </p:nvSpPr>
        <p:spPr>
          <a:xfrm>
            <a:off x="5531539" y="2379311"/>
            <a:ext cx="3206750" cy="9182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955461" y="2866991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设备协同</a:t>
            </a:r>
            <a:endParaRPr lang="zh-CN" altLang="en-US" sz="1600"/>
          </a:p>
        </p:txBody>
      </p:sp>
      <p:sp>
        <p:nvSpPr>
          <p:cNvPr id="44" name="矩形 43"/>
          <p:cNvSpPr/>
          <p:nvPr/>
        </p:nvSpPr>
        <p:spPr>
          <a:xfrm>
            <a:off x="3828471" y="2866991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任务协同</a:t>
            </a:r>
            <a:endParaRPr lang="zh-CN" altLang="en-US" sz="1600"/>
          </a:p>
        </p:txBody>
      </p:sp>
      <p:sp>
        <p:nvSpPr>
          <p:cNvPr id="45" name="矩形 44"/>
          <p:cNvSpPr/>
          <p:nvPr/>
        </p:nvSpPr>
        <p:spPr>
          <a:xfrm>
            <a:off x="7184446" y="2454241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云边互联</a:t>
            </a:r>
            <a:endParaRPr lang="zh-CN" altLang="en-US" sz="1600"/>
          </a:p>
        </p:txBody>
      </p:sp>
      <p:sp>
        <p:nvSpPr>
          <p:cNvPr id="46" name="矩形 45"/>
          <p:cNvSpPr/>
          <p:nvPr/>
        </p:nvSpPr>
        <p:spPr>
          <a:xfrm>
            <a:off x="7184446" y="2866991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设备协同</a:t>
            </a:r>
            <a:endParaRPr lang="zh-CN" altLang="en-US" sz="1600"/>
          </a:p>
        </p:txBody>
      </p:sp>
      <p:sp>
        <p:nvSpPr>
          <p:cNvPr id="47" name="矩形 46"/>
          <p:cNvSpPr/>
          <p:nvPr/>
        </p:nvSpPr>
        <p:spPr>
          <a:xfrm>
            <a:off x="5650286" y="2866991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计算协同</a:t>
            </a:r>
            <a:endParaRPr lang="zh-CN" altLang="en-US" sz="1600"/>
          </a:p>
        </p:txBody>
      </p:sp>
      <p:sp>
        <p:nvSpPr>
          <p:cNvPr id="48" name="矩形 47"/>
          <p:cNvSpPr/>
          <p:nvPr/>
        </p:nvSpPr>
        <p:spPr>
          <a:xfrm>
            <a:off x="2241606" y="2858101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计算协同</a:t>
            </a:r>
            <a:r>
              <a:rPr lang="en-US" altLang="zh-CN" sz="1600"/>
              <a:t> </a:t>
            </a:r>
            <a:endParaRPr lang="en-US" altLang="zh-CN" sz="1600"/>
          </a:p>
        </p:txBody>
      </p:sp>
      <p:sp>
        <p:nvSpPr>
          <p:cNvPr id="49" name="矩形 48"/>
          <p:cNvSpPr/>
          <p:nvPr/>
        </p:nvSpPr>
        <p:spPr>
          <a:xfrm>
            <a:off x="2241606" y="2445351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边云互联</a:t>
            </a:r>
            <a:endParaRPr lang="zh-CN" altLang="en-US" sz="1600"/>
          </a:p>
        </p:txBody>
      </p:sp>
      <p:sp>
        <p:nvSpPr>
          <p:cNvPr id="50" name="矩形 49"/>
          <p:cNvSpPr/>
          <p:nvPr/>
        </p:nvSpPr>
        <p:spPr>
          <a:xfrm>
            <a:off x="4722551" y="2454241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系统协同</a:t>
            </a:r>
            <a:endParaRPr lang="zh-CN" altLang="en-US" sz="1600"/>
          </a:p>
        </p:txBody>
      </p:sp>
      <p:sp>
        <p:nvSpPr>
          <p:cNvPr id="51" name="文本框 50"/>
          <p:cNvSpPr txBox="1"/>
          <p:nvPr/>
        </p:nvSpPr>
        <p:spPr>
          <a:xfrm>
            <a:off x="1447854" y="2400266"/>
            <a:ext cx="728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边缘协同智能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2" name="箭头: 直角上 51"/>
          <p:cNvSpPr/>
          <p:nvPr/>
        </p:nvSpPr>
        <p:spPr>
          <a:xfrm rot="16200000" flipH="1">
            <a:off x="8840255" y="3871361"/>
            <a:ext cx="1020780" cy="83559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916871" y="3895307"/>
            <a:ext cx="73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增量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更新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6" name="CustomShape 8"/>
          <p:cNvSpPr/>
          <p:nvPr/>
        </p:nvSpPr>
        <p:spPr>
          <a:xfrm>
            <a:off x="2117820" y="1052680"/>
            <a:ext cx="8652510" cy="70231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77" name="CustomShape 9"/>
          <p:cNvSpPr/>
          <p:nvPr/>
        </p:nvSpPr>
        <p:spPr>
          <a:xfrm>
            <a:off x="2399760" y="117841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数据分析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78" name="CustomShape 15"/>
          <p:cNvSpPr/>
          <p:nvPr/>
        </p:nvSpPr>
        <p:spPr>
          <a:xfrm>
            <a:off x="2117820" y="185270"/>
            <a:ext cx="8651875" cy="78803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79" name="CustomShape 9"/>
          <p:cNvSpPr/>
          <p:nvPr/>
        </p:nvSpPr>
        <p:spPr>
          <a:xfrm>
            <a:off x="2394045" y="307825"/>
            <a:ext cx="116205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效能分析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0" name="CustomShape 9"/>
          <p:cNvSpPr/>
          <p:nvPr/>
        </p:nvSpPr>
        <p:spPr>
          <a:xfrm>
            <a:off x="3819620" y="30782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终端监测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1" name="CustomShape 9"/>
          <p:cNvSpPr/>
          <p:nvPr/>
        </p:nvSpPr>
        <p:spPr>
          <a:xfrm>
            <a:off x="5297900" y="307825"/>
            <a:ext cx="115316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优化方案</a:t>
            </a:r>
            <a:endParaRPr lang="zh-CN" altLang="en-US" sz="16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3" name="箭头: 右 82"/>
          <p:cNvSpPr/>
          <p:nvPr/>
        </p:nvSpPr>
        <p:spPr>
          <a:xfrm rot="16200000">
            <a:off x="2889345" y="181595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CustomShape 9"/>
          <p:cNvSpPr/>
          <p:nvPr/>
        </p:nvSpPr>
        <p:spPr>
          <a:xfrm>
            <a:off x="6732365" y="30782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故障预警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5" name="CustomShape 9"/>
          <p:cNvSpPr/>
          <p:nvPr/>
        </p:nvSpPr>
        <p:spPr>
          <a:xfrm>
            <a:off x="8045545" y="30782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联合监管</a:t>
            </a:r>
            <a:endParaRPr lang="zh-CN" altLang="en-US" sz="16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6" name="CustomShape 9"/>
          <p:cNvSpPr/>
          <p:nvPr/>
        </p:nvSpPr>
        <p:spPr>
          <a:xfrm>
            <a:off x="9477470" y="30782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异常预警</a:t>
            </a:r>
            <a:endParaRPr lang="zh-CN" altLang="en-US" sz="16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471745" y="938886"/>
            <a:ext cx="72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云端平台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8" name="CustomShape 9"/>
          <p:cNvSpPr/>
          <p:nvPr/>
        </p:nvSpPr>
        <p:spPr>
          <a:xfrm>
            <a:off x="4017105" y="117841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用户接入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89" name="CustomShape 9"/>
          <p:cNvSpPr/>
          <p:nvPr/>
        </p:nvSpPr>
        <p:spPr>
          <a:xfrm>
            <a:off x="5659215" y="117841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协议接入</a:t>
            </a:r>
            <a:endParaRPr kumimoji="0" lang="zh-CN" altLang="en-US" sz="1400" b="0" i="0" u="none" strike="noStrike" kern="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90" name="CustomShape 9"/>
          <p:cNvSpPr/>
          <p:nvPr/>
        </p:nvSpPr>
        <p:spPr>
          <a:xfrm>
            <a:off x="7299420" y="117841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日志管理</a:t>
            </a:r>
            <a:endParaRPr kumimoji="0" lang="zh-CN" altLang="en-US" sz="1400" b="0" i="0" u="none" strike="noStrike" kern="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91" name="CustomShape 9"/>
          <p:cNvSpPr/>
          <p:nvPr/>
        </p:nvSpPr>
        <p:spPr>
          <a:xfrm>
            <a:off x="8964390" y="117841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系统维护</a:t>
            </a:r>
            <a:endParaRPr kumimoji="0" lang="zh-CN" altLang="en-US" sz="1400" b="0" i="0" u="none" strike="noStrike" kern="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93" name="上下箭头 18"/>
          <p:cNvSpPr/>
          <p:nvPr/>
        </p:nvSpPr>
        <p:spPr>
          <a:xfrm>
            <a:off x="5297900" y="1784835"/>
            <a:ext cx="283845" cy="41338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箭头: 右 111"/>
          <p:cNvSpPr/>
          <p:nvPr/>
        </p:nvSpPr>
        <p:spPr>
          <a:xfrm rot="16200000">
            <a:off x="7434675" y="181595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箭头: 右 111"/>
          <p:cNvSpPr/>
          <p:nvPr/>
        </p:nvSpPr>
        <p:spPr>
          <a:xfrm rot="16200000">
            <a:off x="9454610" y="181468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箭头: 右 96"/>
          <p:cNvSpPr/>
          <p:nvPr/>
        </p:nvSpPr>
        <p:spPr>
          <a:xfrm rot="16200000">
            <a:off x="3674163" y="5515436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箭头: 右 97"/>
          <p:cNvSpPr/>
          <p:nvPr/>
        </p:nvSpPr>
        <p:spPr>
          <a:xfrm rot="16200000">
            <a:off x="7027124" y="5529699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61340" y="146685"/>
            <a:ext cx="10484485" cy="5503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CustomShape 7"/>
          <p:cNvSpPr/>
          <p:nvPr/>
        </p:nvSpPr>
        <p:spPr>
          <a:xfrm>
            <a:off x="2003425" y="2092325"/>
            <a:ext cx="2713990" cy="1316355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MingByte</a:t>
            </a:r>
            <a:r>
              <a:rPr kumimoji="0" 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数据引擎</a:t>
            </a: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" name="CustomShape 8"/>
          <p:cNvSpPr/>
          <p:nvPr/>
        </p:nvSpPr>
        <p:spPr>
          <a:xfrm>
            <a:off x="6530340" y="2092325"/>
            <a:ext cx="4230370" cy="131635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600" kern="0" spc="-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MingByte </a:t>
            </a:r>
            <a:r>
              <a:rPr kumimoji="0" 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计算引擎</a:t>
            </a: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6967220" y="2149475"/>
            <a:ext cx="1301750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可信计算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" name="CustomShape 10"/>
          <p:cNvSpPr/>
          <p:nvPr/>
        </p:nvSpPr>
        <p:spPr>
          <a:xfrm>
            <a:off x="2191385" y="2261235"/>
            <a:ext cx="1116965" cy="6362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半结构化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数据引擎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" name="CustomShape 11"/>
          <p:cNvSpPr/>
          <p:nvPr/>
        </p:nvSpPr>
        <p:spPr>
          <a:xfrm>
            <a:off x="3536950" y="2261235"/>
            <a:ext cx="1017905" cy="6362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结构化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数据引擎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" name="CustomShape 12"/>
          <p:cNvSpPr/>
          <p:nvPr/>
        </p:nvSpPr>
        <p:spPr>
          <a:xfrm>
            <a:off x="9037955" y="2149475"/>
            <a:ext cx="1335405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自动化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弹性部署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6967220" y="2677160"/>
            <a:ext cx="1301750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灾备容错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" name="CustomShape 14"/>
          <p:cNvSpPr/>
          <p:nvPr/>
        </p:nvSpPr>
        <p:spPr>
          <a:xfrm>
            <a:off x="9037955" y="2686050"/>
            <a:ext cx="1335405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安全策略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" name="CustomShape 15"/>
          <p:cNvSpPr/>
          <p:nvPr/>
        </p:nvSpPr>
        <p:spPr>
          <a:xfrm>
            <a:off x="2003425" y="3886200"/>
            <a:ext cx="8757285" cy="485140"/>
          </a:xfrm>
          <a:prstGeom prst="rect">
            <a:avLst/>
          </a:prstGeom>
          <a:solidFill>
            <a:srgbClr val="8064A2"/>
          </a:solidFill>
          <a:ln w="25400" cap="flat" cmpd="sng" algn="ctr">
            <a:solidFill>
              <a:srgbClr val="8064A2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MingByte</a:t>
            </a: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数据</a:t>
            </a:r>
            <a:r>
              <a:rPr kumimoji="0" lang="zh-CN" alt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分析</a:t>
            </a: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抽象模型</a:t>
            </a: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1" name="CustomShape 16"/>
          <p:cNvSpPr/>
          <p:nvPr/>
        </p:nvSpPr>
        <p:spPr>
          <a:xfrm>
            <a:off x="4717415" y="2574290"/>
            <a:ext cx="1812290" cy="51435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0" cap="none" spc="-1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高速数据通路</a:t>
            </a:r>
            <a:endParaRPr kumimoji="0" lang="en-US" sz="1200" b="0" i="0" u="none" strike="noStrike" kern="0" cap="none" spc="-1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CustomShape 17"/>
          <p:cNvSpPr/>
          <p:nvPr/>
        </p:nvSpPr>
        <p:spPr>
          <a:xfrm rot="16200000">
            <a:off x="8606790" y="3491865"/>
            <a:ext cx="514350" cy="34734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" name="CustomShape 18"/>
          <p:cNvSpPr/>
          <p:nvPr/>
        </p:nvSpPr>
        <p:spPr>
          <a:xfrm rot="16200000">
            <a:off x="3105785" y="3491865"/>
            <a:ext cx="514350" cy="34734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73735" y="1280795"/>
            <a:ext cx="10262235" cy="321818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CustomShape 15"/>
          <p:cNvSpPr/>
          <p:nvPr/>
        </p:nvSpPr>
        <p:spPr>
          <a:xfrm>
            <a:off x="2003425" y="1430655"/>
            <a:ext cx="8757285" cy="485140"/>
          </a:xfrm>
          <a:prstGeom prst="rect">
            <a:avLst/>
          </a:prstGeom>
          <a:solidFill>
            <a:srgbClr val="8064A2"/>
          </a:solidFill>
          <a:ln w="25400" cap="flat" cmpd="sng" algn="ctr">
            <a:solidFill>
              <a:srgbClr val="8064A2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                                                     </a:t>
            </a: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3735" y="2347595"/>
            <a:ext cx="1329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MingByte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数据处理层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91385" y="1489075"/>
            <a:ext cx="1678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1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MingByte </a:t>
            </a:r>
            <a:r>
              <a:rPr lang="zh-CN" altLang="en-US" kern="0" spc="-1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接口</a:t>
            </a:r>
            <a:r>
              <a:rPr lang="en-US" kern="0" spc="-1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+mn-ea"/>
              </a:rPr>
              <a:t>  </a:t>
            </a:r>
            <a:endParaRPr lang="zh-CN" altLang="en-US"/>
          </a:p>
        </p:txBody>
      </p:sp>
      <p:sp>
        <p:nvSpPr>
          <p:cNvPr id="19" name="CustomShape 9"/>
          <p:cNvSpPr/>
          <p:nvPr/>
        </p:nvSpPr>
        <p:spPr>
          <a:xfrm>
            <a:off x="4034790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数据查询接口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0" name="CustomShape 9"/>
          <p:cNvSpPr/>
          <p:nvPr/>
        </p:nvSpPr>
        <p:spPr>
          <a:xfrm>
            <a:off x="6259195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数据计算接口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1" name="CustomShape 9"/>
          <p:cNvSpPr/>
          <p:nvPr/>
        </p:nvSpPr>
        <p:spPr>
          <a:xfrm>
            <a:off x="8482965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数据分析接口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2" name="CustomShape 15"/>
          <p:cNvSpPr/>
          <p:nvPr/>
        </p:nvSpPr>
        <p:spPr>
          <a:xfrm>
            <a:off x="673735" y="4589780"/>
            <a:ext cx="10262235" cy="12166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92810" y="4735195"/>
            <a:ext cx="10115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区块链核心层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CustomShape 15"/>
          <p:cNvSpPr/>
          <p:nvPr/>
        </p:nvSpPr>
        <p:spPr>
          <a:xfrm>
            <a:off x="672465" y="5650230"/>
            <a:ext cx="10262235" cy="499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2810" y="5751195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资源层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CustomShape 9"/>
          <p:cNvSpPr/>
          <p:nvPr/>
        </p:nvSpPr>
        <p:spPr>
          <a:xfrm>
            <a:off x="2220595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身份管理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8" name="CustomShape 9"/>
          <p:cNvSpPr/>
          <p:nvPr/>
        </p:nvSpPr>
        <p:spPr>
          <a:xfrm>
            <a:off x="2219960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分布式账本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9" name="CustomShape 9"/>
          <p:cNvSpPr/>
          <p:nvPr/>
        </p:nvSpPr>
        <p:spPr>
          <a:xfrm>
            <a:off x="4717415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隐私保护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0" name="CustomShape 9"/>
          <p:cNvSpPr/>
          <p:nvPr/>
        </p:nvSpPr>
        <p:spPr>
          <a:xfrm>
            <a:off x="4717415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智能合约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1" name="CustomShape 9"/>
          <p:cNvSpPr/>
          <p:nvPr/>
        </p:nvSpPr>
        <p:spPr>
          <a:xfrm>
            <a:off x="7805420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密码算法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7805420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共识机制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3" name="CustomShape 9"/>
          <p:cNvSpPr/>
          <p:nvPr/>
        </p:nvSpPr>
        <p:spPr>
          <a:xfrm>
            <a:off x="219138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公有云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5" name="CustomShape 9"/>
          <p:cNvSpPr/>
          <p:nvPr/>
        </p:nvSpPr>
        <p:spPr>
          <a:xfrm>
            <a:off x="501713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私有云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6" name="CustomShape 9"/>
          <p:cNvSpPr/>
          <p:nvPr/>
        </p:nvSpPr>
        <p:spPr>
          <a:xfrm>
            <a:off x="787971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混合云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672465" y="321945"/>
            <a:ext cx="10263505" cy="86042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49935" y="568325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应用层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2047875" y="461645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医疗健康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1" name="CustomShape 9"/>
          <p:cNvSpPr/>
          <p:nvPr/>
        </p:nvSpPr>
        <p:spPr>
          <a:xfrm>
            <a:off x="3740150" y="467360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防伪溯源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2" name="CustomShape 9"/>
          <p:cNvSpPr/>
          <p:nvPr/>
        </p:nvSpPr>
        <p:spPr>
          <a:xfrm>
            <a:off x="5433695" y="467360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供应链金融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3" name="CustomShape 9"/>
          <p:cNvSpPr/>
          <p:nvPr/>
        </p:nvSpPr>
        <p:spPr>
          <a:xfrm>
            <a:off x="7118350" y="467360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智慧政务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4" name="CustomShape 9"/>
          <p:cNvSpPr/>
          <p:nvPr/>
        </p:nvSpPr>
        <p:spPr>
          <a:xfrm>
            <a:off x="8872220" y="461645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...</a:t>
            </a:r>
            <a:endParaRPr kumimoji="0" lang="en-US" altLang="zh-CN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61340" y="146685"/>
            <a:ext cx="10484485" cy="6126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CustomShape 7"/>
          <p:cNvSpPr/>
          <p:nvPr/>
        </p:nvSpPr>
        <p:spPr>
          <a:xfrm>
            <a:off x="2003425" y="2092325"/>
            <a:ext cx="2713990" cy="1316355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数据引擎</a:t>
            </a: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" name="CustomShape 8"/>
          <p:cNvSpPr/>
          <p:nvPr/>
        </p:nvSpPr>
        <p:spPr>
          <a:xfrm>
            <a:off x="6530340" y="2092325"/>
            <a:ext cx="4230370" cy="131635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计算引擎</a:t>
            </a: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6967220" y="2149475"/>
            <a:ext cx="1301750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可信计算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" name="CustomShape 10"/>
          <p:cNvSpPr/>
          <p:nvPr/>
        </p:nvSpPr>
        <p:spPr>
          <a:xfrm>
            <a:off x="2191385" y="2261235"/>
            <a:ext cx="1116965" cy="6362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半结构化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数据引擎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" name="CustomShape 11"/>
          <p:cNvSpPr/>
          <p:nvPr/>
        </p:nvSpPr>
        <p:spPr>
          <a:xfrm>
            <a:off x="3536950" y="2261235"/>
            <a:ext cx="1017905" cy="6362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结构化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数据引擎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" name="CustomShape 12"/>
          <p:cNvSpPr/>
          <p:nvPr/>
        </p:nvSpPr>
        <p:spPr>
          <a:xfrm>
            <a:off x="9037955" y="2149475"/>
            <a:ext cx="1335405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自动化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弹性部署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6967220" y="2677160"/>
            <a:ext cx="1301750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灾备容错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" name="CustomShape 14"/>
          <p:cNvSpPr/>
          <p:nvPr/>
        </p:nvSpPr>
        <p:spPr>
          <a:xfrm>
            <a:off x="9037955" y="2686050"/>
            <a:ext cx="1335405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安全策略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" name="CustomShape 15"/>
          <p:cNvSpPr/>
          <p:nvPr/>
        </p:nvSpPr>
        <p:spPr>
          <a:xfrm>
            <a:off x="2003425" y="3886200"/>
            <a:ext cx="8757285" cy="485140"/>
          </a:xfrm>
          <a:prstGeom prst="rect">
            <a:avLst/>
          </a:prstGeom>
          <a:solidFill>
            <a:srgbClr val="8064A2"/>
          </a:solidFill>
          <a:ln w="25400" cap="flat" cmpd="sng" algn="ctr">
            <a:solidFill>
              <a:srgbClr val="8064A2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数据</a:t>
            </a:r>
            <a:r>
              <a:rPr kumimoji="0" lang="zh-CN" alt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分析</a:t>
            </a: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抽象模型</a:t>
            </a: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1" name="CustomShape 16"/>
          <p:cNvSpPr/>
          <p:nvPr/>
        </p:nvSpPr>
        <p:spPr>
          <a:xfrm>
            <a:off x="4717415" y="2574290"/>
            <a:ext cx="1812290" cy="51435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0" cap="none" spc="-1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高速数据通路</a:t>
            </a:r>
            <a:endParaRPr kumimoji="0" lang="en-US" sz="1200" b="0" i="0" u="none" strike="noStrike" kern="0" cap="none" spc="-1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CustomShape 17"/>
          <p:cNvSpPr/>
          <p:nvPr/>
        </p:nvSpPr>
        <p:spPr>
          <a:xfrm rot="16200000">
            <a:off x="8606790" y="3491865"/>
            <a:ext cx="514350" cy="34734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" name="CustomShape 18"/>
          <p:cNvSpPr/>
          <p:nvPr/>
        </p:nvSpPr>
        <p:spPr>
          <a:xfrm rot="16200000">
            <a:off x="3105785" y="3491865"/>
            <a:ext cx="514350" cy="34734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73735" y="1280795"/>
            <a:ext cx="10262235" cy="321818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CustomShape 15"/>
          <p:cNvSpPr/>
          <p:nvPr/>
        </p:nvSpPr>
        <p:spPr>
          <a:xfrm>
            <a:off x="2003425" y="1430655"/>
            <a:ext cx="8757285" cy="485140"/>
          </a:xfrm>
          <a:prstGeom prst="rect">
            <a:avLst/>
          </a:prstGeom>
          <a:solidFill>
            <a:srgbClr val="8064A2"/>
          </a:solidFill>
          <a:ln w="25400" cap="flat" cmpd="sng" algn="ctr">
            <a:solidFill>
              <a:srgbClr val="8064A2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                                                     </a:t>
            </a: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3735" y="2347595"/>
            <a:ext cx="1329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体系架构层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91385" y="1489075"/>
            <a:ext cx="1678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0" spc="-1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数据接口</a:t>
            </a:r>
            <a:r>
              <a:rPr lang="en-US" kern="0" spc="-1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+mn-ea"/>
              </a:rPr>
              <a:t>  </a:t>
            </a:r>
            <a:endParaRPr lang="zh-CN" altLang="en-US"/>
          </a:p>
        </p:txBody>
      </p:sp>
      <p:sp>
        <p:nvSpPr>
          <p:cNvPr id="19" name="CustomShape 9"/>
          <p:cNvSpPr/>
          <p:nvPr/>
        </p:nvSpPr>
        <p:spPr>
          <a:xfrm>
            <a:off x="4034790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数据查询接口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0" name="CustomShape 9"/>
          <p:cNvSpPr/>
          <p:nvPr/>
        </p:nvSpPr>
        <p:spPr>
          <a:xfrm>
            <a:off x="6259195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数据计算接口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1" name="CustomShape 9"/>
          <p:cNvSpPr/>
          <p:nvPr/>
        </p:nvSpPr>
        <p:spPr>
          <a:xfrm>
            <a:off x="8482965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数据分析接口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2" name="CustomShape 15"/>
          <p:cNvSpPr/>
          <p:nvPr/>
        </p:nvSpPr>
        <p:spPr>
          <a:xfrm>
            <a:off x="673735" y="4589780"/>
            <a:ext cx="10262235" cy="12166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92810" y="4735195"/>
            <a:ext cx="10115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区块链核心层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CustomShape 15"/>
          <p:cNvSpPr/>
          <p:nvPr/>
        </p:nvSpPr>
        <p:spPr>
          <a:xfrm>
            <a:off x="672465" y="5650230"/>
            <a:ext cx="10262235" cy="499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2810" y="5751195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资源层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CustomShape 9"/>
          <p:cNvSpPr/>
          <p:nvPr/>
        </p:nvSpPr>
        <p:spPr>
          <a:xfrm>
            <a:off x="2220595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身份管理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8" name="CustomShape 9"/>
          <p:cNvSpPr/>
          <p:nvPr/>
        </p:nvSpPr>
        <p:spPr>
          <a:xfrm>
            <a:off x="2219960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分布式账本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9" name="CustomShape 9"/>
          <p:cNvSpPr/>
          <p:nvPr/>
        </p:nvSpPr>
        <p:spPr>
          <a:xfrm>
            <a:off x="4717415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隐私保护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0" name="CustomShape 9"/>
          <p:cNvSpPr/>
          <p:nvPr/>
        </p:nvSpPr>
        <p:spPr>
          <a:xfrm>
            <a:off x="4717415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智能合约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1" name="CustomShape 9"/>
          <p:cNvSpPr/>
          <p:nvPr/>
        </p:nvSpPr>
        <p:spPr>
          <a:xfrm>
            <a:off x="7805420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密码算法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7805420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共识机制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3" name="CustomShape 9"/>
          <p:cNvSpPr/>
          <p:nvPr/>
        </p:nvSpPr>
        <p:spPr>
          <a:xfrm>
            <a:off x="219138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公有云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5" name="CustomShape 9"/>
          <p:cNvSpPr/>
          <p:nvPr/>
        </p:nvSpPr>
        <p:spPr>
          <a:xfrm>
            <a:off x="501713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私有云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6" name="CustomShape 9"/>
          <p:cNvSpPr/>
          <p:nvPr/>
        </p:nvSpPr>
        <p:spPr>
          <a:xfrm>
            <a:off x="787971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混合云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672465" y="321945"/>
            <a:ext cx="10263505" cy="86042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49935" y="568325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应用层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2130425" y="467360"/>
            <a:ext cx="1925320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境内数据监管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1" name="CustomShape 9"/>
          <p:cNvSpPr/>
          <p:nvPr/>
        </p:nvSpPr>
        <p:spPr>
          <a:xfrm>
            <a:off x="4504055" y="467360"/>
            <a:ext cx="1914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跨境数据监管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2" name="CustomShape 9"/>
          <p:cNvSpPr/>
          <p:nvPr/>
        </p:nvSpPr>
        <p:spPr>
          <a:xfrm>
            <a:off x="8691245" y="467360"/>
            <a:ext cx="188023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其他数据应用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4" name="CustomShape 9"/>
          <p:cNvSpPr/>
          <p:nvPr/>
        </p:nvSpPr>
        <p:spPr>
          <a:xfrm>
            <a:off x="6797040" y="467360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...</a:t>
            </a:r>
            <a:endParaRPr kumimoji="0" lang="en-US" altLang="zh-CN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749935" y="313690"/>
            <a:ext cx="10262870" cy="6269990"/>
            <a:chOff x="1181" y="494"/>
            <a:chExt cx="16162" cy="9874"/>
          </a:xfrm>
        </p:grpSpPr>
        <p:sp>
          <p:nvSpPr>
            <p:cNvPr id="37" name="CustomShape 15"/>
            <p:cNvSpPr/>
            <p:nvPr/>
          </p:nvSpPr>
          <p:spPr>
            <a:xfrm>
              <a:off x="1181" y="494"/>
              <a:ext cx="16163" cy="1355"/>
            </a:xfrm>
            <a:prstGeom prst="rect">
              <a:avLst/>
            </a:prstGeom>
            <a:gradFill>
              <a:gsLst>
                <a:gs pos="1000">
                  <a:schemeClr val="accent1">
                    <a:lumMod val="45000"/>
                    <a:lumOff val="55000"/>
                    <a:alpha val="65000"/>
                  </a:schemeClr>
                </a:gs>
                <a:gs pos="40000">
                  <a:schemeClr val="accent1">
                    <a:lumMod val="45000"/>
                    <a:lumOff val="55000"/>
                  </a:schemeClr>
                </a:gs>
                <a:gs pos="59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254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181" y="833"/>
              <a:ext cx="336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latin typeface="+mn-ea"/>
                </a:rPr>
                <a:t>Application layer</a:t>
              </a:r>
              <a:endParaRPr lang="zh-CN" altLang="en-US" b="1">
                <a:latin typeface="+mn-ea"/>
              </a:endParaRPr>
            </a:p>
          </p:txBody>
        </p:sp>
        <p:sp>
          <p:nvSpPr>
            <p:cNvPr id="40" name="CustomShape 9"/>
            <p:cNvSpPr/>
            <p:nvPr/>
          </p:nvSpPr>
          <p:spPr>
            <a:xfrm>
              <a:off x="4950" y="713"/>
              <a:ext cx="2415" cy="898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Supply Chain Management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6" name="CustomShape 9"/>
            <p:cNvSpPr/>
            <p:nvPr/>
          </p:nvSpPr>
          <p:spPr>
            <a:xfrm>
              <a:off x="8096" y="723"/>
              <a:ext cx="2415" cy="898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Government Data Sharing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7" name="CustomShape 9"/>
            <p:cNvSpPr/>
            <p:nvPr/>
          </p:nvSpPr>
          <p:spPr>
            <a:xfrm>
              <a:off x="11293" y="713"/>
              <a:ext cx="2415" cy="898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...</a:t>
              </a:r>
              <a:endParaRPr kumimoji="0" lang="en-US" altLang="zh-CN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8" name="CustomShape 9"/>
            <p:cNvSpPr/>
            <p:nvPr/>
          </p:nvSpPr>
          <p:spPr>
            <a:xfrm>
              <a:off x="14432" y="723"/>
              <a:ext cx="2415" cy="898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Smart Healthcare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22" name="CustomShape 15"/>
            <p:cNvSpPr/>
            <p:nvPr/>
          </p:nvSpPr>
          <p:spPr>
            <a:xfrm>
              <a:off x="1181" y="1849"/>
              <a:ext cx="16161" cy="2931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254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6" name="CustomShape 9"/>
            <p:cNvSpPr/>
            <p:nvPr/>
          </p:nvSpPr>
          <p:spPr>
            <a:xfrm>
              <a:off x="4950" y="2044"/>
              <a:ext cx="2725" cy="90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Safe data storage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81" y="2807"/>
              <a:ext cx="372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latin typeface="+mn-ea"/>
                </a:rPr>
                <a:t>Data management and calculation</a:t>
              </a:r>
              <a:endParaRPr lang="zh-CN" altLang="en-US" b="1">
                <a:latin typeface="+mn-ea"/>
              </a:endParaRPr>
            </a:p>
          </p:txBody>
        </p:sp>
        <p:sp>
          <p:nvSpPr>
            <p:cNvPr id="10" name="CustomShape 9"/>
            <p:cNvSpPr/>
            <p:nvPr/>
          </p:nvSpPr>
          <p:spPr>
            <a:xfrm>
              <a:off x="9391" y="2044"/>
              <a:ext cx="2726" cy="90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Data security computing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11" name="CustomShape 9"/>
            <p:cNvSpPr/>
            <p:nvPr/>
          </p:nvSpPr>
          <p:spPr>
            <a:xfrm>
              <a:off x="13560" y="2044"/>
              <a:ext cx="2747" cy="90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Distributed Computing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cxnSp>
          <p:nvCxnSpPr>
            <p:cNvPr id="12" name="直接连接符 11"/>
            <p:cNvCxnSpPr>
              <a:stCxn id="9" idx="3"/>
              <a:endCxn id="22" idx="3"/>
            </p:cNvCxnSpPr>
            <p:nvPr/>
          </p:nvCxnSpPr>
          <p:spPr>
            <a:xfrm>
              <a:off x="4908" y="3294"/>
              <a:ext cx="12434" cy="0"/>
            </a:xfrm>
            <a:prstGeom prst="line">
              <a:avLst/>
            </a:prstGeom>
            <a:ln w="28575" cmpd="sng">
              <a:solidFill>
                <a:srgbClr val="F74E2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ustomShape 9"/>
            <p:cNvSpPr/>
            <p:nvPr/>
          </p:nvSpPr>
          <p:spPr>
            <a:xfrm>
              <a:off x="4950" y="3591"/>
              <a:ext cx="2725" cy="90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Illegal behavior monitoring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14" name="CustomShape 9"/>
            <p:cNvSpPr/>
            <p:nvPr/>
          </p:nvSpPr>
          <p:spPr>
            <a:xfrm>
              <a:off x="9392" y="3591"/>
              <a:ext cx="2725" cy="90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Public opinion perception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15" name="CustomShape 9"/>
            <p:cNvSpPr/>
            <p:nvPr/>
          </p:nvSpPr>
          <p:spPr>
            <a:xfrm>
              <a:off x="13560" y="3591"/>
              <a:ext cx="2725" cy="90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Contract analysis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181" y="4822"/>
              <a:ext cx="16161" cy="415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40" y="6281"/>
              <a:ext cx="394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latin typeface="+mn-ea"/>
                </a:rPr>
                <a:t>Security enhancement layer</a:t>
              </a:r>
              <a:endParaRPr lang="zh-CN" altLang="en-US" b="1">
                <a:latin typeface="+mn-ea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4950" y="4994"/>
              <a:ext cx="3402" cy="3672"/>
              <a:chOff x="4950" y="5082"/>
              <a:chExt cx="3402" cy="3542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4950" y="5082"/>
                <a:ext cx="3402" cy="354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/>
                  <a:t>Privacy enhancement</a:t>
                </a:r>
                <a:endParaRPr lang="zh-CN" altLang="en-US" b="1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5209" y="6148"/>
                <a:ext cx="2934" cy="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/>
                  <a:t>Privacy protection and computing</a:t>
                </a:r>
                <a:endParaRPr lang="zh-CN" altLang="en-US" sz="1600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5183" y="7304"/>
                <a:ext cx="2934" cy="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/>
                  <a:t>A</a:t>
                </a:r>
                <a:r>
                  <a:rPr lang="zh-CN" altLang="en-US" sz="1600"/>
                  <a:t>uthority management</a:t>
                </a:r>
                <a:endParaRPr lang="zh-CN" altLang="en-US" sz="160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9180" y="4993"/>
              <a:ext cx="3402" cy="3672"/>
              <a:chOff x="4950" y="5083"/>
              <a:chExt cx="3402" cy="3540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4950" y="5083"/>
                <a:ext cx="3402" cy="3541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/>
                  <a:t>Regulatory Agreement</a:t>
                </a:r>
                <a:endParaRPr lang="zh-CN" altLang="en-US" b="1"/>
              </a:p>
              <a:p>
                <a:pPr algn="ctr"/>
                <a:endParaRPr lang="zh-CN" altLang="en-US" b="1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5209" y="6148"/>
                <a:ext cx="2934" cy="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/>
                  <a:t>Certificate Supervision</a:t>
                </a:r>
                <a:endParaRPr lang="zh-CN" altLang="en-US" sz="1600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5183" y="7304"/>
                <a:ext cx="2934" cy="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600"/>
                  <a:t>Password supervision</a:t>
                </a:r>
                <a:endParaRPr sz="160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13445" y="4993"/>
              <a:ext cx="3402" cy="3673"/>
              <a:chOff x="4950" y="5083"/>
              <a:chExt cx="3402" cy="354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4950" y="5083"/>
                <a:ext cx="3402" cy="3541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/>
                  <a:t>Contract security</a:t>
                </a:r>
                <a:endParaRPr lang="zh-CN" altLang="en-US" b="1"/>
              </a:p>
              <a:p>
                <a:pPr algn="ctr"/>
                <a:endParaRPr lang="zh-CN" altLang="en-US" b="1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  <a:p>
                <a:pPr algn="ctr"/>
                <a:endParaRPr lang="zh-CN" alt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5209" y="6148"/>
                <a:ext cx="2934" cy="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/>
                  <a:t>Formal verification</a:t>
                </a:r>
                <a:endParaRPr lang="zh-CN" altLang="en-US" sz="1600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5183" y="7304"/>
                <a:ext cx="2934" cy="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sz="1600"/>
                  <a:t>Vulnerability analysis</a:t>
                </a:r>
                <a:endParaRPr sz="1600"/>
              </a:p>
            </p:txBody>
          </p:sp>
        </p:grpSp>
        <p:sp>
          <p:nvSpPr>
            <p:cNvPr id="41" name="CustomShape 15"/>
            <p:cNvSpPr/>
            <p:nvPr/>
          </p:nvSpPr>
          <p:spPr>
            <a:xfrm>
              <a:off x="1181" y="9062"/>
              <a:ext cx="16161" cy="130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66" y="9207"/>
              <a:ext cx="364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latin typeface="+mn-ea"/>
                </a:rPr>
                <a:t>Blockchain base layer</a:t>
              </a:r>
              <a:endParaRPr lang="zh-CN" altLang="en-US" b="1">
                <a:latin typeface="+mn-ea"/>
              </a:endParaRPr>
            </a:p>
          </p:txBody>
        </p:sp>
        <p:sp>
          <p:nvSpPr>
            <p:cNvPr id="43" name="CustomShape 9"/>
            <p:cNvSpPr/>
            <p:nvPr/>
          </p:nvSpPr>
          <p:spPr>
            <a:xfrm>
              <a:off x="4950" y="9315"/>
              <a:ext cx="3610" cy="799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Distributed ledger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46" name="CustomShape 9"/>
            <p:cNvSpPr/>
            <p:nvPr/>
          </p:nvSpPr>
          <p:spPr>
            <a:xfrm>
              <a:off x="9119" y="9316"/>
              <a:ext cx="3610" cy="799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Consensus algorithm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47" name="CustomShape 9"/>
            <p:cNvSpPr/>
            <p:nvPr/>
          </p:nvSpPr>
          <p:spPr>
            <a:xfrm>
              <a:off x="13340" y="9316"/>
              <a:ext cx="3610" cy="799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 w="3175" cap="flat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-1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DejaVu Sans"/>
                </a:rPr>
                <a:t>Smart contract</a:t>
              </a:r>
              <a:endPara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5"/>
          <p:cNvSpPr/>
          <p:nvPr/>
        </p:nvSpPr>
        <p:spPr>
          <a:xfrm>
            <a:off x="1673860" y="220980"/>
            <a:ext cx="10263505" cy="86042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673860" y="436245"/>
            <a:ext cx="2137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+mn-ea"/>
              </a:rPr>
              <a:t>应用层</a:t>
            </a:r>
            <a:endParaRPr lang="zh-CN" altLang="en-US" b="1">
              <a:latin typeface="+mn-ea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4067175" y="360045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供应链管理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" name="CustomShape 9"/>
          <p:cNvSpPr/>
          <p:nvPr/>
        </p:nvSpPr>
        <p:spPr>
          <a:xfrm>
            <a:off x="6064885" y="366395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政务数据分享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" name="CustomShape 9"/>
          <p:cNvSpPr/>
          <p:nvPr/>
        </p:nvSpPr>
        <p:spPr>
          <a:xfrm>
            <a:off x="8094980" y="360045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...</a:t>
            </a:r>
            <a:endParaRPr kumimoji="0" lang="en-US" altLang="zh-CN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9"/>
          <p:cNvSpPr/>
          <p:nvPr/>
        </p:nvSpPr>
        <p:spPr>
          <a:xfrm>
            <a:off x="10088245" y="366395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智慧医疗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2" name="CustomShape 15"/>
          <p:cNvSpPr/>
          <p:nvPr/>
        </p:nvSpPr>
        <p:spPr>
          <a:xfrm>
            <a:off x="1673860" y="1081405"/>
            <a:ext cx="10262235" cy="18611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6" name="CustomShape 9"/>
          <p:cNvSpPr/>
          <p:nvPr/>
        </p:nvSpPr>
        <p:spPr>
          <a:xfrm>
            <a:off x="4067175" y="1205230"/>
            <a:ext cx="1730375" cy="5740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数据安全存储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73860" y="1779270"/>
            <a:ext cx="2366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+mn-ea"/>
              </a:rPr>
              <a:t>数据管理与计算</a:t>
            </a:r>
            <a:endParaRPr lang="zh-CN" altLang="en-US" b="1">
              <a:latin typeface="+mn-ea"/>
            </a:endParaRPr>
          </a:p>
        </p:txBody>
      </p:sp>
      <p:sp>
        <p:nvSpPr>
          <p:cNvPr id="10" name="CustomShape 9"/>
          <p:cNvSpPr/>
          <p:nvPr/>
        </p:nvSpPr>
        <p:spPr>
          <a:xfrm>
            <a:off x="6887210" y="1205230"/>
            <a:ext cx="1731010" cy="5740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数据安全计算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1" name="CustomShape 9"/>
          <p:cNvSpPr/>
          <p:nvPr/>
        </p:nvSpPr>
        <p:spPr>
          <a:xfrm>
            <a:off x="9534525" y="1205230"/>
            <a:ext cx="1744345" cy="5740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分布式计算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cxnSp>
        <p:nvCxnSpPr>
          <p:cNvPr id="12" name="直接连接符 11"/>
          <p:cNvCxnSpPr>
            <a:endCxn id="22" idx="3"/>
          </p:cNvCxnSpPr>
          <p:nvPr/>
        </p:nvCxnSpPr>
        <p:spPr>
          <a:xfrm flipV="1">
            <a:off x="4011295" y="2012315"/>
            <a:ext cx="7924800" cy="19050"/>
          </a:xfrm>
          <a:prstGeom prst="line">
            <a:avLst/>
          </a:prstGeom>
          <a:ln w="28575" cmpd="sng">
            <a:solidFill>
              <a:srgbClr val="F74E2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stomShape 9"/>
          <p:cNvSpPr/>
          <p:nvPr/>
        </p:nvSpPr>
        <p:spPr>
          <a:xfrm>
            <a:off x="4067175" y="2187575"/>
            <a:ext cx="1730375" cy="5740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非法行为监测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4" name="CustomShape 9"/>
          <p:cNvSpPr/>
          <p:nvPr/>
        </p:nvSpPr>
        <p:spPr>
          <a:xfrm>
            <a:off x="6887845" y="2187575"/>
            <a:ext cx="1730375" cy="5740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舆情感知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5" name="CustomShape 9"/>
          <p:cNvSpPr/>
          <p:nvPr/>
        </p:nvSpPr>
        <p:spPr>
          <a:xfrm>
            <a:off x="9534525" y="2187575"/>
            <a:ext cx="1730375" cy="57404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合约分析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73860" y="2969260"/>
            <a:ext cx="10262235" cy="263906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711325" y="4059555"/>
            <a:ext cx="250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+mn-ea"/>
              </a:rPr>
              <a:t>安全增强层</a:t>
            </a:r>
            <a:endParaRPr lang="zh-CN" altLang="en-US" b="1">
              <a:latin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067175" y="3078480"/>
            <a:ext cx="2160270" cy="2331720"/>
            <a:chOff x="4950" y="5082"/>
            <a:chExt cx="3402" cy="3542"/>
          </a:xfrm>
        </p:grpSpPr>
        <p:sp>
          <p:nvSpPr>
            <p:cNvPr id="18" name="矩形 17"/>
            <p:cNvSpPr/>
            <p:nvPr/>
          </p:nvSpPr>
          <p:spPr>
            <a:xfrm>
              <a:off x="4950" y="5082"/>
              <a:ext cx="3402" cy="354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LLM</a:t>
              </a:r>
              <a:r>
                <a:rPr lang="zh-CN" altLang="en-US" b="1"/>
                <a:t>智能体</a:t>
              </a:r>
              <a:endParaRPr lang="zh-CN" altLang="en-US" b="1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5241" y="5870"/>
              <a:ext cx="2934" cy="7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自然语言理解</a:t>
              </a:r>
              <a:endParaRPr lang="zh-CN" altLang="en-US" sz="160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753225" y="3077845"/>
            <a:ext cx="2160270" cy="2331720"/>
            <a:chOff x="4950" y="5083"/>
            <a:chExt cx="3402" cy="3540"/>
          </a:xfrm>
        </p:grpSpPr>
        <p:sp>
          <p:nvSpPr>
            <p:cNvPr id="31" name="矩形 30"/>
            <p:cNvSpPr/>
            <p:nvPr/>
          </p:nvSpPr>
          <p:spPr>
            <a:xfrm>
              <a:off x="4950" y="5083"/>
              <a:ext cx="3402" cy="354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RAG</a:t>
              </a:r>
              <a:r>
                <a:rPr lang="zh-CN" altLang="en-US" b="1"/>
                <a:t>服务</a:t>
              </a:r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209" y="6148"/>
              <a:ext cx="2934" cy="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安全级别划分</a:t>
              </a:r>
              <a:endParaRPr lang="zh-CN" altLang="en-US" sz="1600"/>
            </a:p>
          </p:txBody>
        </p:sp>
        <p:sp>
          <p:nvSpPr>
            <p:cNvPr id="33" name="矩形 32"/>
            <p:cNvSpPr/>
            <p:nvPr/>
          </p:nvSpPr>
          <p:spPr>
            <a:xfrm>
              <a:off x="5183" y="7304"/>
              <a:ext cx="2934" cy="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600"/>
                <a:t>权限控制</a:t>
              </a:r>
              <a:endParaRPr lang="zh-CN" sz="160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461500" y="3077845"/>
            <a:ext cx="2160270" cy="2332355"/>
            <a:chOff x="4950" y="5083"/>
            <a:chExt cx="3402" cy="3540"/>
          </a:xfrm>
        </p:grpSpPr>
        <p:sp>
          <p:nvSpPr>
            <p:cNvPr id="35" name="矩形 34"/>
            <p:cNvSpPr/>
            <p:nvPr/>
          </p:nvSpPr>
          <p:spPr>
            <a:xfrm>
              <a:off x="4950" y="5083"/>
              <a:ext cx="3402" cy="354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国密算法</a:t>
              </a:r>
              <a:endParaRPr lang="zh-CN" altLang="en-US" b="1"/>
            </a:p>
            <a:p>
              <a:pPr algn="ctr"/>
              <a:endParaRPr lang="zh-CN" altLang="en-US" b="1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209" y="6148"/>
              <a:ext cx="2934" cy="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国密算法库</a:t>
              </a:r>
              <a:endParaRPr lang="zh-CN" altLang="en-US" sz="1600"/>
            </a:p>
          </p:txBody>
        </p:sp>
        <p:sp>
          <p:nvSpPr>
            <p:cNvPr id="39" name="矩形 38"/>
            <p:cNvSpPr/>
            <p:nvPr/>
          </p:nvSpPr>
          <p:spPr>
            <a:xfrm>
              <a:off x="5183" y="7304"/>
              <a:ext cx="2934" cy="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600"/>
                <a:t>密钥管理</a:t>
              </a:r>
              <a:endParaRPr lang="zh-CN" sz="1600"/>
            </a:p>
          </p:txBody>
        </p:sp>
      </p:grpSp>
      <p:sp>
        <p:nvSpPr>
          <p:cNvPr id="41" name="CustomShape 15"/>
          <p:cNvSpPr/>
          <p:nvPr/>
        </p:nvSpPr>
        <p:spPr>
          <a:xfrm>
            <a:off x="1673860" y="5661660"/>
            <a:ext cx="10262235" cy="829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01165" y="5892165"/>
            <a:ext cx="2312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+mn-ea"/>
              </a:rPr>
              <a:t>数据层</a:t>
            </a:r>
            <a:endParaRPr lang="zh-CN" altLang="en-US" b="1">
              <a:latin typeface="+mn-ea"/>
            </a:endParaRPr>
          </a:p>
        </p:txBody>
      </p:sp>
      <p:sp>
        <p:nvSpPr>
          <p:cNvPr id="43" name="CustomShape 9"/>
          <p:cNvSpPr/>
          <p:nvPr/>
        </p:nvSpPr>
        <p:spPr>
          <a:xfrm>
            <a:off x="4067175" y="5822315"/>
            <a:ext cx="229235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统一路网图谱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6" name="CustomShape 9"/>
          <p:cNvSpPr/>
          <p:nvPr/>
        </p:nvSpPr>
        <p:spPr>
          <a:xfrm>
            <a:off x="6714490" y="5822950"/>
            <a:ext cx="229235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多模态约束知识库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7" name="CustomShape 9"/>
          <p:cNvSpPr/>
          <p:nvPr/>
        </p:nvSpPr>
        <p:spPr>
          <a:xfrm>
            <a:off x="9394825" y="5822950"/>
            <a:ext cx="229235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动态数据采集融合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55770" y="4206825"/>
            <a:ext cx="1863090" cy="481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意图识别</a:t>
            </a:r>
            <a:endParaRPr lang="zh-CN" altLang="en-US" sz="1600"/>
          </a:p>
        </p:txBody>
      </p:sp>
      <p:sp>
        <p:nvSpPr>
          <p:cNvPr id="3" name="矩形 2"/>
          <p:cNvSpPr/>
          <p:nvPr/>
        </p:nvSpPr>
        <p:spPr>
          <a:xfrm>
            <a:off x="4255135" y="4816425"/>
            <a:ext cx="1863090" cy="481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工具</a:t>
            </a:r>
            <a:r>
              <a:rPr lang="en-US" altLang="zh-CN" sz="1600"/>
              <a:t>/</a:t>
            </a:r>
            <a:r>
              <a:rPr lang="zh-CN" altLang="en-US" sz="1600"/>
              <a:t>函数调用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8"/>
          <p:cNvSpPr/>
          <p:nvPr/>
        </p:nvSpPr>
        <p:spPr>
          <a:xfrm>
            <a:off x="78920" y="2038784"/>
            <a:ext cx="7728032" cy="148416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1489625" y="214839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数据安全存储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1489625" y="284595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非法行为监测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7518" y="2518886"/>
            <a:ext cx="1107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数据管理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与计算层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95624" y="88776"/>
            <a:ext cx="9744987" cy="1797017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77518" y="970336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应用层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1266613" y="2033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数据分享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78920" y="6055749"/>
            <a:ext cx="7711328" cy="622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0674" y="6219222"/>
            <a:ext cx="17373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数据层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1489626" y="614731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中心化数据库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3594573" y="6137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分布式数据库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4" name="CustomShape 9"/>
          <p:cNvSpPr/>
          <p:nvPr/>
        </p:nvSpPr>
        <p:spPr>
          <a:xfrm>
            <a:off x="5706466" y="6137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区块链数据库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5624" y="3749623"/>
            <a:ext cx="7711328" cy="2190679"/>
            <a:chOff x="95624" y="3749623"/>
            <a:chExt cx="7711328" cy="2190679"/>
          </a:xfrm>
        </p:grpSpPr>
        <p:sp>
          <p:nvSpPr>
            <p:cNvPr id="45" name="文本框 44"/>
            <p:cNvSpPr txBox="1"/>
            <p:nvPr/>
          </p:nvSpPr>
          <p:spPr>
            <a:xfrm>
              <a:off x="133088" y="4578092"/>
              <a:ext cx="25038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latin typeface="+mn-ea"/>
                </a:defRPr>
              </a:lvl1pPr>
            </a:lstStyle>
            <a:p>
              <a:r>
                <a:rPr lang="zh-CN" altLang="en-US" b="0">
                  <a:latin typeface="黑体" panose="02010609060101010101" charset="-122"/>
                  <a:ea typeface="黑体" panose="02010609060101010101" charset="-122"/>
                </a:rPr>
                <a:t>数据层</a:t>
              </a:r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471251" y="3931395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安全增强</a:t>
              </a:r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659123" y="442070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权限管理</a:t>
              </a:r>
              <a:endParaRPr lang="zh-CN" altLang="en-US" sz="16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671854" y="509598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密码学优化</a:t>
              </a:r>
              <a:endParaRPr lang="zh-CN" sz="1600"/>
            </a:p>
          </p:txBody>
        </p:sp>
        <p:sp>
          <p:nvSpPr>
            <p:cNvPr id="43" name="矩形 42"/>
            <p:cNvSpPr/>
            <p:nvPr/>
          </p:nvSpPr>
          <p:spPr>
            <a:xfrm>
              <a:off x="95624" y="3749623"/>
              <a:ext cx="7711328" cy="2190679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577752" y="3931395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隐私增强</a:t>
              </a:r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765624" y="442070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安全计算</a:t>
              </a:r>
              <a:endParaRPr lang="zh-CN" altLang="en-US" sz="160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778355" y="509598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隐私保护</a:t>
              </a:r>
              <a:endParaRPr lang="zh-CN" sz="160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684253" y="3926153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数据管控</a:t>
              </a:r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872125" y="4415460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溯源审计</a:t>
              </a:r>
              <a:endParaRPr lang="zh-CN" altLang="en-US" sz="16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884856" y="5090740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交易监督</a:t>
              </a:r>
              <a:endParaRPr lang="zh-CN" sz="1600"/>
            </a:p>
          </p:txBody>
        </p:sp>
      </p:grpSp>
      <p:sp>
        <p:nvSpPr>
          <p:cNvPr id="30" name="CustomShape 9"/>
          <p:cNvSpPr/>
          <p:nvPr/>
        </p:nvSpPr>
        <p:spPr>
          <a:xfrm>
            <a:off x="3612947" y="214839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数据安全计算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1" name="CustomShape 13"/>
          <p:cNvSpPr/>
          <p:nvPr/>
        </p:nvSpPr>
        <p:spPr>
          <a:xfrm>
            <a:off x="3612947" y="284595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舆情感知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5688092" y="2148397"/>
            <a:ext cx="1740909" cy="517938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分布式</a:t>
            </a: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3" name="CustomShape 13"/>
          <p:cNvSpPr/>
          <p:nvPr/>
        </p:nvSpPr>
        <p:spPr>
          <a:xfrm>
            <a:off x="5706466" y="2835865"/>
            <a:ext cx="1722535" cy="489307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合约分析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297041" y="2050843"/>
            <a:ext cx="1608620" cy="4536679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8416789" y="2811447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多方安全机器学习框架</a:t>
            </a:r>
            <a:endParaRPr lang="zh-CN" altLang="en-US" sz="1600"/>
          </a:p>
        </p:txBody>
      </p:sp>
      <p:sp>
        <p:nvSpPr>
          <p:cNvPr id="36" name="箭头: 右 35"/>
          <p:cNvSpPr/>
          <p:nvPr/>
        </p:nvSpPr>
        <p:spPr>
          <a:xfrm>
            <a:off x="7825891" y="4624636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8585331" y="2298034"/>
            <a:ext cx="11644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latin typeface="+mn-ea"/>
              </a:defRPr>
            </a:lvl1pPr>
          </a:lstStyle>
          <a:p>
            <a:r>
              <a:rPr lang="zh-CN" altLang="en-US" b="0">
                <a:latin typeface="黑体" panose="02010609060101010101" charset="-122"/>
                <a:ea typeface="黑体" panose="02010609060101010101" charset="-122"/>
              </a:rPr>
              <a:t>平台架构</a:t>
            </a:r>
            <a:endParaRPr lang="zh-CN" altLang="en-US" b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412136" y="3805706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分布式深度学习框架</a:t>
            </a:r>
            <a:endParaRPr lang="zh-CN" altLang="en-US" sz="1600"/>
          </a:p>
        </p:txBody>
      </p:sp>
      <p:sp>
        <p:nvSpPr>
          <p:cNvPr id="81" name="矩形 80"/>
          <p:cNvSpPr/>
          <p:nvPr/>
        </p:nvSpPr>
        <p:spPr>
          <a:xfrm>
            <a:off x="8412136" y="4797472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数据分布式存储与共享框架</a:t>
            </a:r>
            <a:endParaRPr lang="zh-CN" altLang="en-US" sz="1600"/>
          </a:p>
        </p:txBody>
      </p:sp>
      <p:sp>
        <p:nvSpPr>
          <p:cNvPr id="83" name="矩形 82"/>
          <p:cNvSpPr/>
          <p:nvPr/>
        </p:nvSpPr>
        <p:spPr>
          <a:xfrm>
            <a:off x="8412136" y="5681397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区块链网络架构</a:t>
            </a:r>
            <a:endParaRPr lang="zh-CN" altLang="en-US" sz="1600"/>
          </a:p>
        </p:txBody>
      </p:sp>
      <p:sp>
        <p:nvSpPr>
          <p:cNvPr id="85" name="矩形 84"/>
          <p:cNvSpPr/>
          <p:nvPr/>
        </p:nvSpPr>
        <p:spPr>
          <a:xfrm>
            <a:off x="10412454" y="2718855"/>
            <a:ext cx="1717329" cy="36918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数据安全协同计算平台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87" name="箭头: 右 86"/>
          <p:cNvSpPr/>
          <p:nvPr/>
        </p:nvSpPr>
        <p:spPr>
          <a:xfrm>
            <a:off x="9871968" y="45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箭头: 下 87"/>
          <p:cNvSpPr/>
          <p:nvPr/>
        </p:nvSpPr>
        <p:spPr>
          <a:xfrm rot="10800000">
            <a:off x="10960399" y="1917732"/>
            <a:ext cx="621437" cy="760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/>
        </p:nvCxnSpPr>
        <p:spPr>
          <a:xfrm>
            <a:off x="1471251" y="2740962"/>
            <a:ext cx="59577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stomShape 9"/>
          <p:cNvSpPr/>
          <p:nvPr/>
        </p:nvSpPr>
        <p:spPr>
          <a:xfrm>
            <a:off x="3373114" y="1947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数据协同计算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6" name="CustomShape 9"/>
          <p:cNvSpPr/>
          <p:nvPr/>
        </p:nvSpPr>
        <p:spPr>
          <a:xfrm>
            <a:off x="5534295" y="2033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数据挖掘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8" name="CustomShape 9"/>
          <p:cNvSpPr/>
          <p:nvPr/>
        </p:nvSpPr>
        <p:spPr>
          <a:xfrm>
            <a:off x="7640796" y="1947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跨设备联动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cxnSp>
        <p:nvCxnSpPr>
          <p:cNvPr id="99" name="直接连接符 98"/>
          <p:cNvCxnSpPr/>
          <p:nvPr/>
        </p:nvCxnSpPr>
        <p:spPr>
          <a:xfrm>
            <a:off x="1266613" y="878082"/>
            <a:ext cx="80449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>
          <a:xfrm>
            <a:off x="1266614" y="946373"/>
            <a:ext cx="8044950" cy="865738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CustomShape 9"/>
          <p:cNvSpPr/>
          <p:nvPr/>
        </p:nvSpPr>
        <p:spPr>
          <a:xfrm>
            <a:off x="3780791" y="1095578"/>
            <a:ext cx="2526179" cy="5702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设备可信安全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6" name="CustomShape 9"/>
          <p:cNvSpPr/>
          <p:nvPr/>
        </p:nvSpPr>
        <p:spPr>
          <a:xfrm>
            <a:off x="6525599" y="1098480"/>
            <a:ext cx="2526179" cy="5702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感知数据隐私保护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293248" y="1023506"/>
            <a:ext cx="226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     智慧城市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物联网区块链平台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0379047" y="88776"/>
            <a:ext cx="1717329" cy="1788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智慧城市物联网应用</a:t>
            </a:r>
            <a:endParaRPr lang="zh-CN" altLang="en-US" sz="2800"/>
          </a:p>
        </p:txBody>
      </p:sp>
      <p:sp>
        <p:nvSpPr>
          <p:cNvPr id="112" name="箭头: 右 111"/>
          <p:cNvSpPr/>
          <p:nvPr/>
        </p:nvSpPr>
        <p:spPr>
          <a:xfrm>
            <a:off x="9820080" y="8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231642" y="5995154"/>
            <a:ext cx="7282696" cy="781235"/>
            <a:chOff x="3908477" y="5113538"/>
            <a:chExt cx="7728032" cy="781235"/>
          </a:xfrm>
        </p:grpSpPr>
        <p:sp>
          <p:nvSpPr>
            <p:cNvPr id="3" name="CustomShape 8"/>
            <p:cNvSpPr/>
            <p:nvPr/>
          </p:nvSpPr>
          <p:spPr>
            <a:xfrm>
              <a:off x="3908477" y="5113538"/>
              <a:ext cx="7728032" cy="781235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  <a:round/>
            </a:ln>
            <a:effectLst/>
          </p:spPr>
          <p:txBody>
            <a:bodyPr anchor="b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8" name="CustomShape 13"/>
            <p:cNvSpPr/>
            <p:nvPr/>
          </p:nvSpPr>
          <p:spPr>
            <a:xfrm>
              <a:off x="4406813" y="5299128"/>
              <a:ext cx="1722535" cy="479221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</a:rPr>
                <a:t>分布式账本</a:t>
              </a:r>
              <a:endParaRPr kumimoji="0" 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31" name="CustomShape 13"/>
            <p:cNvSpPr/>
            <p:nvPr/>
          </p:nvSpPr>
          <p:spPr>
            <a:xfrm>
              <a:off x="6911225" y="5299127"/>
              <a:ext cx="1722535" cy="479221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kern="0" spc="-1">
                  <a:solidFill>
                    <a:srgbClr val="FFFFFF"/>
                  </a:solidFill>
                  <a:latin typeface="Arial" panose="020B0604020202020204"/>
                </a:rPr>
                <a:t>智能毁约</a:t>
              </a:r>
              <a:endParaRPr kumimoji="0" 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  <p:sp>
          <p:nvSpPr>
            <p:cNvPr id="33" name="CustomShape 13"/>
            <p:cNvSpPr/>
            <p:nvPr/>
          </p:nvSpPr>
          <p:spPr>
            <a:xfrm>
              <a:off x="9415637" y="5299127"/>
              <a:ext cx="1722535" cy="489307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solidFill>
                <a:srgbClr val="C0504D">
                  <a:shade val="50000"/>
                </a:srgbClr>
              </a:solidFill>
              <a:prstDash val="solid"/>
              <a:rou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-1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</a:rPr>
                <a:t>共识机制</a:t>
              </a:r>
              <a:endParaRPr kumimoji="0" 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endParaRPr>
            </a:p>
          </p:txBody>
        </p:sp>
      </p:grpSp>
      <p:sp>
        <p:nvSpPr>
          <p:cNvPr id="87" name="箭头: 右 86"/>
          <p:cNvSpPr/>
          <p:nvPr/>
        </p:nvSpPr>
        <p:spPr>
          <a:xfrm>
            <a:off x="3026324" y="4259515"/>
            <a:ext cx="1070599" cy="6256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CustomShape 15"/>
          <p:cNvSpPr/>
          <p:nvPr/>
        </p:nvSpPr>
        <p:spPr>
          <a:xfrm>
            <a:off x="154139" y="408373"/>
            <a:ext cx="2660082" cy="57971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366242" y="1107248"/>
            <a:ext cx="2252671" cy="77086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链上链下数据融合</a:t>
            </a:r>
            <a:endParaRPr kumimoji="0" lang="zh-CN" altLang="en-US" sz="20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1" name="CustomShape 9"/>
          <p:cNvSpPr/>
          <p:nvPr/>
        </p:nvSpPr>
        <p:spPr>
          <a:xfrm>
            <a:off x="366243" y="2921430"/>
            <a:ext cx="2252670" cy="77086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智能合约分析</a:t>
            </a:r>
            <a:endParaRPr kumimoji="0" lang="zh-CN" altLang="en-US" sz="20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2" name="CustomShape 9"/>
          <p:cNvSpPr/>
          <p:nvPr/>
        </p:nvSpPr>
        <p:spPr>
          <a:xfrm>
            <a:off x="366243" y="4563460"/>
            <a:ext cx="2252670" cy="77086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数据隐私增强</a:t>
            </a:r>
            <a:endParaRPr kumimoji="0" lang="zh-CN" altLang="en-US" sz="20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6" name="箭头: 右 15"/>
          <p:cNvSpPr/>
          <p:nvPr/>
        </p:nvSpPr>
        <p:spPr>
          <a:xfrm>
            <a:off x="3026324" y="2930307"/>
            <a:ext cx="1070599" cy="6256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/>
          <p:cNvSpPr/>
          <p:nvPr/>
        </p:nvSpPr>
        <p:spPr>
          <a:xfrm>
            <a:off x="3026324" y="1733301"/>
            <a:ext cx="1070599" cy="6256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4230537" y="81611"/>
            <a:ext cx="7282696" cy="5797117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4616250" y="3267397"/>
            <a:ext cx="1793293" cy="2503475"/>
            <a:chOff x="7712665" y="1965297"/>
            <a:chExt cx="1793293" cy="2503475"/>
          </a:xfrm>
        </p:grpSpPr>
        <p:sp>
          <p:nvSpPr>
            <p:cNvPr id="82" name="矩形 81"/>
            <p:cNvSpPr/>
            <p:nvPr/>
          </p:nvSpPr>
          <p:spPr>
            <a:xfrm>
              <a:off x="7712665" y="1965297"/>
              <a:ext cx="1793293" cy="250347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隐私增强</a:t>
              </a:r>
              <a:endParaRPr lang="en-US" altLang="zh-CN" b="1"/>
            </a:p>
            <a:p>
              <a:pPr algn="ctr"/>
              <a:endParaRPr lang="en-US" altLang="zh-CN" b="1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7900537" y="314771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权限控制</a:t>
              </a:r>
              <a:endParaRPr lang="zh-CN" altLang="en-US" sz="1600"/>
            </a:p>
          </p:txBody>
        </p:sp>
        <p:sp>
          <p:nvSpPr>
            <p:cNvPr id="86" name="矩形 85"/>
            <p:cNvSpPr/>
            <p:nvPr/>
          </p:nvSpPr>
          <p:spPr>
            <a:xfrm>
              <a:off x="7913268" y="382299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加密算法</a:t>
              </a:r>
              <a:endParaRPr lang="zh-CN" sz="1600"/>
            </a:p>
          </p:txBody>
        </p:sp>
        <p:sp>
          <p:nvSpPr>
            <p:cNvPr id="19" name="矩形 18"/>
            <p:cNvSpPr/>
            <p:nvPr/>
          </p:nvSpPr>
          <p:spPr>
            <a:xfrm>
              <a:off x="7883595" y="2458424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隐私计算</a:t>
              </a:r>
              <a:endParaRPr lang="zh-CN" altLang="en-US" sz="1600" dirty="0"/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7466120" y="3306862"/>
            <a:ext cx="3721377" cy="2503475"/>
            <a:chOff x="7712665" y="1965297"/>
            <a:chExt cx="1793293" cy="2503475"/>
          </a:xfrm>
        </p:grpSpPr>
        <p:sp>
          <p:nvSpPr>
            <p:cNvPr id="114" name="矩形 113"/>
            <p:cNvSpPr/>
            <p:nvPr/>
          </p:nvSpPr>
          <p:spPr>
            <a:xfrm>
              <a:off x="7712665" y="1965297"/>
              <a:ext cx="1793293" cy="250347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智能合约形式化分析</a:t>
              </a:r>
              <a:endParaRPr lang="en-US" altLang="zh-CN" b="1"/>
            </a:p>
            <a:p>
              <a:pPr algn="ctr"/>
              <a:endParaRPr lang="en-US" altLang="zh-CN" b="1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7926314" y="3397427"/>
              <a:ext cx="659799" cy="9642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智能合约形式化分析和验证技术</a:t>
              </a:r>
              <a:endParaRPr lang="zh-CN" sz="1600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7883595" y="2458424"/>
              <a:ext cx="1528066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智能合约形式化分析工具设计</a:t>
              </a:r>
              <a:endParaRPr lang="zh-CN" altLang="en-US" sz="1600"/>
            </a:p>
          </p:txBody>
        </p:sp>
      </p:grpSp>
      <p:sp>
        <p:nvSpPr>
          <p:cNvPr id="42" name="箭头: 下 41"/>
          <p:cNvSpPr/>
          <p:nvPr/>
        </p:nvSpPr>
        <p:spPr>
          <a:xfrm rot="10800000">
            <a:off x="8396902" y="4302448"/>
            <a:ext cx="394339" cy="4145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9645125" y="4738992"/>
            <a:ext cx="1369191" cy="964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智能合约协议漏洞修复技术</a:t>
            </a:r>
            <a:endParaRPr lang="zh-CN" sz="1600"/>
          </a:p>
        </p:txBody>
      </p:sp>
      <p:sp>
        <p:nvSpPr>
          <p:cNvPr id="53" name="箭头: 下 52"/>
          <p:cNvSpPr/>
          <p:nvPr/>
        </p:nvSpPr>
        <p:spPr>
          <a:xfrm rot="10800000">
            <a:off x="10132550" y="4302448"/>
            <a:ext cx="394339" cy="4145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CustomShape 15"/>
          <p:cNvSpPr/>
          <p:nvPr/>
        </p:nvSpPr>
        <p:spPr>
          <a:xfrm>
            <a:off x="4623853" y="1530589"/>
            <a:ext cx="6721809" cy="112657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-1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</a:rPr>
              <a:t>链上链下数据</a:t>
            </a:r>
            <a:r>
              <a:rPr lang="zh-CN" altLang="en-US" kern="0" spc="-1">
                <a:latin typeface="Arial" panose="020B0604020202020204"/>
              </a:rPr>
              <a:t>融合架构设计</a:t>
            </a:r>
            <a:endParaRPr kumimoji="0" lang="en-US" altLang="zh-CN" b="0" i="0" u="none" strike="noStrike" kern="0" cap="none" spc="-1" normalizeH="0" baseline="0" noProof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kern="0" spc="-1">
              <a:latin typeface="Arial" panose="020B06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-1" normalizeH="0" baseline="0" noProof="0" dirty="0" err="1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5" name="箭头: 下 64"/>
          <p:cNvSpPr/>
          <p:nvPr/>
        </p:nvSpPr>
        <p:spPr>
          <a:xfrm rot="10800000">
            <a:off x="5277220" y="2694503"/>
            <a:ext cx="523677" cy="5669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下 66"/>
          <p:cNvSpPr/>
          <p:nvPr/>
        </p:nvSpPr>
        <p:spPr>
          <a:xfrm rot="10800000">
            <a:off x="9060344" y="2694504"/>
            <a:ext cx="523677" cy="5669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CustomShape 9"/>
          <p:cNvSpPr/>
          <p:nvPr/>
        </p:nvSpPr>
        <p:spPr>
          <a:xfrm>
            <a:off x="4939629" y="204612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跨链合约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1" name="CustomShape 9"/>
          <p:cNvSpPr/>
          <p:nvPr/>
        </p:nvSpPr>
        <p:spPr>
          <a:xfrm>
            <a:off x="7130906" y="2038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链上链下交互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47" name="CustomShape 9"/>
          <p:cNvSpPr/>
          <p:nvPr/>
        </p:nvSpPr>
        <p:spPr>
          <a:xfrm>
            <a:off x="9322183" y="2038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多通道设计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49" name="CustomShape 15"/>
          <p:cNvSpPr/>
          <p:nvPr/>
        </p:nvSpPr>
        <p:spPr>
          <a:xfrm>
            <a:off x="4616250" y="256896"/>
            <a:ext cx="6721809" cy="710304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-1" normalizeH="0" baseline="0" noProof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kern="0" spc="-1">
              <a:latin typeface="Arial" panose="020B06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-1" normalizeH="0" baseline="0" noProof="0" dirty="0" err="1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51" name="CustomShape 9"/>
          <p:cNvSpPr/>
          <p:nvPr/>
        </p:nvSpPr>
        <p:spPr>
          <a:xfrm>
            <a:off x="4932026" y="356159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供应链金融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53" name="CustomShape 9"/>
          <p:cNvSpPr/>
          <p:nvPr/>
        </p:nvSpPr>
        <p:spPr>
          <a:xfrm>
            <a:off x="7123303" y="34845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供应链管理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55" name="CustomShape 9"/>
          <p:cNvSpPr/>
          <p:nvPr/>
        </p:nvSpPr>
        <p:spPr>
          <a:xfrm>
            <a:off x="9314580" y="34845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数字政务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57" name="箭头: 下 156"/>
          <p:cNvSpPr/>
          <p:nvPr/>
        </p:nvSpPr>
        <p:spPr>
          <a:xfrm rot="10800000">
            <a:off x="7715904" y="1014267"/>
            <a:ext cx="387146" cy="4636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组合 107"/>
          <p:cNvGrpSpPr/>
          <p:nvPr/>
        </p:nvGrpSpPr>
        <p:grpSpPr>
          <a:xfrm>
            <a:off x="676910" y="281305"/>
            <a:ext cx="9900920" cy="5770880"/>
            <a:chOff x="327" y="1480"/>
            <a:chExt cx="15592" cy="9088"/>
          </a:xfrm>
        </p:grpSpPr>
        <p:grpSp>
          <p:nvGrpSpPr>
            <p:cNvPr id="11" name="组合 10"/>
            <p:cNvGrpSpPr/>
            <p:nvPr/>
          </p:nvGrpSpPr>
          <p:grpSpPr>
            <a:xfrm>
              <a:off x="327" y="2142"/>
              <a:ext cx="15345" cy="8426"/>
              <a:chOff x="327" y="2142"/>
              <a:chExt cx="15345" cy="8426"/>
            </a:xfrm>
          </p:grpSpPr>
          <p:sp>
            <p:nvSpPr>
              <p:cNvPr id="204" name="CustomShape 1"/>
              <p:cNvSpPr/>
              <p:nvPr/>
            </p:nvSpPr>
            <p:spPr>
              <a:xfrm>
                <a:off x="10268" y="4555"/>
                <a:ext cx="3383" cy="5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/>
            </p:style>
            <p:txBody>
              <a:bodyPr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200" b="1" strike="noStrike" spc="-1">
                    <a:solidFill>
                      <a:srgbClr val="FF0000"/>
                    </a:solidFill>
                    <a:latin typeface="Arial" panose="020B0604020202020204"/>
                  </a:rPr>
                  <a:t>(5) 分析结果</a:t>
                </a:r>
                <a:endParaRPr lang="en-US" sz="1200" b="1" strike="noStrike" spc="-1">
                  <a:solidFill>
                    <a:srgbClr val="FF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05" name="CustomShape 2"/>
              <p:cNvSpPr/>
              <p:nvPr/>
            </p:nvSpPr>
            <p:spPr>
              <a:xfrm>
                <a:off x="1322" y="4529"/>
                <a:ext cx="3066" cy="126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/>
            </p:style>
            <p:txBody>
              <a:bodyPr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200" b="1" strike="noStrike" spc="-1">
                    <a:solidFill>
                      <a:srgbClr val="FF0000"/>
                    </a:solidFill>
                    <a:latin typeface="Arial" panose="020B0604020202020204"/>
                  </a:rPr>
                  <a:t>(1) 加密数据</a:t>
                </a:r>
                <a:r>
                  <a:rPr lang="zh-CN" altLang="en-US" sz="1200" b="1" strike="noStrike" spc="-1">
                    <a:solidFill>
                      <a:srgbClr val="FF0000"/>
                    </a:solidFill>
                    <a:latin typeface="Arial" panose="020B0604020202020204"/>
                    <a:ea typeface="宋体" panose="02010600030101010101" pitchFamily="2" charset="-122"/>
                  </a:rPr>
                  <a:t>集信息</a:t>
                </a:r>
                <a:r>
                  <a:rPr lang="en-US" sz="1200" b="1" strike="noStrike" spc="-1">
                    <a:solidFill>
                      <a:srgbClr val="FF0000"/>
                    </a:solidFill>
                    <a:latin typeface="Arial" panose="020B0604020202020204"/>
                  </a:rPr>
                  <a:t>上链</a:t>
                </a:r>
                <a:endParaRPr lang="en-US" sz="1200" b="1" strike="noStrike" spc="-1">
                  <a:solidFill>
                    <a:srgbClr val="FF0000"/>
                  </a:solidFill>
                  <a:latin typeface="Arial" panose="020B0604020202020204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200" b="1" strike="noStrike" spc="-1">
                    <a:solidFill>
                      <a:srgbClr val="FF0000"/>
                    </a:solidFill>
                    <a:latin typeface="Arial" panose="020B0604020202020204"/>
                  </a:rPr>
                  <a:t>    </a:t>
                </a:r>
                <a:endParaRPr lang="en-US" sz="1200" b="1" strike="noStrike" spc="-1">
                  <a:solidFill>
                    <a:srgbClr val="FF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09" name="CustomShape 6"/>
              <p:cNvSpPr/>
              <p:nvPr/>
            </p:nvSpPr>
            <p:spPr>
              <a:xfrm>
                <a:off x="5602" y="5056"/>
                <a:ext cx="7350" cy="3792"/>
              </a:xfrm>
              <a:prstGeom prst="cloud">
                <a:avLst/>
              </a:prstGeom>
              <a:ln w="57150">
                <a:solidFill>
                  <a:schemeClr val="accent5"/>
                </a:solidFill>
                <a:round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/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" name="CustomShape 7"/>
              <p:cNvSpPr/>
              <p:nvPr/>
            </p:nvSpPr>
            <p:spPr>
              <a:xfrm>
                <a:off x="327" y="10069"/>
                <a:ext cx="2374" cy="4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/>
            </p:style>
            <p:txBody>
              <a:bodyPr anchor="ctr"/>
              <a:lstStyle/>
              <a:p>
                <a:pPr>
                  <a:lnSpc>
                    <a:spcPct val="100000"/>
                  </a:lnSpc>
                </a:pPr>
                <a:r>
                  <a:rPr lang="en-US" sz="2000" b="1" strike="noStrike" spc="-1">
                    <a:solidFill>
                      <a:schemeClr val="tx1"/>
                    </a:solidFill>
                    <a:latin typeface="Arial" panose="020B0604020202020204"/>
                  </a:rPr>
                  <a:t>数据提供方</a:t>
                </a:r>
                <a:endParaRPr lang="en-US" sz="2000" b="1" strike="noStrike" spc="-1">
                  <a:solidFill>
                    <a:schemeClr val="tx1"/>
                  </a:solidFill>
                  <a:latin typeface="Arial" panose="020B0604020202020204"/>
                </a:endParaRPr>
              </a:p>
            </p:txBody>
          </p:sp>
          <p:sp>
            <p:nvSpPr>
              <p:cNvPr id="212" name="CustomShape 9"/>
              <p:cNvSpPr/>
              <p:nvPr/>
            </p:nvSpPr>
            <p:spPr>
              <a:xfrm>
                <a:off x="10839" y="2510"/>
                <a:ext cx="3743" cy="8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/>
            </p:style>
            <p:txBody>
              <a:bodyPr anchor="ctr"/>
              <a:lstStyle/>
              <a:p>
                <a:pPr algn="ctr">
                  <a:lnSpc>
                    <a:spcPct val="100000"/>
                  </a:lnSpc>
                </a:pPr>
                <a:endParaRPr lang="en-US" sz="2400" b="1" strike="noStrike" spc="-1" dirty="0" err="1">
                  <a:solidFill>
                    <a:srgbClr val="0649D0"/>
                  </a:solidFill>
                  <a:latin typeface="Arial" panose="020B0604020202020204"/>
                </a:endParaRPr>
              </a:p>
            </p:txBody>
          </p:sp>
          <p:sp>
            <p:nvSpPr>
              <p:cNvPr id="214" name="CustomShape 11"/>
              <p:cNvSpPr/>
              <p:nvPr/>
            </p:nvSpPr>
            <p:spPr>
              <a:xfrm>
                <a:off x="9258" y="3536"/>
                <a:ext cx="1687" cy="8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/>
            </p:style>
            <p:txBody>
              <a:bodyPr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200" b="1" strike="noStrike" spc="-1">
                    <a:solidFill>
                      <a:srgbClr val="FF0000"/>
                    </a:solidFill>
                    <a:latin typeface="Arial" panose="020B0604020202020204"/>
                  </a:rPr>
                  <a:t>(2) 数据查询、       分析请求</a:t>
                </a:r>
                <a:endParaRPr lang="en-US" sz="1200" b="1" strike="noStrike" spc="-1">
                  <a:solidFill>
                    <a:srgbClr val="FF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18" name="CustomShape 15"/>
              <p:cNvSpPr/>
              <p:nvPr/>
            </p:nvSpPr>
            <p:spPr>
              <a:xfrm>
                <a:off x="7467" y="5792"/>
                <a:ext cx="3621" cy="2319"/>
              </a:xfrm>
              <a:prstGeom prst="roundRect">
                <a:avLst/>
              </a:prstGeom>
              <a:noFill/>
              <a:ln w="28575" cmpd="dbl">
                <a:solidFill>
                  <a:srgbClr val="FF0000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</a:extLst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b="1" strike="noStrike" spc="-1">
                    <a:solidFill>
                      <a:srgbClr val="C00000"/>
                    </a:solidFill>
                    <a:latin typeface="Arial" panose="020B0604020202020204"/>
                  </a:rPr>
                  <a:t>端到端计算中间件</a:t>
                </a:r>
                <a:endParaRPr lang="en-US" sz="1800" b="1" strike="noStrike" spc="-1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pic>
            <p:nvPicPr>
              <p:cNvPr id="4" name="图片 3" descr="人数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94" y="8580"/>
                <a:ext cx="1839" cy="1839"/>
              </a:xfrm>
              <a:prstGeom prst="rect">
                <a:avLst/>
              </a:prstGeom>
            </p:spPr>
          </p:pic>
          <p:pic>
            <p:nvPicPr>
              <p:cNvPr id="5" name="图片 4" descr="人像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059" y="2142"/>
                <a:ext cx="1613" cy="1613"/>
              </a:xfrm>
              <a:prstGeom prst="rect">
                <a:avLst/>
              </a:prstGeom>
            </p:spPr>
          </p:pic>
          <p:pic>
            <p:nvPicPr>
              <p:cNvPr id="7" name="图片 6" descr="batchcompute  批量计算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1" y="6325"/>
                <a:ext cx="1510" cy="1126"/>
              </a:xfrm>
              <a:prstGeom prst="rect">
                <a:avLst/>
              </a:prstGeom>
            </p:spPr>
          </p:pic>
          <p:sp>
            <p:nvSpPr>
              <p:cNvPr id="8" name="文本框 7"/>
              <p:cNvSpPr txBox="1"/>
              <p:nvPr/>
            </p:nvSpPr>
            <p:spPr>
              <a:xfrm>
                <a:off x="8249" y="7509"/>
                <a:ext cx="2057" cy="531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b="1" spc="-1" dirty="0">
                    <a:solidFill>
                      <a:srgbClr val="FF0000"/>
                    </a:solidFill>
                    <a:latin typeface="Arial" panose="020B0604020202020204"/>
                    <a:sym typeface="+mn-ea"/>
                  </a:rPr>
                  <a:t>(4) </a:t>
                </a:r>
                <a:r>
                  <a:rPr lang="en-US" sz="1600" b="1" spc="-1" dirty="0" err="1">
                    <a:solidFill>
                      <a:srgbClr val="FF0000"/>
                    </a:solidFill>
                    <a:latin typeface="Arial" panose="020B0604020202020204"/>
                    <a:sym typeface="+mn-ea"/>
                  </a:rPr>
                  <a:t>安全计算</a:t>
                </a:r>
                <a:endParaRPr lang="en-US" altLang="en-US" sz="1600" b="1" spc="-1" dirty="0" err="1">
                  <a:solidFill>
                    <a:srgbClr val="FF0000"/>
                  </a:solidFill>
                  <a:latin typeface="Arial" panose="020B0604020202020204"/>
                  <a:sym typeface="+mn-ea"/>
                </a:endParaRPr>
              </a:p>
            </p:txBody>
          </p:sp>
          <p:cxnSp>
            <p:nvCxnSpPr>
              <p:cNvPr id="12" name="直接箭头连接符 11"/>
              <p:cNvCxnSpPr/>
              <p:nvPr/>
            </p:nvCxnSpPr>
            <p:spPr>
              <a:xfrm>
                <a:off x="5549" y="7036"/>
                <a:ext cx="1935" cy="0"/>
              </a:xfrm>
              <a:prstGeom prst="straightConnector1">
                <a:avLst/>
              </a:prstGeom>
              <a:ln w="28575">
                <a:solidFill>
                  <a:schemeClr val="accent1">
                    <a:shade val="95000"/>
                    <a:satMod val="10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11100" y="7020"/>
                <a:ext cx="1950" cy="0"/>
              </a:xfrm>
              <a:prstGeom prst="straightConnector1">
                <a:avLst/>
              </a:prstGeom>
              <a:ln w="28575">
                <a:solidFill>
                  <a:schemeClr val="accent1">
                    <a:shade val="95000"/>
                    <a:satMod val="10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图片 13" descr="通用计算服务器 (1)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50" y="6102"/>
                <a:ext cx="1867" cy="1867"/>
              </a:xfrm>
              <a:prstGeom prst="rect">
                <a:avLst/>
              </a:prstGeom>
            </p:spPr>
          </p:pic>
          <p:pic>
            <p:nvPicPr>
              <p:cNvPr id="16" name="图片 15" descr="通用计算服务器 (1)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0800000">
                <a:off x="12841" y="6102"/>
                <a:ext cx="1769" cy="1867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9067" y="6485"/>
                <a:ext cx="1911" cy="1101"/>
                <a:chOff x="3599782" y="2697171"/>
                <a:chExt cx="1154430" cy="722193"/>
              </a:xfrm>
            </p:grpSpPr>
            <p:pic>
              <p:nvPicPr>
                <p:cNvPr id="61" name="图片 60" descr="db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3792" y="2697171"/>
                  <a:ext cx="457200" cy="457200"/>
                </a:xfrm>
                <a:prstGeom prst="rect">
                  <a:avLst/>
                </a:prstGeom>
              </p:spPr>
            </p:pic>
            <p:pic>
              <p:nvPicPr>
                <p:cNvPr id="6" name="图片 5" descr="加密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09457" y="2697171"/>
                  <a:ext cx="481535" cy="481535"/>
                </a:xfrm>
                <a:prstGeom prst="rect">
                  <a:avLst/>
                </a:prstGeom>
              </p:spPr>
            </p:pic>
            <p:sp>
              <p:nvSpPr>
                <p:cNvPr id="10" name="文本框 9"/>
                <p:cNvSpPr txBox="1"/>
                <p:nvPr/>
              </p:nvSpPr>
              <p:spPr>
                <a:xfrm>
                  <a:off x="3599782" y="3134686"/>
                  <a:ext cx="1154430" cy="284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加密数据集</a:t>
                  </a:r>
                  <a:endParaRPr lang="zh-CN" altLang="en-US" sz="12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03" name="组合 102"/>
            <p:cNvGrpSpPr/>
            <p:nvPr/>
          </p:nvGrpSpPr>
          <p:grpSpPr>
            <a:xfrm>
              <a:off x="1004" y="1480"/>
              <a:ext cx="14680" cy="745"/>
              <a:chOff x="1004" y="1540"/>
              <a:chExt cx="14680" cy="745"/>
            </a:xfrm>
          </p:grpSpPr>
          <p:grpSp>
            <p:nvGrpSpPr>
              <p:cNvPr id="50" name="组合 128"/>
              <p:cNvGrpSpPr/>
              <p:nvPr/>
            </p:nvGrpSpPr>
            <p:grpSpPr>
              <a:xfrm>
                <a:off x="1444" y="1565"/>
                <a:ext cx="13709" cy="721"/>
                <a:chOff x="1625600" y="1107984"/>
                <a:chExt cx="8704988" cy="457744"/>
              </a:xfrm>
            </p:grpSpPr>
            <p:pic>
              <p:nvPicPr>
                <p:cNvPr id="51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1625600" y="1135742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52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1890077" y="1131797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53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2159000" y="1135742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54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2423477" y="1131797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55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2697163" y="1135742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56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2961640" y="1131797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57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3230563" y="1135742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58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3495040" y="1131797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59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3763962" y="1130979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62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4028439" y="1127034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63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4297362" y="1130979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64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4561839" y="1127034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65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4835525" y="1130979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66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00002" y="1127034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67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368925" y="1130979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68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633402" y="1127034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69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892800" y="1116692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0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6157277" y="1112747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1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6426200" y="1116692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2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6690677" y="1112747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3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6964363" y="1116692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4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7228840" y="1112747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5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7518082" y="1116692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6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7762240" y="1112747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7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8031162" y="1111929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8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8295639" y="1107984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79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8564562" y="1111929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80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8829039" y="1107984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81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9102725" y="1111929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82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9367202" y="1107984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83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9636125" y="1111929"/>
                  <a:ext cx="429986" cy="4299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84" name="Picture 2" descr="C:\Users\Administrator\Downloads\区块链 (1).png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9900602" y="1107984"/>
                  <a:ext cx="429986" cy="429986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85" name="Picture 3" descr="C:\Users\Administrator\Downloads\供应链.png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1004" y="1540"/>
                <a:ext cx="680" cy="680"/>
              </a:xfrm>
              <a:prstGeom prst="rect">
                <a:avLst/>
              </a:prstGeom>
              <a:noFill/>
            </p:spPr>
          </p:pic>
          <p:pic>
            <p:nvPicPr>
              <p:cNvPr id="86" name="Picture 3" descr="C:\Users\Administrator\Downloads\供应链.png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 rot="19355679">
                <a:off x="15004" y="1600"/>
                <a:ext cx="680" cy="680"/>
              </a:xfrm>
              <a:prstGeom prst="rect">
                <a:avLst/>
              </a:prstGeom>
              <a:noFill/>
            </p:spPr>
          </p:pic>
        </p:grpSp>
        <p:cxnSp>
          <p:nvCxnSpPr>
            <p:cNvPr id="87" name="直接箭头连接符 86"/>
            <p:cNvCxnSpPr>
              <a:endCxn id="85" idx="2"/>
            </p:cNvCxnSpPr>
            <p:nvPr/>
          </p:nvCxnSpPr>
          <p:spPr>
            <a:xfrm flipV="1">
              <a:off x="1342" y="2160"/>
              <a:ext cx="2" cy="6425"/>
            </a:xfrm>
            <a:prstGeom prst="straightConnector1">
              <a:avLst/>
            </a:prstGeom>
            <a:ln w="31750">
              <a:solidFill>
                <a:srgbClr val="1296D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圆角矩形 87"/>
            <p:cNvSpPr/>
            <p:nvPr/>
          </p:nvSpPr>
          <p:spPr>
            <a:xfrm>
              <a:off x="461" y="8681"/>
              <a:ext cx="4604" cy="1887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89" name="圆角矩形 88"/>
            <p:cNvSpPr/>
            <p:nvPr/>
          </p:nvSpPr>
          <p:spPr>
            <a:xfrm>
              <a:off x="11216" y="2272"/>
              <a:ext cx="4604" cy="1751"/>
            </a:xfrm>
            <a:prstGeom prst="roundRect">
              <a:avLst/>
            </a:prstGeom>
            <a:noFill/>
            <a:ln>
              <a:solidFill>
                <a:srgbClr val="267FF0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2538" y="9694"/>
              <a:ext cx="276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200" b="1" spc="-1">
                  <a:solidFill>
                    <a:srgbClr val="FF0000"/>
                  </a:solidFill>
                  <a:latin typeface="Arial" panose="020B0604020202020204"/>
                  <a:sym typeface="+mn-ea"/>
                </a:rPr>
                <a:t>x=2           x=sjdn34 </a:t>
              </a:r>
              <a:endParaRPr lang="zh-CN" altLang="en-US" sz="1200" b="1" spc="-1">
                <a:solidFill>
                  <a:srgbClr val="FF0000"/>
                </a:solidFill>
                <a:latin typeface="Arial" panose="020B0604020202020204"/>
                <a:ea typeface="宋体" panose="02010600030101010101" pitchFamily="2" charset="-122"/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1" spc="-1">
                  <a:solidFill>
                    <a:srgbClr val="FF0000"/>
                  </a:solidFill>
                  <a:latin typeface="Arial" panose="020B0604020202020204"/>
                  <a:sym typeface="+mn-ea"/>
                </a:rPr>
                <a:t>y=3           y=idnd3c</a:t>
              </a:r>
              <a:endParaRPr lang="en-US" altLang="en-US" sz="1200" b="1" strike="noStrike" spc="-1">
                <a:solidFill>
                  <a:srgbClr val="FF0000"/>
                </a:solidFill>
                <a:latin typeface="Arial" panose="020B0604020202020204"/>
              </a:endParaRPr>
            </a:p>
          </p:txBody>
        </p:sp>
        <p:cxnSp>
          <p:nvCxnSpPr>
            <p:cNvPr id="94" name="直接箭头连接符 93"/>
            <p:cNvCxnSpPr/>
            <p:nvPr/>
          </p:nvCxnSpPr>
          <p:spPr>
            <a:xfrm flipV="1">
              <a:off x="7667" y="2188"/>
              <a:ext cx="12" cy="3573"/>
            </a:xfrm>
            <a:prstGeom prst="straightConnector1">
              <a:avLst/>
            </a:prstGeom>
            <a:ln w="31750">
              <a:solidFill>
                <a:srgbClr val="1296D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CustomShape 2"/>
            <p:cNvSpPr/>
            <p:nvPr/>
          </p:nvSpPr>
          <p:spPr>
            <a:xfrm>
              <a:off x="4648" y="2839"/>
              <a:ext cx="2946" cy="12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anchor="ctr"/>
            <a:lstStyle/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0000"/>
                  </a:solidFill>
                  <a:latin typeface="Arial" panose="020B0604020202020204"/>
                </a:rPr>
                <a:t>(3) 链</a:t>
              </a:r>
              <a:r>
                <a:rPr lang="zh-CN" altLang="en-US" sz="1200" b="1" strike="noStrike" spc="-1">
                  <a:solidFill>
                    <a:srgbClr val="FF0000"/>
                  </a:solidFill>
                  <a:latin typeface="Arial" panose="020B0604020202020204"/>
                  <a:ea typeface="宋体" panose="02010600030101010101" pitchFamily="2" charset="-122"/>
                </a:rPr>
                <a:t>上获取密文信息集</a:t>
              </a:r>
              <a:endParaRPr lang="en-US" sz="1200" b="1" strike="noStrike" spc="-1">
                <a:solidFill>
                  <a:srgbClr val="FF0000"/>
                </a:solidFill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en-US" sz="1200" b="1" strike="noStrike" spc="-1">
                  <a:solidFill>
                    <a:srgbClr val="FF0000"/>
                  </a:solidFill>
                  <a:latin typeface="Arial" panose="020B0604020202020204"/>
                </a:rPr>
                <a:t>     </a:t>
              </a:r>
              <a:endParaRPr lang="en-US" sz="1200" b="1" strike="noStrike" spc="-1">
                <a:solidFill>
                  <a:srgbClr val="FF0000"/>
                </a:solidFill>
                <a:latin typeface="Arial" panose="020B0604020202020204"/>
              </a:endParaRPr>
            </a:p>
          </p:txBody>
        </p:sp>
        <p:sp>
          <p:nvSpPr>
            <p:cNvPr id="96" name="圆角矩形 95"/>
            <p:cNvSpPr/>
            <p:nvPr/>
          </p:nvSpPr>
          <p:spPr>
            <a:xfrm>
              <a:off x="12074" y="8690"/>
              <a:ext cx="3746" cy="1736"/>
            </a:xfrm>
            <a:prstGeom prst="round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2623" y="8699"/>
              <a:ext cx="3049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/>
                <a:t>x+y=</a:t>
              </a:r>
              <a:r>
                <a:rPr lang="en-US" sz="1400" b="1" spc="-1">
                  <a:solidFill>
                    <a:srgbClr val="FF0000"/>
                  </a:solidFill>
                  <a:latin typeface="Arial" panose="020B0604020202020204"/>
                  <a:sym typeface="+mn-ea"/>
                </a:rPr>
                <a:t>sjdn34+idnd3c</a:t>
              </a:r>
              <a:endParaRPr lang="en-US" sz="1400" b="1" spc="-1">
                <a:solidFill>
                  <a:srgbClr val="FF0000"/>
                </a:solidFill>
                <a:latin typeface="Arial" panose="020B0604020202020204"/>
                <a:sym typeface="+mn-ea"/>
              </a:endParaRPr>
            </a:p>
            <a:p>
              <a:r>
                <a:rPr lang="zh-CN" altLang="en-US" sz="1200" b="1" spc="-1">
                  <a:solidFill>
                    <a:srgbClr val="FF0000"/>
                  </a:solidFill>
                  <a:latin typeface="Arial" panose="020B0604020202020204"/>
                  <a:ea typeface="宋体" panose="02010600030101010101" pitchFamily="2" charset="-122"/>
                  <a:sym typeface="+mn-ea"/>
                </a:rPr>
                <a:t>               </a:t>
              </a:r>
              <a:endParaRPr lang="zh-CN" altLang="en-US" sz="1200" b="1" spc="-1">
                <a:solidFill>
                  <a:srgbClr val="FF0000"/>
                </a:solidFill>
                <a:latin typeface="Arial" panose="020B0604020202020204"/>
                <a:ea typeface="宋体" panose="02010600030101010101" pitchFamily="2" charset="-122"/>
                <a:sym typeface="+mn-ea"/>
              </a:endParaRPr>
            </a:p>
            <a:p>
              <a:r>
                <a:rPr lang="zh-CN" altLang="en-US" sz="1200" b="1" spc="-1">
                  <a:solidFill>
                    <a:srgbClr val="FF0000"/>
                  </a:solidFill>
                  <a:latin typeface="Arial" panose="020B0604020202020204"/>
                  <a:ea typeface="宋体" panose="02010600030101010101" pitchFamily="2" charset="-122"/>
                  <a:sym typeface="+mn-ea"/>
                </a:rPr>
                <a:t>               密文同态计算</a:t>
              </a:r>
              <a:endParaRPr lang="en-US" altLang="zh-CN" sz="1200" b="1" spc="-1">
                <a:solidFill>
                  <a:srgbClr val="FF0000"/>
                </a:solidFill>
                <a:latin typeface="Arial" panose="020B0604020202020204"/>
                <a:sym typeface="+mn-ea"/>
              </a:endParaRPr>
            </a:p>
            <a:p>
              <a:r>
                <a:rPr lang="en-US" altLang="zh-CN" sz="1400" b="1" spc="-1">
                  <a:solidFill>
                    <a:srgbClr val="FF0000"/>
                  </a:solidFill>
                  <a:latin typeface="Arial" panose="020B0604020202020204"/>
                  <a:sym typeface="+mn-ea"/>
                </a:rPr>
                <a:t>        </a:t>
              </a:r>
              <a:endParaRPr lang="en-US" altLang="zh-CN" sz="1400" b="1" spc="-1">
                <a:solidFill>
                  <a:srgbClr val="FF0000"/>
                </a:solidFill>
                <a:latin typeface="Arial" panose="020B0604020202020204"/>
                <a:sym typeface="+mn-ea"/>
              </a:endParaRPr>
            </a:p>
            <a:p>
              <a:r>
                <a:rPr lang="en-US" altLang="zh-CN" sz="1400" b="1" spc="-1">
                  <a:solidFill>
                    <a:srgbClr val="FF0000"/>
                  </a:solidFill>
                  <a:latin typeface="Arial" panose="020B0604020202020204"/>
                  <a:sym typeface="+mn-ea"/>
                </a:rPr>
                <a:t>        ja38nsi8</a:t>
              </a:r>
              <a:endParaRPr lang="en-US" altLang="zh-CN" sz="1400" b="1" spc="-1">
                <a:solidFill>
                  <a:srgbClr val="FF0000"/>
                </a:solidFill>
                <a:latin typeface="Arial" panose="020B0604020202020204"/>
                <a:sym typeface="+mn-ea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1532" y="2625"/>
              <a:ext cx="277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spc="-1">
                  <a:solidFill>
                    <a:srgbClr val="FF0000"/>
                  </a:solidFill>
                  <a:latin typeface="Arial" panose="020B0604020202020204"/>
                  <a:sym typeface="+mn-ea"/>
                </a:rPr>
                <a:t>ja38nsi8 </a:t>
              </a:r>
              <a:r>
                <a:rPr lang="zh-CN" altLang="en-US" sz="1400" b="1" spc="-1">
                  <a:solidFill>
                    <a:srgbClr val="FF0000"/>
                  </a:solidFill>
                  <a:latin typeface="Arial" panose="020B0604020202020204"/>
                  <a:ea typeface="宋体" panose="02010600030101010101" pitchFamily="2" charset="-122"/>
                  <a:sym typeface="+mn-ea"/>
                </a:rPr>
                <a:t>          </a:t>
              </a:r>
              <a:r>
                <a:rPr lang="en-US" altLang="zh-CN" sz="1400" b="1" spc="-1">
                  <a:solidFill>
                    <a:srgbClr val="267FF0"/>
                  </a:solidFill>
                  <a:latin typeface="Arial" panose="020B0604020202020204"/>
                  <a:ea typeface="宋体" panose="02010600030101010101" pitchFamily="2" charset="-122"/>
                  <a:sym typeface="+mn-ea"/>
                </a:rPr>
                <a:t>5</a:t>
              </a:r>
              <a:endParaRPr lang="en-US" altLang="zh-CN" sz="1400" b="1" spc="-1">
                <a:solidFill>
                  <a:srgbClr val="267FF0"/>
                </a:solidFill>
                <a:latin typeface="Arial" panose="020B0604020202020204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13821" y="3523"/>
              <a:ext cx="209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b="1" spc="-1" dirty="0" err="1">
                  <a:solidFill>
                    <a:srgbClr val="0649D0"/>
                  </a:solidFill>
                  <a:latin typeface="Arial" panose="020B0604020202020204"/>
                  <a:sym typeface="+mn-ea"/>
                </a:rPr>
                <a:t>数据使用方</a:t>
              </a:r>
              <a:endParaRPr lang="en-US" altLang="en-US" b="1" spc="-1" dirty="0" err="1">
                <a:solidFill>
                  <a:srgbClr val="0649D0"/>
                </a:solidFill>
                <a:latin typeface="Arial" panose="020B0604020202020204"/>
                <a:sym typeface="+mn-ea"/>
              </a:endParaRPr>
            </a:p>
          </p:txBody>
        </p:sp>
        <p:cxnSp>
          <p:nvCxnSpPr>
            <p:cNvPr id="104" name="肘形连接符 103"/>
            <p:cNvCxnSpPr>
              <a:stCxn id="8" idx="2"/>
            </p:cNvCxnSpPr>
            <p:nvPr/>
          </p:nvCxnSpPr>
          <p:spPr>
            <a:xfrm rot="5400000" flipV="1">
              <a:off x="9687" y="7631"/>
              <a:ext cx="1964" cy="2782"/>
            </a:xfrm>
            <a:prstGeom prst="bentConnector2">
              <a:avLst/>
            </a:prstGeom>
            <a:noFill/>
            <a:ln>
              <a:prstDash val="sysDot"/>
              <a:round/>
              <a:tailEnd type="triangle" w="med" len="med"/>
            </a:ln>
            <a:effectLst>
              <a:outerShdw blurRad="4000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/>
          </p:style>
        </p:cxnSp>
        <p:cxnSp>
          <p:nvCxnSpPr>
            <p:cNvPr id="105" name="肘形连接符 104"/>
            <p:cNvCxnSpPr/>
            <p:nvPr/>
          </p:nvCxnSpPr>
          <p:spPr>
            <a:xfrm flipV="1">
              <a:off x="5071" y="8139"/>
              <a:ext cx="2623" cy="1821"/>
            </a:xfrm>
            <a:prstGeom prst="bentConnector3">
              <a:avLst>
                <a:gd name="adj1" fmla="val 100000"/>
              </a:avLst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肘形连接符 105"/>
            <p:cNvCxnSpPr>
              <a:stCxn id="89" idx="1"/>
              <a:endCxn id="218" idx="0"/>
            </p:cNvCxnSpPr>
            <p:nvPr/>
          </p:nvCxnSpPr>
          <p:spPr>
            <a:xfrm rot="10800000" flipV="1">
              <a:off x="9278" y="3148"/>
              <a:ext cx="1938" cy="2644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肘形连接符 106"/>
            <p:cNvCxnSpPr/>
            <p:nvPr/>
          </p:nvCxnSpPr>
          <p:spPr>
            <a:xfrm rot="16200000">
              <a:off x="10511" y="4341"/>
              <a:ext cx="1846" cy="1191"/>
            </a:xfrm>
            <a:prstGeom prst="bentConnector3">
              <a:avLst>
                <a:gd name="adj1" fmla="val 622"/>
              </a:avLst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9" name="图片 108" descr="加密 (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9840" y="5500370"/>
            <a:ext cx="285750" cy="285750"/>
          </a:xfrm>
          <a:prstGeom prst="rect">
            <a:avLst/>
          </a:prstGeom>
        </p:spPr>
      </p:pic>
      <p:cxnSp>
        <p:nvCxnSpPr>
          <p:cNvPr id="111" name="直接连接符 110"/>
          <p:cNvCxnSpPr/>
          <p:nvPr/>
        </p:nvCxnSpPr>
        <p:spPr>
          <a:xfrm>
            <a:off x="2050415" y="4865370"/>
            <a:ext cx="0" cy="1162050"/>
          </a:xfrm>
          <a:prstGeom prst="line">
            <a:avLst/>
          </a:prstGeom>
          <a:ln w="12700" cmpd="sng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9325610" y="759460"/>
            <a:ext cx="0" cy="1162050"/>
          </a:xfrm>
          <a:prstGeom prst="line">
            <a:avLst/>
          </a:prstGeom>
          <a:ln w="12700" cmpd="sng">
            <a:solidFill>
              <a:srgbClr val="267F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图片 112" descr="解密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53780" y="1012825"/>
            <a:ext cx="302260" cy="302260"/>
          </a:xfrm>
          <a:prstGeom prst="rect">
            <a:avLst/>
          </a:prstGeom>
        </p:spPr>
      </p:pic>
      <p:pic>
        <p:nvPicPr>
          <p:cNvPr id="114" name="图片 113" descr="计算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6015" y="5173980"/>
            <a:ext cx="399415" cy="399415"/>
          </a:xfrm>
          <a:prstGeom prst="rect">
            <a:avLst/>
          </a:prstGeom>
        </p:spPr>
      </p:pic>
      <p:sp>
        <p:nvSpPr>
          <p:cNvPr id="116" name="文本框 115"/>
          <p:cNvSpPr txBox="1"/>
          <p:nvPr/>
        </p:nvSpPr>
        <p:spPr>
          <a:xfrm>
            <a:off x="2226945" y="5029835"/>
            <a:ext cx="1207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-1">
                <a:solidFill>
                  <a:srgbClr val="000000"/>
                </a:solidFill>
                <a:latin typeface="Arial" panose="020B0604020202020204"/>
                <a:sym typeface="+mn-ea"/>
              </a:rPr>
              <a:t>提供方中间件</a:t>
            </a:r>
            <a:endParaRPr lang="en-US" altLang="en-US" sz="1200" b="1" spc="-1">
              <a:solidFill>
                <a:srgbClr val="000000"/>
              </a:solidFill>
              <a:latin typeface="Arial" panose="020B0604020202020204"/>
              <a:sym typeface="+mn-ea"/>
            </a:endParaRPr>
          </a:p>
        </p:txBody>
      </p:sp>
      <p:pic>
        <p:nvPicPr>
          <p:cNvPr id="23" name="图片 22" descr="加密 (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0475" y="5686425"/>
            <a:ext cx="285750" cy="28575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874635" y="1578610"/>
            <a:ext cx="12573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pc="-1">
                <a:solidFill>
                  <a:srgbClr val="000000"/>
                </a:solidFill>
                <a:latin typeface="Arial" panose="020B0604020202020204"/>
                <a:sym typeface="+mn-ea"/>
              </a:rPr>
              <a:t>查询方中间件</a:t>
            </a:r>
            <a:endParaRPr lang="en-US" altLang="en-US" sz="1400" b="1" spc="-1">
              <a:solidFill>
                <a:srgbClr val="000000"/>
              </a:solidFill>
              <a:latin typeface="Arial" panose="020B0604020202020204"/>
              <a:sym typeface="+mn-ea"/>
            </a:endParaRPr>
          </a:p>
        </p:txBody>
      </p:sp>
      <p:pic>
        <p:nvPicPr>
          <p:cNvPr id="26" name="图片 25" descr="hsm 加密服务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0170" y="2084070"/>
            <a:ext cx="420370" cy="42037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8721725" y="2504440"/>
            <a:ext cx="9956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6">
                    <a:lumMod val="50000"/>
                  </a:schemeClr>
                </a:solidFill>
              </a:rPr>
              <a:t>同态加密库</a:t>
            </a:r>
            <a:endParaRPr lang="zh-CN" altLang="en-US" sz="1200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8" name="图片 27" descr="密码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0555" y="2066925"/>
            <a:ext cx="437515" cy="43751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8178800" y="2504440"/>
            <a:ext cx="7035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/>
              <a:t>国密库</a:t>
            </a:r>
            <a:endParaRPr lang="zh-CN" altLang="en-US" sz="1200" b="1"/>
          </a:p>
        </p:txBody>
      </p:sp>
      <p:pic>
        <p:nvPicPr>
          <p:cNvPr id="30" name="图片 29" descr="钱包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00895" y="2087245"/>
            <a:ext cx="417195" cy="417195"/>
          </a:xfrm>
          <a:prstGeom prst="rect">
            <a:avLst/>
          </a:prstGeom>
        </p:spPr>
      </p:pic>
      <p:pic>
        <p:nvPicPr>
          <p:cNvPr id="31" name="图片 30" descr="锁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2330" y="2231390"/>
            <a:ext cx="175260" cy="17526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9606280" y="2504440"/>
            <a:ext cx="6559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267FF0"/>
                </a:solidFill>
              </a:rPr>
              <a:t>密钥库</a:t>
            </a:r>
            <a:endParaRPr lang="zh-CN" altLang="en-US" sz="1200" b="1">
              <a:solidFill>
                <a:srgbClr val="267FF0"/>
              </a:solidFill>
            </a:endParaRPr>
          </a:p>
        </p:txBody>
      </p:sp>
      <p:cxnSp>
        <p:nvCxnSpPr>
          <p:cNvPr id="33" name="肘形连接符 32"/>
          <p:cNvCxnSpPr>
            <a:endCxn id="28" idx="0"/>
          </p:cNvCxnSpPr>
          <p:nvPr/>
        </p:nvCxnSpPr>
        <p:spPr>
          <a:xfrm rot="5400000">
            <a:off x="8725218" y="1643698"/>
            <a:ext cx="167640" cy="678815"/>
          </a:xfrm>
          <a:prstGeom prst="bentConnector3">
            <a:avLst>
              <a:gd name="adj1" fmla="val 498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/>
          <p:nvPr/>
        </p:nvCxnSpPr>
        <p:spPr>
          <a:xfrm rot="5400000" flipV="1">
            <a:off x="9435148" y="1609408"/>
            <a:ext cx="187960" cy="761365"/>
          </a:xfrm>
          <a:prstGeom prst="bentConnector3">
            <a:avLst>
              <a:gd name="adj1" fmla="val 459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9147175" y="1979930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 descr="hsm 加密服务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4400" y="3925570"/>
            <a:ext cx="420370" cy="42037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925955" y="4345940"/>
            <a:ext cx="9956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6">
                    <a:lumMod val="50000"/>
                  </a:schemeClr>
                </a:solidFill>
              </a:rPr>
              <a:t>同态加密库</a:t>
            </a:r>
            <a:endParaRPr lang="zh-CN" altLang="en-US" sz="1200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2" name="图片 41" descr="密码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54785" y="3908425"/>
            <a:ext cx="437515" cy="43751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1383030" y="4345940"/>
            <a:ext cx="7035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/>
              <a:t>国密库</a:t>
            </a:r>
            <a:endParaRPr lang="zh-CN" altLang="en-US" sz="1200" b="1"/>
          </a:p>
        </p:txBody>
      </p:sp>
      <p:pic>
        <p:nvPicPr>
          <p:cNvPr id="44" name="图片 43" descr="钱包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05125" y="3928745"/>
            <a:ext cx="417195" cy="417195"/>
          </a:xfrm>
          <a:prstGeom prst="rect">
            <a:avLst/>
          </a:prstGeom>
        </p:spPr>
      </p:pic>
      <p:pic>
        <p:nvPicPr>
          <p:cNvPr id="45" name="图片 44" descr="锁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6560" y="4072890"/>
            <a:ext cx="175260" cy="17526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2810510" y="4345940"/>
            <a:ext cx="6559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267FF0"/>
                </a:solidFill>
              </a:rPr>
              <a:t>密钥库</a:t>
            </a:r>
            <a:endParaRPr lang="zh-CN" altLang="en-US" sz="1200" b="1">
              <a:solidFill>
                <a:srgbClr val="267FF0"/>
              </a:solidFill>
            </a:endParaRPr>
          </a:p>
        </p:txBody>
      </p:sp>
      <p:cxnSp>
        <p:nvCxnSpPr>
          <p:cNvPr id="90" name="肘形连接符 89"/>
          <p:cNvCxnSpPr>
            <a:stCxn id="88" idx="0"/>
            <a:endCxn id="43" idx="2"/>
          </p:cNvCxnSpPr>
          <p:nvPr/>
        </p:nvCxnSpPr>
        <p:spPr>
          <a:xfrm rot="16200000" flipV="1">
            <a:off x="1863090" y="4493260"/>
            <a:ext cx="232410" cy="48895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连接符 91"/>
          <p:cNvCxnSpPr>
            <a:stCxn id="88" idx="0"/>
            <a:endCxn id="46" idx="2"/>
          </p:cNvCxnSpPr>
          <p:nvPr/>
        </p:nvCxnSpPr>
        <p:spPr>
          <a:xfrm rot="16200000">
            <a:off x="2565083" y="4280218"/>
            <a:ext cx="232410" cy="915035"/>
          </a:xfrm>
          <a:prstGeom prst="bentConnector3">
            <a:avLst>
              <a:gd name="adj1" fmla="val 5013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2223770" y="4589780"/>
            <a:ext cx="3175" cy="142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云主机,云服务器架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885" y="135890"/>
            <a:ext cx="1482725" cy="1482725"/>
          </a:xfrm>
          <a:prstGeom prst="rect">
            <a:avLst/>
          </a:prstGeom>
        </p:spPr>
      </p:pic>
      <p:grpSp>
        <p:nvGrpSpPr>
          <p:cNvPr id="60" name="组合 59"/>
          <p:cNvGrpSpPr/>
          <p:nvPr/>
        </p:nvGrpSpPr>
        <p:grpSpPr>
          <a:xfrm>
            <a:off x="5243195" y="643890"/>
            <a:ext cx="1213485" cy="699135"/>
            <a:chOff x="3599782" y="2697171"/>
            <a:chExt cx="1154430" cy="722184"/>
          </a:xfrm>
        </p:grpSpPr>
        <p:pic>
          <p:nvPicPr>
            <p:cNvPr id="61" name="图片 60" descr="db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33792" y="2697171"/>
              <a:ext cx="457200" cy="457200"/>
            </a:xfrm>
            <a:prstGeom prst="rect">
              <a:avLst/>
            </a:prstGeom>
          </p:spPr>
        </p:pic>
        <p:pic>
          <p:nvPicPr>
            <p:cNvPr id="62" name="图片 61" descr="加密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09457" y="2697171"/>
              <a:ext cx="481535" cy="481535"/>
            </a:xfrm>
            <a:prstGeom prst="rect">
              <a:avLst/>
            </a:prstGeom>
          </p:spPr>
        </p:pic>
        <p:sp>
          <p:nvSpPr>
            <p:cNvPr id="63" name="文本框 62"/>
            <p:cNvSpPr txBox="1"/>
            <p:nvPr/>
          </p:nvSpPr>
          <p:spPr>
            <a:xfrm>
              <a:off x="3599782" y="3134686"/>
              <a:ext cx="1154430" cy="284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加密数据集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7" name="图片 6" descr="云主机,云服务器架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5755" y="135890"/>
            <a:ext cx="1482725" cy="148272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4135120" y="135890"/>
            <a:ext cx="3412490" cy="1293495"/>
          </a:xfrm>
          <a:prstGeom prst="roundRect">
            <a:avLst/>
          </a:prstGeom>
          <a:noFill/>
          <a:ln>
            <a:solidFill>
              <a:srgbClr val="1322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95240" y="135890"/>
            <a:ext cx="1658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云服务提供商</a:t>
            </a:r>
            <a:endParaRPr lang="zh-CN" altLang="en-US" b="1"/>
          </a:p>
        </p:txBody>
      </p:sp>
      <p:grpSp>
        <p:nvGrpSpPr>
          <p:cNvPr id="17" name="组合 16"/>
          <p:cNvGrpSpPr/>
          <p:nvPr/>
        </p:nvGrpSpPr>
        <p:grpSpPr>
          <a:xfrm>
            <a:off x="1522095" y="4062730"/>
            <a:ext cx="1591310" cy="1370330"/>
            <a:chOff x="5810" y="6712"/>
            <a:chExt cx="2506" cy="215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9" y="7109"/>
              <a:ext cx="2203" cy="164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999" y="6712"/>
              <a:ext cx="22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数据提供者</a:t>
              </a:r>
              <a:endParaRPr lang="zh-CN" altLang="en-US" b="1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5810" y="6712"/>
              <a:ext cx="2506" cy="2158"/>
            </a:xfrm>
            <a:prstGeom prst="roundRect">
              <a:avLst/>
            </a:prstGeom>
            <a:noFill/>
            <a:ln>
              <a:solidFill>
                <a:srgbClr val="42413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430895" y="4105910"/>
            <a:ext cx="1753870" cy="1379855"/>
            <a:chOff x="14260" y="6780"/>
            <a:chExt cx="2762" cy="2173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30" y="7256"/>
              <a:ext cx="2022" cy="1638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14630" y="6789"/>
              <a:ext cx="22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数据分析者</a:t>
              </a:r>
              <a:endParaRPr lang="zh-CN" altLang="en-US" b="1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4260" y="6780"/>
              <a:ext cx="2762" cy="2173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210175" y="2523490"/>
            <a:ext cx="1372235" cy="1410335"/>
            <a:chOff x="10061" y="4001"/>
            <a:chExt cx="2523" cy="2644"/>
          </a:xfrm>
        </p:grpSpPr>
        <p:pic>
          <p:nvPicPr>
            <p:cNvPr id="19" name="图片 18" descr="baas 区块链服务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61" y="4616"/>
              <a:ext cx="615" cy="615"/>
            </a:xfrm>
            <a:prstGeom prst="rect">
              <a:avLst/>
            </a:prstGeom>
          </p:spPr>
        </p:pic>
        <p:pic>
          <p:nvPicPr>
            <p:cNvPr id="21" name="图片 20" descr="baas 区块链服务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04" y="4001"/>
              <a:ext cx="615" cy="615"/>
            </a:xfrm>
            <a:prstGeom prst="rect">
              <a:avLst/>
            </a:prstGeom>
          </p:spPr>
        </p:pic>
        <p:pic>
          <p:nvPicPr>
            <p:cNvPr id="22" name="图片 21" descr="baas 区块链服务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04" y="6031"/>
              <a:ext cx="615" cy="615"/>
            </a:xfrm>
            <a:prstGeom prst="rect">
              <a:avLst/>
            </a:prstGeom>
          </p:spPr>
        </p:pic>
        <p:pic>
          <p:nvPicPr>
            <p:cNvPr id="23" name="图片 22" descr="baas 区块链服务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61" y="5673"/>
              <a:ext cx="615" cy="615"/>
            </a:xfrm>
            <a:prstGeom prst="rect">
              <a:avLst/>
            </a:prstGeom>
          </p:spPr>
        </p:pic>
        <p:pic>
          <p:nvPicPr>
            <p:cNvPr id="24" name="图片 23" descr="baas 区块链服务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70" y="4616"/>
              <a:ext cx="615" cy="615"/>
            </a:xfrm>
            <a:prstGeom prst="rect">
              <a:avLst/>
            </a:prstGeom>
          </p:spPr>
        </p:pic>
        <p:pic>
          <p:nvPicPr>
            <p:cNvPr id="25" name="图片 24" descr="baas 区块链服务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70" y="5673"/>
              <a:ext cx="615" cy="615"/>
            </a:xfrm>
            <a:prstGeom prst="rect">
              <a:avLst/>
            </a:prstGeom>
          </p:spPr>
        </p:pic>
        <p:pic>
          <p:nvPicPr>
            <p:cNvPr id="26" name="图片 25" descr="baas 区块链服务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04" y="5058"/>
              <a:ext cx="615" cy="615"/>
            </a:xfrm>
            <a:prstGeom prst="rect">
              <a:avLst/>
            </a:prstGeom>
          </p:spPr>
        </p:pic>
        <p:cxnSp>
          <p:nvCxnSpPr>
            <p:cNvPr id="27" name="直接箭头连接符 26"/>
            <p:cNvCxnSpPr/>
            <p:nvPr/>
          </p:nvCxnSpPr>
          <p:spPr>
            <a:xfrm flipH="1">
              <a:off x="11575" y="6156"/>
              <a:ext cx="459" cy="245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>
              <a:off x="10543" y="4383"/>
              <a:ext cx="453" cy="348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H="1">
              <a:off x="10551" y="5534"/>
              <a:ext cx="453" cy="348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H="1">
              <a:off x="11533" y="4912"/>
              <a:ext cx="459" cy="319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21" idx="2"/>
              <a:endCxn id="26" idx="0"/>
            </p:cNvCxnSpPr>
            <p:nvPr/>
          </p:nvCxnSpPr>
          <p:spPr>
            <a:xfrm>
              <a:off x="11312" y="4616"/>
              <a:ext cx="0" cy="442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26" idx="2"/>
            </p:cNvCxnSpPr>
            <p:nvPr/>
          </p:nvCxnSpPr>
          <p:spPr>
            <a:xfrm>
              <a:off x="11312" y="5673"/>
              <a:ext cx="0" cy="373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9" idx="2"/>
            </p:cNvCxnSpPr>
            <p:nvPr/>
          </p:nvCxnSpPr>
          <p:spPr>
            <a:xfrm flipH="1">
              <a:off x="10361" y="5231"/>
              <a:ext cx="8" cy="442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>
              <a:off x="12278" y="5231"/>
              <a:ext cx="0" cy="442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11602" y="4367"/>
              <a:ext cx="451" cy="333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10614" y="6156"/>
              <a:ext cx="397" cy="280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0676" y="5058"/>
              <a:ext cx="396" cy="246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1575" y="5534"/>
              <a:ext cx="444" cy="238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椭圆 40"/>
          <p:cNvSpPr/>
          <p:nvPr/>
        </p:nvSpPr>
        <p:spPr>
          <a:xfrm>
            <a:off x="5028565" y="2474595"/>
            <a:ext cx="1725295" cy="1715770"/>
          </a:xfrm>
          <a:prstGeom prst="ellipse">
            <a:avLst/>
          </a:prstGeom>
          <a:noFill/>
          <a:ln>
            <a:solidFill>
              <a:srgbClr val="0649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11165" y="3853180"/>
            <a:ext cx="939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区块链</a:t>
            </a:r>
            <a:endParaRPr lang="zh-CN" altLang="en-US" sz="1600"/>
          </a:p>
        </p:txBody>
      </p:sp>
      <p:cxnSp>
        <p:nvCxnSpPr>
          <p:cNvPr id="44" name="直接箭头连接符 43"/>
          <p:cNvCxnSpPr>
            <a:stCxn id="13" idx="0"/>
          </p:cNvCxnSpPr>
          <p:nvPr/>
        </p:nvCxnSpPr>
        <p:spPr>
          <a:xfrm flipV="1">
            <a:off x="2317750" y="1462405"/>
            <a:ext cx="2472055" cy="260032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6" idx="0"/>
          </p:cNvCxnSpPr>
          <p:nvPr/>
        </p:nvCxnSpPr>
        <p:spPr>
          <a:xfrm flipH="1" flipV="1">
            <a:off x="7080250" y="1443355"/>
            <a:ext cx="2227580" cy="266255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V="1">
            <a:off x="3113405" y="5056505"/>
            <a:ext cx="5289550" cy="571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endCxn id="41" idx="3"/>
          </p:cNvCxnSpPr>
          <p:nvPr/>
        </p:nvCxnSpPr>
        <p:spPr>
          <a:xfrm flipV="1">
            <a:off x="3113405" y="3938905"/>
            <a:ext cx="2167890" cy="103124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41" idx="5"/>
          </p:cNvCxnSpPr>
          <p:nvPr/>
        </p:nvCxnSpPr>
        <p:spPr>
          <a:xfrm flipH="1" flipV="1">
            <a:off x="6501130" y="3938905"/>
            <a:ext cx="1901825" cy="103124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41" idx="0"/>
          </p:cNvCxnSpPr>
          <p:nvPr/>
        </p:nvCxnSpPr>
        <p:spPr>
          <a:xfrm flipV="1">
            <a:off x="5891530" y="1452880"/>
            <a:ext cx="10160" cy="102171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 rot="18900000">
            <a:off x="2663825" y="2414270"/>
            <a:ext cx="1838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同态加密原始数据集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 rot="20100000">
            <a:off x="3452495" y="4159250"/>
            <a:ext cx="1539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F0000"/>
                </a:solidFill>
              </a:rPr>
              <a:t>数据集记录上链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 rot="3000000">
            <a:off x="7473950" y="2473960"/>
            <a:ext cx="16376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加密机器学习计算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252085" y="1901190"/>
            <a:ext cx="1459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操作记录上链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 rot="1740000">
            <a:off x="6995160" y="4232910"/>
            <a:ext cx="1285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分析记录上链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314950" y="4780915"/>
            <a:ext cx="1331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混淆后的密文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210175" y="5056505"/>
            <a:ext cx="15430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解密后结果</a:t>
            </a:r>
            <a:r>
              <a:rPr lang="en-US" altLang="zh-CN" sz="1400" b="1">
                <a:solidFill>
                  <a:srgbClr val="FF0000"/>
                </a:solidFill>
              </a:rPr>
              <a:t>II</a:t>
            </a:r>
            <a:r>
              <a:rPr lang="zh-CN" altLang="en-US" sz="1400" b="1">
                <a:solidFill>
                  <a:srgbClr val="FF0000"/>
                </a:solidFill>
                <a:ea typeface="宋体" panose="02010600030101010101" pitchFamily="2" charset="-122"/>
              </a:rPr>
              <a:t>签名</a:t>
            </a:r>
            <a:endParaRPr lang="zh-CN" altLang="en-US" sz="14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70" name="图片 69" descr="hsm 加密服务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9475" y="6099175"/>
            <a:ext cx="420370" cy="420370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1891030" y="6519545"/>
            <a:ext cx="9956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6">
                    <a:lumMod val="50000"/>
                  </a:schemeClr>
                </a:solidFill>
              </a:rPr>
              <a:t>同态加密库</a:t>
            </a:r>
            <a:endParaRPr lang="zh-CN" altLang="en-US" sz="1200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2" name="图片 71" descr="密码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9860" y="6082030"/>
            <a:ext cx="437515" cy="437515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1348105" y="6519545"/>
            <a:ext cx="7035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/>
              <a:t>国密库</a:t>
            </a:r>
            <a:endParaRPr lang="zh-CN" altLang="en-US" sz="1200" b="1"/>
          </a:p>
        </p:txBody>
      </p:sp>
      <p:pic>
        <p:nvPicPr>
          <p:cNvPr id="74" name="图片 73" descr="钱包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0200" y="6102350"/>
            <a:ext cx="417195" cy="417195"/>
          </a:xfrm>
          <a:prstGeom prst="rect">
            <a:avLst/>
          </a:prstGeom>
        </p:spPr>
      </p:pic>
      <p:pic>
        <p:nvPicPr>
          <p:cNvPr id="75" name="图片 74" descr="锁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1635" y="6246495"/>
            <a:ext cx="175260" cy="175260"/>
          </a:xfrm>
          <a:prstGeom prst="rect">
            <a:avLst/>
          </a:prstGeom>
        </p:spPr>
      </p:pic>
      <p:sp>
        <p:nvSpPr>
          <p:cNvPr id="76" name="文本框 75"/>
          <p:cNvSpPr txBox="1"/>
          <p:nvPr/>
        </p:nvSpPr>
        <p:spPr>
          <a:xfrm>
            <a:off x="2775585" y="6519545"/>
            <a:ext cx="6559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267FF0"/>
                </a:solidFill>
              </a:rPr>
              <a:t>密钥库</a:t>
            </a:r>
            <a:endParaRPr lang="zh-CN" altLang="en-US" sz="1200" b="1">
              <a:solidFill>
                <a:srgbClr val="267FF0"/>
              </a:solidFill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275080" y="5789930"/>
            <a:ext cx="2133600" cy="1024255"/>
          </a:xfrm>
          <a:prstGeom prst="roundRect">
            <a:avLst/>
          </a:prstGeom>
          <a:noFill/>
          <a:ln>
            <a:solidFill>
              <a:srgbClr val="42413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/>
        </p:nvCxnSpPr>
        <p:spPr>
          <a:xfrm>
            <a:off x="1299845" y="6067425"/>
            <a:ext cx="2095500" cy="0"/>
          </a:xfrm>
          <a:prstGeom prst="line">
            <a:avLst/>
          </a:prstGeom>
          <a:noFill/>
          <a:ln>
            <a:solidFill>
              <a:srgbClr val="42413F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文本框 87"/>
          <p:cNvSpPr txBox="1"/>
          <p:nvPr/>
        </p:nvSpPr>
        <p:spPr>
          <a:xfrm>
            <a:off x="1329690" y="5729605"/>
            <a:ext cx="2084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   </a:t>
            </a:r>
            <a:r>
              <a:rPr lang="zh-CN" altLang="en-US" b="1"/>
              <a:t>安全计算组件</a:t>
            </a:r>
            <a:endParaRPr lang="zh-CN" altLang="en-US" b="1"/>
          </a:p>
        </p:txBody>
      </p:sp>
      <p:pic>
        <p:nvPicPr>
          <p:cNvPr id="89" name="图片 88" descr="hsm 加密服务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5425" y="6097905"/>
            <a:ext cx="420370" cy="420370"/>
          </a:xfrm>
          <a:prstGeom prst="rect">
            <a:avLst/>
          </a:prstGeom>
        </p:spPr>
      </p:pic>
      <p:sp>
        <p:nvSpPr>
          <p:cNvPr id="90" name="文本框 89"/>
          <p:cNvSpPr txBox="1"/>
          <p:nvPr/>
        </p:nvSpPr>
        <p:spPr>
          <a:xfrm>
            <a:off x="8856980" y="6518275"/>
            <a:ext cx="9956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6">
                    <a:lumMod val="50000"/>
                  </a:schemeClr>
                </a:solidFill>
              </a:rPr>
              <a:t>同态加密库</a:t>
            </a:r>
            <a:endParaRPr lang="zh-CN" altLang="en-US" sz="1200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1" name="图片 90" descr="密码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810" y="6080760"/>
            <a:ext cx="437515" cy="437515"/>
          </a:xfrm>
          <a:prstGeom prst="rect">
            <a:avLst/>
          </a:prstGeom>
        </p:spPr>
      </p:pic>
      <p:sp>
        <p:nvSpPr>
          <p:cNvPr id="92" name="文本框 91"/>
          <p:cNvSpPr txBox="1"/>
          <p:nvPr/>
        </p:nvSpPr>
        <p:spPr>
          <a:xfrm>
            <a:off x="8314055" y="6518275"/>
            <a:ext cx="7035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/>
              <a:t>国密库</a:t>
            </a:r>
            <a:endParaRPr lang="zh-CN" altLang="en-US" sz="1200" b="1"/>
          </a:p>
        </p:txBody>
      </p:sp>
      <p:pic>
        <p:nvPicPr>
          <p:cNvPr id="93" name="图片 92" descr="钱包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6150" y="6101080"/>
            <a:ext cx="417195" cy="417195"/>
          </a:xfrm>
          <a:prstGeom prst="rect">
            <a:avLst/>
          </a:prstGeom>
        </p:spPr>
      </p:pic>
      <p:pic>
        <p:nvPicPr>
          <p:cNvPr id="94" name="图片 93" descr="锁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87585" y="6245225"/>
            <a:ext cx="175260" cy="175260"/>
          </a:xfrm>
          <a:prstGeom prst="rect">
            <a:avLst/>
          </a:prstGeom>
        </p:spPr>
      </p:pic>
      <p:sp>
        <p:nvSpPr>
          <p:cNvPr id="95" name="文本框 94"/>
          <p:cNvSpPr txBox="1"/>
          <p:nvPr/>
        </p:nvSpPr>
        <p:spPr>
          <a:xfrm>
            <a:off x="9741535" y="6518275"/>
            <a:ext cx="6559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267FF0"/>
                </a:solidFill>
              </a:rPr>
              <a:t>密钥库</a:t>
            </a:r>
            <a:endParaRPr lang="zh-CN" altLang="en-US" sz="1200" b="1">
              <a:solidFill>
                <a:srgbClr val="267FF0"/>
              </a:solidFill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8241030" y="5788660"/>
            <a:ext cx="2133600" cy="1024255"/>
          </a:xfrm>
          <a:prstGeom prst="roundRect">
            <a:avLst/>
          </a:prstGeom>
          <a:noFill/>
          <a:ln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>
            <a:off x="8265795" y="6066155"/>
            <a:ext cx="2095500" cy="0"/>
          </a:xfrm>
          <a:prstGeom prst="line">
            <a:avLst/>
          </a:prstGeom>
          <a:noFill/>
          <a:ln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文本框 97"/>
          <p:cNvSpPr txBox="1"/>
          <p:nvPr/>
        </p:nvSpPr>
        <p:spPr>
          <a:xfrm>
            <a:off x="8312150" y="5729605"/>
            <a:ext cx="2084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   </a:t>
            </a:r>
            <a:r>
              <a:rPr lang="zh-CN" altLang="en-US" b="1"/>
              <a:t>安全计算组件</a:t>
            </a:r>
            <a:endParaRPr lang="zh-CN" altLang="en-US" b="1"/>
          </a:p>
        </p:txBody>
      </p:sp>
      <p:sp>
        <p:nvSpPr>
          <p:cNvPr id="99" name="上下箭头 98"/>
          <p:cNvSpPr/>
          <p:nvPr/>
        </p:nvSpPr>
        <p:spPr>
          <a:xfrm>
            <a:off x="2209800" y="5448300"/>
            <a:ext cx="171450" cy="342900"/>
          </a:xfrm>
          <a:prstGeom prst="upDownArrow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上下箭头 99"/>
          <p:cNvSpPr/>
          <p:nvPr/>
        </p:nvSpPr>
        <p:spPr>
          <a:xfrm>
            <a:off x="9307830" y="5485765"/>
            <a:ext cx="161925" cy="305435"/>
          </a:xfrm>
          <a:prstGeom prst="upDownArrow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5"/>
          <p:cNvSpPr/>
          <p:nvPr/>
        </p:nvSpPr>
        <p:spPr>
          <a:xfrm>
            <a:off x="2060575" y="5497830"/>
            <a:ext cx="8600440" cy="66738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160905" y="3617595"/>
            <a:ext cx="2757805" cy="15036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160905" y="2271395"/>
            <a:ext cx="3206750" cy="9182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" name="CustomShape 8"/>
          <p:cNvSpPr/>
          <p:nvPr/>
        </p:nvSpPr>
        <p:spPr>
          <a:xfrm>
            <a:off x="2068830" y="1019810"/>
            <a:ext cx="8652510" cy="70231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2350770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数据分析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2068830" y="152400"/>
            <a:ext cx="8651875" cy="78803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14145" y="362585"/>
            <a:ext cx="728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应用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5" name="CustomShape 15"/>
          <p:cNvSpPr/>
          <p:nvPr/>
        </p:nvSpPr>
        <p:spPr>
          <a:xfrm rot="5400000">
            <a:off x="8455660" y="3088005"/>
            <a:ext cx="6567805" cy="622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2345055" y="274955"/>
            <a:ext cx="116205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效能分析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3770630" y="27495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终端监测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74" name="CustomShape 9"/>
          <p:cNvSpPr/>
          <p:nvPr/>
        </p:nvSpPr>
        <p:spPr>
          <a:xfrm>
            <a:off x="5248910" y="274955"/>
            <a:ext cx="115316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优化方案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78355" y="2209165"/>
            <a:ext cx="8641715" cy="1043305"/>
            <a:chOff x="133089" y="3749623"/>
            <a:chExt cx="7711328" cy="2190679"/>
          </a:xfrm>
        </p:grpSpPr>
        <p:sp>
          <p:nvSpPr>
            <p:cNvPr id="43" name="矩形 42"/>
            <p:cNvSpPr/>
            <p:nvPr/>
          </p:nvSpPr>
          <p:spPr>
            <a:xfrm>
              <a:off x="133089" y="3749623"/>
              <a:ext cx="7711328" cy="2190679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6249343" y="3954957"/>
              <a:ext cx="1281727" cy="773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数据传输</a:t>
              </a:r>
              <a:endParaRPr lang="zh-CN" altLang="en-US" sz="1600"/>
            </a:p>
          </p:txBody>
        </p:sp>
      </p:grpSp>
      <p:sp>
        <p:nvSpPr>
          <p:cNvPr id="34" name="矩形 33"/>
          <p:cNvSpPr/>
          <p:nvPr/>
        </p:nvSpPr>
        <p:spPr>
          <a:xfrm>
            <a:off x="2068830" y="3559175"/>
            <a:ext cx="6774180" cy="164528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右 35"/>
          <p:cNvSpPr/>
          <p:nvPr/>
        </p:nvSpPr>
        <p:spPr>
          <a:xfrm rot="10800000">
            <a:off x="10800866" y="375216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180975" y="115570"/>
            <a:ext cx="699135" cy="65608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云边协同智能管控架构</a:t>
            </a:r>
            <a:endParaRPr lang="zh-CN" altLang="en-US" sz="3200" dirty="0"/>
          </a:p>
        </p:txBody>
      </p:sp>
      <p:sp>
        <p:nvSpPr>
          <p:cNvPr id="87" name="箭头: 右 86"/>
          <p:cNvSpPr/>
          <p:nvPr/>
        </p:nvSpPr>
        <p:spPr>
          <a:xfrm>
            <a:off x="10800973" y="566013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CustomShape 9"/>
          <p:cNvSpPr/>
          <p:nvPr/>
        </p:nvSpPr>
        <p:spPr>
          <a:xfrm>
            <a:off x="2863215" y="5633720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图像采集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1010920" y="141605"/>
            <a:ext cx="495935" cy="180340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云端管控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6" name="CustomShape 9"/>
          <p:cNvSpPr/>
          <p:nvPr/>
        </p:nvSpPr>
        <p:spPr>
          <a:xfrm>
            <a:off x="2294890" y="4097020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算法优化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43805" y="3618865"/>
            <a:ext cx="838835" cy="1503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工艺建模与参数优化算法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12" name="箭头: 右 111"/>
          <p:cNvSpPr/>
          <p:nvPr/>
        </p:nvSpPr>
        <p:spPr>
          <a:xfrm rot="16200000">
            <a:off x="2840355" y="178308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0920" y="2227580"/>
            <a:ext cx="495935" cy="439293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边缘智能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CustomShape 9"/>
          <p:cNvSpPr/>
          <p:nvPr/>
        </p:nvSpPr>
        <p:spPr>
          <a:xfrm>
            <a:off x="6683375" y="27495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故障预警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7" name="CustomShape 9"/>
          <p:cNvSpPr/>
          <p:nvPr/>
        </p:nvSpPr>
        <p:spPr>
          <a:xfrm>
            <a:off x="7996555" y="27495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联合监管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9" name="CustomShape 9"/>
          <p:cNvSpPr/>
          <p:nvPr/>
        </p:nvSpPr>
        <p:spPr>
          <a:xfrm>
            <a:off x="9428480" y="27495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异常预警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525885" y="304165"/>
            <a:ext cx="428625" cy="26466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无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线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空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口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安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全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防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护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</a:t>
            </a:r>
            <a:endParaRPr lang="en-US" altLang="zh-CN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31925" y="1019810"/>
            <a:ext cx="72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云端平台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CustomShape 9"/>
          <p:cNvSpPr/>
          <p:nvPr/>
        </p:nvSpPr>
        <p:spPr>
          <a:xfrm>
            <a:off x="3968115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用户接入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3" name="CustomShape 9"/>
          <p:cNvSpPr/>
          <p:nvPr/>
        </p:nvSpPr>
        <p:spPr>
          <a:xfrm>
            <a:off x="5610225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协议接入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4" name="CustomShape 9"/>
          <p:cNvSpPr/>
          <p:nvPr/>
        </p:nvSpPr>
        <p:spPr>
          <a:xfrm>
            <a:off x="7250430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日志管理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6" name="CustomShape 9"/>
          <p:cNvSpPr/>
          <p:nvPr/>
        </p:nvSpPr>
        <p:spPr>
          <a:xfrm>
            <a:off x="8915400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系统维护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8" name="箭头: 右 35"/>
          <p:cNvSpPr/>
          <p:nvPr/>
        </p:nvSpPr>
        <p:spPr>
          <a:xfrm>
            <a:off x="10800866" y="1200081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上下箭头 18"/>
          <p:cNvSpPr/>
          <p:nvPr/>
        </p:nvSpPr>
        <p:spPr>
          <a:xfrm>
            <a:off x="5248910" y="1751965"/>
            <a:ext cx="283845" cy="41338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11"/>
          <p:cNvSpPr/>
          <p:nvPr/>
        </p:nvSpPr>
        <p:spPr>
          <a:xfrm rot="16200000">
            <a:off x="7385685" y="178308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111"/>
          <p:cNvSpPr/>
          <p:nvPr/>
        </p:nvSpPr>
        <p:spPr>
          <a:xfrm rot="16200000">
            <a:off x="9405620" y="178181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515610" y="2277745"/>
            <a:ext cx="3206750" cy="9182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8939532" y="276542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设备协同</a:t>
            </a:r>
            <a:endParaRPr lang="zh-CN" altLang="en-US" sz="1600"/>
          </a:p>
        </p:txBody>
      </p:sp>
      <p:sp>
        <p:nvSpPr>
          <p:cNvPr id="42" name="矩形 41"/>
          <p:cNvSpPr/>
          <p:nvPr/>
        </p:nvSpPr>
        <p:spPr>
          <a:xfrm>
            <a:off x="3812542" y="276542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任务协同</a:t>
            </a:r>
            <a:endParaRPr lang="zh-CN" altLang="en-US" sz="1600"/>
          </a:p>
        </p:txBody>
      </p:sp>
      <p:sp>
        <p:nvSpPr>
          <p:cNvPr id="50" name="矩形 49"/>
          <p:cNvSpPr/>
          <p:nvPr/>
        </p:nvSpPr>
        <p:spPr>
          <a:xfrm>
            <a:off x="7168517" y="235267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云边互联</a:t>
            </a:r>
            <a:endParaRPr lang="zh-CN" altLang="en-US" sz="1600"/>
          </a:p>
        </p:txBody>
      </p:sp>
      <p:sp>
        <p:nvSpPr>
          <p:cNvPr id="51" name="矩形 50"/>
          <p:cNvSpPr/>
          <p:nvPr/>
        </p:nvSpPr>
        <p:spPr>
          <a:xfrm>
            <a:off x="7168517" y="276542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设备协同</a:t>
            </a:r>
            <a:endParaRPr lang="zh-CN" altLang="en-US" sz="1600"/>
          </a:p>
        </p:txBody>
      </p:sp>
      <p:sp>
        <p:nvSpPr>
          <p:cNvPr id="52" name="矩形 51"/>
          <p:cNvSpPr/>
          <p:nvPr/>
        </p:nvSpPr>
        <p:spPr>
          <a:xfrm>
            <a:off x="5634357" y="276542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计算协同</a:t>
            </a:r>
            <a:endParaRPr lang="zh-CN" altLang="en-US" sz="1600"/>
          </a:p>
        </p:txBody>
      </p:sp>
      <p:sp>
        <p:nvSpPr>
          <p:cNvPr id="53" name="矩形 52"/>
          <p:cNvSpPr/>
          <p:nvPr/>
        </p:nvSpPr>
        <p:spPr>
          <a:xfrm>
            <a:off x="2225677" y="275653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计算协同</a:t>
            </a:r>
            <a:r>
              <a:rPr lang="en-US" altLang="zh-CN" sz="1600"/>
              <a:t> </a:t>
            </a:r>
            <a:endParaRPr lang="en-US" altLang="zh-CN" sz="1600"/>
          </a:p>
        </p:txBody>
      </p:sp>
      <p:sp>
        <p:nvSpPr>
          <p:cNvPr id="54" name="矩形 53"/>
          <p:cNvSpPr/>
          <p:nvPr/>
        </p:nvSpPr>
        <p:spPr>
          <a:xfrm>
            <a:off x="2225677" y="234378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边云互联</a:t>
            </a:r>
            <a:endParaRPr lang="zh-CN" altLang="en-US" sz="1600"/>
          </a:p>
        </p:txBody>
      </p:sp>
      <p:sp>
        <p:nvSpPr>
          <p:cNvPr id="59" name="矩形 58"/>
          <p:cNvSpPr/>
          <p:nvPr/>
        </p:nvSpPr>
        <p:spPr>
          <a:xfrm>
            <a:off x="4706622" y="235267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系统协同</a:t>
            </a:r>
            <a:endParaRPr lang="zh-CN" altLang="en-US" sz="1600"/>
          </a:p>
        </p:txBody>
      </p:sp>
      <p:sp>
        <p:nvSpPr>
          <p:cNvPr id="60" name="文本框 59"/>
          <p:cNvSpPr txBox="1"/>
          <p:nvPr/>
        </p:nvSpPr>
        <p:spPr>
          <a:xfrm>
            <a:off x="1431925" y="2298700"/>
            <a:ext cx="728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边缘协同智能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1" name="箭头: 右 35"/>
          <p:cNvSpPr/>
          <p:nvPr/>
        </p:nvSpPr>
        <p:spPr>
          <a:xfrm>
            <a:off x="10800866" y="2843461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2356485" y="3698240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生产质量实时监测算法</a:t>
            </a:r>
            <a:endParaRPr lang="zh-CN" altLang="en-US" dirty="0"/>
          </a:p>
        </p:txBody>
      </p:sp>
      <p:sp>
        <p:nvSpPr>
          <p:cNvPr id="64" name="CustomShape 9"/>
          <p:cNvSpPr/>
          <p:nvPr/>
        </p:nvSpPr>
        <p:spPr>
          <a:xfrm>
            <a:off x="3602355" y="4097020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模型推理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5" name="CustomShape 9"/>
          <p:cNvSpPr/>
          <p:nvPr/>
        </p:nvSpPr>
        <p:spPr>
          <a:xfrm>
            <a:off x="2305685" y="4608195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实时检测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6" name="CustomShape 9"/>
          <p:cNvSpPr/>
          <p:nvPr/>
        </p:nvSpPr>
        <p:spPr>
          <a:xfrm>
            <a:off x="3602355" y="4608195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图像处理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991225" y="3617595"/>
            <a:ext cx="2757805" cy="15036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68" name="CustomShape 9"/>
          <p:cNvSpPr/>
          <p:nvPr/>
        </p:nvSpPr>
        <p:spPr>
          <a:xfrm>
            <a:off x="6125210" y="4097020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实时分析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242685" y="369824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设备故障预检算法</a:t>
            </a:r>
            <a:endParaRPr lang="zh-CN" altLang="en-US"/>
          </a:p>
        </p:txBody>
      </p:sp>
      <p:sp>
        <p:nvSpPr>
          <p:cNvPr id="70" name="CustomShape 9"/>
          <p:cNvSpPr/>
          <p:nvPr/>
        </p:nvSpPr>
        <p:spPr>
          <a:xfrm>
            <a:off x="7432675" y="4097020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特征数据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1" name="CustomShape 9"/>
          <p:cNvSpPr/>
          <p:nvPr/>
        </p:nvSpPr>
        <p:spPr>
          <a:xfrm>
            <a:off x="6136005" y="4608195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DCS</a:t>
            </a: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系统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2" name="CustomShape 9"/>
          <p:cNvSpPr/>
          <p:nvPr/>
        </p:nvSpPr>
        <p:spPr>
          <a:xfrm>
            <a:off x="7432675" y="4608195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PLC</a:t>
            </a: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系统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5" name="箭头: 右 111"/>
          <p:cNvSpPr/>
          <p:nvPr/>
        </p:nvSpPr>
        <p:spPr>
          <a:xfrm rot="16200000">
            <a:off x="3425190" y="3307080"/>
            <a:ext cx="219710" cy="199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箭头: 右 111"/>
          <p:cNvSpPr/>
          <p:nvPr/>
        </p:nvSpPr>
        <p:spPr>
          <a:xfrm rot="16200000">
            <a:off x="7259955" y="3307080"/>
            <a:ext cx="219710" cy="199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CustomShape 9"/>
          <p:cNvSpPr/>
          <p:nvPr/>
        </p:nvSpPr>
        <p:spPr>
          <a:xfrm>
            <a:off x="6005195" y="5633720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传感采集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0" name="CustomShape 9"/>
          <p:cNvSpPr/>
          <p:nvPr/>
        </p:nvSpPr>
        <p:spPr>
          <a:xfrm>
            <a:off x="7469505" y="5633720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系统采集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2" name="CustomShape 9"/>
          <p:cNvSpPr/>
          <p:nvPr/>
        </p:nvSpPr>
        <p:spPr>
          <a:xfrm>
            <a:off x="9092565" y="5633720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监控采集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4" name="箭头: 右 111"/>
          <p:cNvSpPr/>
          <p:nvPr/>
        </p:nvSpPr>
        <p:spPr>
          <a:xfrm rot="16200000">
            <a:off x="3452495" y="5232400"/>
            <a:ext cx="219710" cy="199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箭头: 右 111"/>
          <p:cNvSpPr/>
          <p:nvPr/>
        </p:nvSpPr>
        <p:spPr>
          <a:xfrm rot="16200000">
            <a:off x="7259955" y="5232400"/>
            <a:ext cx="219710" cy="199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上箭头 91"/>
          <p:cNvSpPr/>
          <p:nvPr/>
        </p:nvSpPr>
        <p:spPr>
          <a:xfrm>
            <a:off x="9520555" y="3327400"/>
            <a:ext cx="354965" cy="207899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1431925" y="3971925"/>
            <a:ext cx="72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边缘算法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423035" y="5561965"/>
            <a:ext cx="728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生产设备改造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7" name="CustomShape 15"/>
          <p:cNvSpPr/>
          <p:nvPr/>
        </p:nvSpPr>
        <p:spPr>
          <a:xfrm>
            <a:off x="2059940" y="6228080"/>
            <a:ext cx="8601075" cy="454660"/>
          </a:xfrm>
          <a:prstGeom prst="rect">
            <a:avLst/>
          </a:prstGeom>
          <a:solidFill>
            <a:srgbClr val="8064A2"/>
          </a:solidFill>
          <a:ln w="25400" cap="flat" cmpd="sng" algn="ctr">
            <a:solidFill>
              <a:srgbClr val="8064A2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zh-CN" alt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工艺建模与参数优化</a:t>
            </a:r>
            <a:endParaRPr kumimoji="0" lang="zh-CN" alt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00" name="CustomShape 9"/>
          <p:cNvSpPr/>
          <p:nvPr/>
        </p:nvSpPr>
        <p:spPr>
          <a:xfrm rot="5400000">
            <a:off x="11165840" y="306768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1503660" y="2809240"/>
            <a:ext cx="459740" cy="10598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隐私保护</a:t>
            </a:r>
            <a:endParaRPr lang="zh-CN" altLang="en-US"/>
          </a:p>
        </p:txBody>
      </p:sp>
      <p:sp>
        <p:nvSpPr>
          <p:cNvPr id="103" name="CustomShape 9"/>
          <p:cNvSpPr/>
          <p:nvPr/>
        </p:nvSpPr>
        <p:spPr>
          <a:xfrm rot="5400000">
            <a:off x="11168380" y="435038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1506200" y="4091940"/>
            <a:ext cx="459740" cy="10598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安全防护</a:t>
            </a:r>
            <a:endParaRPr lang="zh-CN" altLang="en-US"/>
          </a:p>
        </p:txBody>
      </p:sp>
      <p:sp>
        <p:nvSpPr>
          <p:cNvPr id="107" name="CustomShape 9"/>
          <p:cNvSpPr/>
          <p:nvPr/>
        </p:nvSpPr>
        <p:spPr>
          <a:xfrm rot="5400000">
            <a:off x="11177270" y="563943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1515090" y="5380990"/>
            <a:ext cx="459740" cy="10598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风险评估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5"/>
          <p:cNvSpPr/>
          <p:nvPr/>
        </p:nvSpPr>
        <p:spPr>
          <a:xfrm>
            <a:off x="2060575" y="5497830"/>
            <a:ext cx="8600440" cy="66738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160905" y="3617595"/>
            <a:ext cx="2757805" cy="15036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160905" y="2271395"/>
            <a:ext cx="3206750" cy="9182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" name="CustomShape 8"/>
          <p:cNvSpPr/>
          <p:nvPr/>
        </p:nvSpPr>
        <p:spPr>
          <a:xfrm>
            <a:off x="2068830" y="1019810"/>
            <a:ext cx="8652510" cy="70231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2350770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数据分析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2068830" y="152400"/>
            <a:ext cx="8651875" cy="78803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14145" y="362585"/>
            <a:ext cx="728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应用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5" name="CustomShape 15"/>
          <p:cNvSpPr/>
          <p:nvPr/>
        </p:nvSpPr>
        <p:spPr>
          <a:xfrm rot="5400000">
            <a:off x="8455660" y="3088005"/>
            <a:ext cx="6567805" cy="622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2345055" y="274955"/>
            <a:ext cx="116205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效能分析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3770630" y="27495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终端监测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74" name="CustomShape 9"/>
          <p:cNvSpPr/>
          <p:nvPr/>
        </p:nvSpPr>
        <p:spPr>
          <a:xfrm>
            <a:off x="5248910" y="274955"/>
            <a:ext cx="115316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优化方案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78355" y="2209165"/>
            <a:ext cx="8641715" cy="1043305"/>
            <a:chOff x="133089" y="3749623"/>
            <a:chExt cx="7711328" cy="2190679"/>
          </a:xfrm>
        </p:grpSpPr>
        <p:sp>
          <p:nvSpPr>
            <p:cNvPr id="43" name="矩形 42"/>
            <p:cNvSpPr/>
            <p:nvPr/>
          </p:nvSpPr>
          <p:spPr>
            <a:xfrm>
              <a:off x="133089" y="3749623"/>
              <a:ext cx="7711328" cy="2190679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6249343" y="3954957"/>
              <a:ext cx="1281727" cy="773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数据传输</a:t>
              </a:r>
              <a:endParaRPr lang="zh-CN" altLang="en-US" sz="1600"/>
            </a:p>
          </p:txBody>
        </p:sp>
      </p:grpSp>
      <p:sp>
        <p:nvSpPr>
          <p:cNvPr id="34" name="矩形 33"/>
          <p:cNvSpPr/>
          <p:nvPr/>
        </p:nvSpPr>
        <p:spPr>
          <a:xfrm>
            <a:off x="2068830" y="3559175"/>
            <a:ext cx="6774180" cy="164528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右 35"/>
          <p:cNvSpPr/>
          <p:nvPr/>
        </p:nvSpPr>
        <p:spPr>
          <a:xfrm rot="10800000">
            <a:off x="10800866" y="375216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180975" y="115570"/>
            <a:ext cx="699135" cy="65608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云边协同智能管控</a:t>
            </a:r>
            <a:endParaRPr lang="zh-CN" altLang="en-US" sz="3200" dirty="0"/>
          </a:p>
        </p:txBody>
      </p:sp>
      <p:sp>
        <p:nvSpPr>
          <p:cNvPr id="87" name="箭头: 右 86"/>
          <p:cNvSpPr/>
          <p:nvPr/>
        </p:nvSpPr>
        <p:spPr>
          <a:xfrm>
            <a:off x="10800973" y="566013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CustomShape 9"/>
          <p:cNvSpPr/>
          <p:nvPr/>
        </p:nvSpPr>
        <p:spPr>
          <a:xfrm>
            <a:off x="2863215" y="5633720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图像采集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1010920" y="141605"/>
            <a:ext cx="495935" cy="180340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云端管控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6" name="CustomShape 9"/>
          <p:cNvSpPr/>
          <p:nvPr/>
        </p:nvSpPr>
        <p:spPr>
          <a:xfrm>
            <a:off x="2294890" y="4097020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算法优化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43805" y="3618865"/>
            <a:ext cx="838835" cy="1503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能源建模与参数优化模块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12" name="箭头: 右 111"/>
          <p:cNvSpPr/>
          <p:nvPr/>
        </p:nvSpPr>
        <p:spPr>
          <a:xfrm rot="16200000">
            <a:off x="2840355" y="178308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0920" y="2227580"/>
            <a:ext cx="495935" cy="439293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边缘智能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ustomShape 9"/>
          <p:cNvSpPr/>
          <p:nvPr/>
        </p:nvSpPr>
        <p:spPr>
          <a:xfrm>
            <a:off x="6683375" y="27495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故障预警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7" name="CustomShape 9"/>
          <p:cNvSpPr/>
          <p:nvPr/>
        </p:nvSpPr>
        <p:spPr>
          <a:xfrm>
            <a:off x="7996555" y="27495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联合监管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9" name="CustomShape 9"/>
          <p:cNvSpPr/>
          <p:nvPr/>
        </p:nvSpPr>
        <p:spPr>
          <a:xfrm>
            <a:off x="9428480" y="27495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异常预警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525885" y="304165"/>
            <a:ext cx="428625" cy="26466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据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安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全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防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 </a:t>
            </a: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护</a:t>
            </a:r>
            <a:r>
              <a:rPr lang="en-US" altLang="zh-CN" sz="1600" kern="0" spc="-1">
                <a:solidFill>
                  <a:prstClr val="black"/>
                </a:solidFill>
                <a:latin typeface="DejaVu Sans"/>
              </a:rPr>
              <a:t> </a:t>
            </a:r>
            <a:endParaRPr lang="en-US" altLang="zh-CN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31925" y="1019810"/>
            <a:ext cx="72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云端平台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CustomShape 9"/>
          <p:cNvSpPr/>
          <p:nvPr/>
        </p:nvSpPr>
        <p:spPr>
          <a:xfrm>
            <a:off x="3968115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用户接入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3" name="CustomShape 9"/>
          <p:cNvSpPr/>
          <p:nvPr/>
        </p:nvSpPr>
        <p:spPr>
          <a:xfrm>
            <a:off x="5610225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协议接入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4" name="CustomShape 9"/>
          <p:cNvSpPr/>
          <p:nvPr/>
        </p:nvSpPr>
        <p:spPr>
          <a:xfrm>
            <a:off x="7250430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日志管理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6" name="CustomShape 9"/>
          <p:cNvSpPr/>
          <p:nvPr/>
        </p:nvSpPr>
        <p:spPr>
          <a:xfrm>
            <a:off x="8915400" y="1145540"/>
            <a:ext cx="1480185" cy="45085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系统维护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8" name="箭头: 右 35"/>
          <p:cNvSpPr/>
          <p:nvPr/>
        </p:nvSpPr>
        <p:spPr>
          <a:xfrm>
            <a:off x="10800866" y="1200081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上下箭头 18"/>
          <p:cNvSpPr/>
          <p:nvPr/>
        </p:nvSpPr>
        <p:spPr>
          <a:xfrm>
            <a:off x="5248910" y="1751965"/>
            <a:ext cx="283845" cy="41338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11"/>
          <p:cNvSpPr/>
          <p:nvPr/>
        </p:nvSpPr>
        <p:spPr>
          <a:xfrm rot="16200000">
            <a:off x="7385685" y="178308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111"/>
          <p:cNvSpPr/>
          <p:nvPr/>
        </p:nvSpPr>
        <p:spPr>
          <a:xfrm rot="16200000">
            <a:off x="9405620" y="1781810"/>
            <a:ext cx="387350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515610" y="2277745"/>
            <a:ext cx="3206750" cy="9182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8939532" y="276542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设备协同</a:t>
            </a:r>
            <a:endParaRPr lang="zh-CN" altLang="en-US" sz="1600"/>
          </a:p>
        </p:txBody>
      </p:sp>
      <p:sp>
        <p:nvSpPr>
          <p:cNvPr id="42" name="矩形 41"/>
          <p:cNvSpPr/>
          <p:nvPr/>
        </p:nvSpPr>
        <p:spPr>
          <a:xfrm>
            <a:off x="3812542" y="276542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任务协同</a:t>
            </a:r>
            <a:endParaRPr lang="zh-CN" altLang="en-US" sz="1600"/>
          </a:p>
        </p:txBody>
      </p:sp>
      <p:sp>
        <p:nvSpPr>
          <p:cNvPr id="50" name="矩形 49"/>
          <p:cNvSpPr/>
          <p:nvPr/>
        </p:nvSpPr>
        <p:spPr>
          <a:xfrm>
            <a:off x="7168517" y="235267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云边互联</a:t>
            </a:r>
            <a:endParaRPr lang="zh-CN" altLang="en-US" sz="1600"/>
          </a:p>
        </p:txBody>
      </p:sp>
      <p:sp>
        <p:nvSpPr>
          <p:cNvPr id="51" name="矩形 50"/>
          <p:cNvSpPr/>
          <p:nvPr/>
        </p:nvSpPr>
        <p:spPr>
          <a:xfrm>
            <a:off x="7168517" y="276542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设备协同</a:t>
            </a:r>
            <a:endParaRPr lang="zh-CN" altLang="en-US" sz="1600"/>
          </a:p>
        </p:txBody>
      </p:sp>
      <p:sp>
        <p:nvSpPr>
          <p:cNvPr id="52" name="矩形 51"/>
          <p:cNvSpPr/>
          <p:nvPr/>
        </p:nvSpPr>
        <p:spPr>
          <a:xfrm>
            <a:off x="5634357" y="276542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计算协同</a:t>
            </a:r>
            <a:endParaRPr lang="zh-CN" altLang="en-US" sz="1600"/>
          </a:p>
        </p:txBody>
      </p:sp>
      <p:sp>
        <p:nvSpPr>
          <p:cNvPr id="53" name="矩形 52"/>
          <p:cNvSpPr/>
          <p:nvPr/>
        </p:nvSpPr>
        <p:spPr>
          <a:xfrm>
            <a:off x="2225677" y="275653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计算协同</a:t>
            </a:r>
            <a:r>
              <a:rPr lang="en-US" altLang="zh-CN" sz="1600"/>
              <a:t> </a:t>
            </a:r>
            <a:endParaRPr lang="en-US" altLang="zh-CN" sz="1600"/>
          </a:p>
        </p:txBody>
      </p:sp>
      <p:sp>
        <p:nvSpPr>
          <p:cNvPr id="54" name="矩形 53"/>
          <p:cNvSpPr/>
          <p:nvPr/>
        </p:nvSpPr>
        <p:spPr>
          <a:xfrm>
            <a:off x="2225677" y="234378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边云互联</a:t>
            </a:r>
            <a:endParaRPr lang="zh-CN" altLang="en-US" sz="1600"/>
          </a:p>
        </p:txBody>
      </p:sp>
      <p:sp>
        <p:nvSpPr>
          <p:cNvPr id="59" name="矩形 58"/>
          <p:cNvSpPr/>
          <p:nvPr/>
        </p:nvSpPr>
        <p:spPr>
          <a:xfrm>
            <a:off x="4706622" y="2352675"/>
            <a:ext cx="143637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系统协同</a:t>
            </a:r>
            <a:endParaRPr lang="zh-CN" altLang="en-US" sz="1600"/>
          </a:p>
        </p:txBody>
      </p:sp>
      <p:sp>
        <p:nvSpPr>
          <p:cNvPr id="60" name="文本框 59"/>
          <p:cNvSpPr txBox="1"/>
          <p:nvPr/>
        </p:nvSpPr>
        <p:spPr>
          <a:xfrm>
            <a:off x="1431925" y="2298700"/>
            <a:ext cx="728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边缘协同智能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1" name="箭头: 右 35"/>
          <p:cNvSpPr/>
          <p:nvPr/>
        </p:nvSpPr>
        <p:spPr>
          <a:xfrm>
            <a:off x="10800866" y="2843461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CustomShape 9"/>
          <p:cNvSpPr/>
          <p:nvPr/>
        </p:nvSpPr>
        <p:spPr>
          <a:xfrm>
            <a:off x="3602355" y="4097020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模型推理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5" name="CustomShape 9"/>
          <p:cNvSpPr/>
          <p:nvPr/>
        </p:nvSpPr>
        <p:spPr>
          <a:xfrm>
            <a:off x="2305685" y="4608195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效能评估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6" name="CustomShape 9"/>
          <p:cNvSpPr/>
          <p:nvPr/>
        </p:nvSpPr>
        <p:spPr>
          <a:xfrm>
            <a:off x="3602355" y="4608195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算法库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991225" y="3617595"/>
            <a:ext cx="2757805" cy="15036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68" name="CustomShape 9"/>
          <p:cNvSpPr/>
          <p:nvPr/>
        </p:nvSpPr>
        <p:spPr>
          <a:xfrm>
            <a:off x="6125210" y="4097020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玻璃成型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548755" y="369824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数字仿真模块</a:t>
            </a:r>
            <a:endParaRPr lang="zh-CN" altLang="en-US"/>
          </a:p>
        </p:txBody>
      </p:sp>
      <p:sp>
        <p:nvSpPr>
          <p:cNvPr id="70" name="CustomShape 9"/>
          <p:cNvSpPr/>
          <p:nvPr/>
        </p:nvSpPr>
        <p:spPr>
          <a:xfrm>
            <a:off x="7432675" y="4097020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玻璃加热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1" name="CustomShape 9"/>
          <p:cNvSpPr/>
          <p:nvPr/>
        </p:nvSpPr>
        <p:spPr>
          <a:xfrm>
            <a:off x="6136005" y="4608195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玻璃运动</a:t>
            </a:r>
            <a:endParaRPr kumimoji="0" lang="zh-CN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2" name="CustomShape 9"/>
          <p:cNvSpPr/>
          <p:nvPr/>
        </p:nvSpPr>
        <p:spPr>
          <a:xfrm>
            <a:off x="7432675" y="4608195"/>
            <a:ext cx="1212850" cy="4025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生产线设计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5" name="箭头: 右 111"/>
          <p:cNvSpPr/>
          <p:nvPr/>
        </p:nvSpPr>
        <p:spPr>
          <a:xfrm rot="16200000">
            <a:off x="3425190" y="3307080"/>
            <a:ext cx="219710" cy="199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箭头: 右 111"/>
          <p:cNvSpPr/>
          <p:nvPr/>
        </p:nvSpPr>
        <p:spPr>
          <a:xfrm rot="16200000">
            <a:off x="7259955" y="3307080"/>
            <a:ext cx="219710" cy="199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CustomShape 9"/>
          <p:cNvSpPr/>
          <p:nvPr/>
        </p:nvSpPr>
        <p:spPr>
          <a:xfrm>
            <a:off x="6005195" y="5633720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传感采集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0" name="CustomShape 9"/>
          <p:cNvSpPr/>
          <p:nvPr/>
        </p:nvSpPr>
        <p:spPr>
          <a:xfrm>
            <a:off x="7469505" y="5633720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系统采集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2" name="CustomShape 9"/>
          <p:cNvSpPr/>
          <p:nvPr/>
        </p:nvSpPr>
        <p:spPr>
          <a:xfrm>
            <a:off x="9092565" y="5633720"/>
            <a:ext cx="1332865" cy="427355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监控采集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84" name="箭头: 右 111"/>
          <p:cNvSpPr/>
          <p:nvPr/>
        </p:nvSpPr>
        <p:spPr>
          <a:xfrm rot="16200000">
            <a:off x="3452495" y="5232400"/>
            <a:ext cx="219710" cy="199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箭头: 右 111"/>
          <p:cNvSpPr/>
          <p:nvPr/>
        </p:nvSpPr>
        <p:spPr>
          <a:xfrm rot="16200000">
            <a:off x="7259955" y="5232400"/>
            <a:ext cx="219710" cy="199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上箭头 91"/>
          <p:cNvSpPr/>
          <p:nvPr/>
        </p:nvSpPr>
        <p:spPr>
          <a:xfrm>
            <a:off x="9520555" y="3327400"/>
            <a:ext cx="354965" cy="207899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1431925" y="3971925"/>
            <a:ext cx="728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边缘算法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423035" y="5561965"/>
            <a:ext cx="728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生产设备改造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7" name="CustomShape 15"/>
          <p:cNvSpPr/>
          <p:nvPr/>
        </p:nvSpPr>
        <p:spPr>
          <a:xfrm>
            <a:off x="2059940" y="6228080"/>
            <a:ext cx="8601075" cy="454660"/>
          </a:xfrm>
          <a:prstGeom prst="rect">
            <a:avLst/>
          </a:prstGeom>
          <a:solidFill>
            <a:srgbClr val="8064A2"/>
          </a:solidFill>
          <a:ln w="25400" cap="flat" cmpd="sng" algn="ctr">
            <a:solidFill>
              <a:srgbClr val="8064A2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zh-CN" alt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工艺建模与参数优化</a:t>
            </a:r>
            <a:endParaRPr kumimoji="0" lang="zh-CN" alt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00" name="CustomShape 9"/>
          <p:cNvSpPr/>
          <p:nvPr/>
        </p:nvSpPr>
        <p:spPr>
          <a:xfrm rot="5400000">
            <a:off x="11165840" y="306768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1503660" y="2809240"/>
            <a:ext cx="459740" cy="10598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隐私保护</a:t>
            </a:r>
            <a:endParaRPr lang="zh-CN" altLang="en-US"/>
          </a:p>
        </p:txBody>
      </p:sp>
      <p:sp>
        <p:nvSpPr>
          <p:cNvPr id="103" name="CustomShape 9"/>
          <p:cNvSpPr/>
          <p:nvPr/>
        </p:nvSpPr>
        <p:spPr>
          <a:xfrm rot="5400000">
            <a:off x="11168380" y="435038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1506200" y="4091940"/>
            <a:ext cx="459740" cy="10598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安全防护</a:t>
            </a:r>
            <a:endParaRPr lang="zh-CN" altLang="en-US"/>
          </a:p>
        </p:txBody>
      </p:sp>
      <p:sp>
        <p:nvSpPr>
          <p:cNvPr id="107" name="CustomShape 9"/>
          <p:cNvSpPr/>
          <p:nvPr/>
        </p:nvSpPr>
        <p:spPr>
          <a:xfrm rot="5400000">
            <a:off x="11177270" y="5639435"/>
            <a:ext cx="1148080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1515090" y="5380990"/>
            <a:ext cx="459740" cy="10598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/>
              <a:t>风险评估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356485" y="3698240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生产质量实时监测算法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54"/>
          <p:cNvSpPr/>
          <p:nvPr/>
        </p:nvSpPr>
        <p:spPr>
          <a:xfrm>
            <a:off x="2239289" y="4149454"/>
            <a:ext cx="5658050" cy="860775"/>
          </a:xfrm>
          <a:prstGeom prst="flowChartInputOutput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7" name="Shape 55"/>
          <p:cNvSpPr/>
          <p:nvPr/>
        </p:nvSpPr>
        <p:spPr>
          <a:xfrm>
            <a:off x="4663615" y="3670300"/>
            <a:ext cx="235585" cy="710565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Shape 58"/>
          <p:cNvSpPr/>
          <p:nvPr/>
        </p:nvSpPr>
        <p:spPr>
          <a:xfrm>
            <a:off x="3033475" y="4464484"/>
            <a:ext cx="1027173" cy="3552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1000" dirty="0"/>
              <a:t>大数据</a:t>
            </a:r>
            <a:r>
              <a:rPr lang="zh-CN" altLang="en-US" sz="1000" dirty="0"/>
              <a:t>平台</a:t>
            </a:r>
            <a:endParaRPr lang="zh-CN" altLang="en-GB" sz="1000" dirty="0"/>
          </a:p>
        </p:txBody>
      </p:sp>
      <p:sp>
        <p:nvSpPr>
          <p:cNvPr id="10" name="Shape 59"/>
          <p:cNvSpPr/>
          <p:nvPr/>
        </p:nvSpPr>
        <p:spPr>
          <a:xfrm>
            <a:off x="875101" y="4179951"/>
            <a:ext cx="1688400" cy="35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altLang="en-GB" sz="1200" dirty="0">
                <a:solidFill>
                  <a:srgbClr val="000000"/>
                </a:solidFill>
              </a:rPr>
              <a:t>基础设施平台</a:t>
            </a:r>
            <a:endParaRPr lang="zh-CN" altLang="en-GB" sz="1200" dirty="0">
              <a:solidFill>
                <a:srgbClr val="000000"/>
              </a:solidFill>
            </a:endParaRPr>
          </a:p>
        </p:txBody>
      </p:sp>
      <p:sp>
        <p:nvSpPr>
          <p:cNvPr id="11" name="Shape 60"/>
          <p:cNvSpPr/>
          <p:nvPr/>
        </p:nvSpPr>
        <p:spPr>
          <a:xfrm>
            <a:off x="2337351" y="2809589"/>
            <a:ext cx="5658050" cy="860775"/>
          </a:xfrm>
          <a:prstGeom prst="flowChartInputOutput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" name="Shape 61"/>
          <p:cNvSpPr/>
          <p:nvPr/>
        </p:nvSpPr>
        <p:spPr>
          <a:xfrm>
            <a:off x="870951" y="2928061"/>
            <a:ext cx="1687800" cy="393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1200" dirty="0"/>
              <a:t>中间件</a:t>
            </a:r>
            <a:endParaRPr lang="zh-CN" altLang="en-GB" sz="1200" dirty="0"/>
          </a:p>
        </p:txBody>
      </p:sp>
      <p:sp>
        <p:nvSpPr>
          <p:cNvPr id="13" name="Shape 62"/>
          <p:cNvSpPr/>
          <p:nvPr/>
        </p:nvSpPr>
        <p:spPr>
          <a:xfrm>
            <a:off x="2891148" y="3315069"/>
            <a:ext cx="1204061" cy="3033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智能分析</a:t>
            </a:r>
            <a:r>
              <a:rPr lang="zh-CN" altLang="en-GB" sz="1000" dirty="0"/>
              <a:t>模型</a:t>
            </a:r>
            <a:endParaRPr lang="zh-CN" altLang="en-GB" sz="1000" dirty="0"/>
          </a:p>
        </p:txBody>
      </p:sp>
      <p:sp>
        <p:nvSpPr>
          <p:cNvPr id="15" name="Shape 64"/>
          <p:cNvSpPr/>
          <p:nvPr/>
        </p:nvSpPr>
        <p:spPr>
          <a:xfrm>
            <a:off x="875095" y="1211639"/>
            <a:ext cx="17430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1200" dirty="0"/>
              <a:t>行业应用</a:t>
            </a:r>
            <a:endParaRPr lang="zh-CN" altLang="en-GB" sz="1200" dirty="0"/>
          </a:p>
        </p:txBody>
      </p:sp>
      <p:pic>
        <p:nvPicPr>
          <p:cNvPr id="18" name="Shape 6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705630" y="2014855"/>
            <a:ext cx="2834640" cy="122047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9" name="Shape 68"/>
          <p:cNvSpPr/>
          <p:nvPr/>
        </p:nvSpPr>
        <p:spPr>
          <a:xfrm>
            <a:off x="4283710" y="3315335"/>
            <a:ext cx="1168400" cy="30353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云边协同模型</a:t>
            </a:r>
            <a:endParaRPr lang="zh-CN" altLang="en-GB" sz="1000" dirty="0"/>
          </a:p>
        </p:txBody>
      </p:sp>
      <p:sp>
        <p:nvSpPr>
          <p:cNvPr id="20" name="Shape 69"/>
          <p:cNvSpPr/>
          <p:nvPr/>
        </p:nvSpPr>
        <p:spPr>
          <a:xfrm>
            <a:off x="5650340" y="3308018"/>
            <a:ext cx="1133318" cy="310351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隐私计算模型</a:t>
            </a:r>
            <a:endParaRPr lang="zh-CN" altLang="en-GB" sz="1000" dirty="0"/>
          </a:p>
        </p:txBody>
      </p:sp>
      <p:sp>
        <p:nvSpPr>
          <p:cNvPr id="22" name="Shape 71"/>
          <p:cNvSpPr/>
          <p:nvPr/>
        </p:nvSpPr>
        <p:spPr>
          <a:xfrm>
            <a:off x="4334086" y="4464484"/>
            <a:ext cx="979306" cy="3552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云计算平台</a:t>
            </a:r>
            <a:endParaRPr lang="zh-CN" altLang="en-GB" sz="1000" dirty="0"/>
          </a:p>
        </p:txBody>
      </p:sp>
      <p:sp>
        <p:nvSpPr>
          <p:cNvPr id="23" name="Shape 72"/>
          <p:cNvSpPr/>
          <p:nvPr/>
        </p:nvSpPr>
        <p:spPr>
          <a:xfrm>
            <a:off x="5584089" y="4455845"/>
            <a:ext cx="1059812" cy="3552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区块链平台</a:t>
            </a:r>
            <a:endParaRPr lang="zh-CN" altLang="en-GB" sz="1000" dirty="0"/>
          </a:p>
        </p:txBody>
      </p:sp>
      <p:sp>
        <p:nvSpPr>
          <p:cNvPr id="24" name="Shape 73"/>
          <p:cNvSpPr/>
          <p:nvPr/>
        </p:nvSpPr>
        <p:spPr>
          <a:xfrm>
            <a:off x="5925590" y="3670300"/>
            <a:ext cx="235585" cy="710565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Shape 74"/>
          <p:cNvSpPr/>
          <p:nvPr/>
        </p:nvSpPr>
        <p:spPr>
          <a:xfrm>
            <a:off x="3372525" y="3662045"/>
            <a:ext cx="235585" cy="71882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Shape 75"/>
          <p:cNvSpPr/>
          <p:nvPr/>
        </p:nvSpPr>
        <p:spPr>
          <a:xfrm rot="5400000">
            <a:off x="8103076" y="945214"/>
            <a:ext cx="366300" cy="10461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Shape 76"/>
          <p:cNvSpPr/>
          <p:nvPr/>
        </p:nvSpPr>
        <p:spPr>
          <a:xfrm rot="10800000">
            <a:off x="6921270" y="2108835"/>
            <a:ext cx="1887855" cy="1223645"/>
          </a:xfrm>
          <a:prstGeom prst="bentArrow">
            <a:avLst>
              <a:gd name="adj1" fmla="val 11468"/>
              <a:gd name="adj2" fmla="val 15853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Shape 77"/>
          <p:cNvSpPr txBox="1"/>
          <p:nvPr/>
        </p:nvSpPr>
        <p:spPr>
          <a:xfrm>
            <a:off x="7740501" y="3218234"/>
            <a:ext cx="12126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1000"/>
              <a:t>数据流</a:t>
            </a:r>
            <a:endParaRPr lang="zh-CN" altLang="en-GB" sz="1000"/>
          </a:p>
        </p:txBody>
      </p:sp>
      <p:sp>
        <p:nvSpPr>
          <p:cNvPr id="29" name="Shape 78"/>
          <p:cNvSpPr txBox="1"/>
          <p:nvPr/>
        </p:nvSpPr>
        <p:spPr>
          <a:xfrm>
            <a:off x="8101996" y="1011789"/>
            <a:ext cx="612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1000"/>
              <a:t>服务</a:t>
            </a:r>
            <a:endParaRPr lang="zh-CN" altLang="en-GB" sz="1000"/>
          </a:p>
        </p:txBody>
      </p:sp>
      <p:sp>
        <p:nvSpPr>
          <p:cNvPr id="38" name="Shape 62"/>
          <p:cNvSpPr/>
          <p:nvPr/>
        </p:nvSpPr>
        <p:spPr>
          <a:xfrm>
            <a:off x="7198763" y="1739106"/>
            <a:ext cx="621087" cy="270567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700" dirty="0"/>
              <a:t>企业</a:t>
            </a:r>
            <a:r>
              <a:rPr lang="en-US" altLang="zh-CN" sz="700" dirty="0"/>
              <a:t>A</a:t>
            </a:r>
            <a:endParaRPr lang="en-US" altLang="zh-CN" sz="700" dirty="0"/>
          </a:p>
        </p:txBody>
      </p:sp>
      <p:sp>
        <p:nvSpPr>
          <p:cNvPr id="39" name="Shape 62"/>
          <p:cNvSpPr/>
          <p:nvPr/>
        </p:nvSpPr>
        <p:spPr>
          <a:xfrm>
            <a:off x="7839115" y="1744442"/>
            <a:ext cx="621087" cy="270567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 dirty="0"/>
              <a:t>企业</a:t>
            </a:r>
            <a:r>
              <a:rPr lang="en-US" altLang="zh-CN" sz="700" dirty="0"/>
              <a:t>B</a:t>
            </a:r>
            <a:endParaRPr lang="en-US" altLang="zh-CN" sz="700" dirty="0"/>
          </a:p>
        </p:txBody>
      </p:sp>
      <p:sp>
        <p:nvSpPr>
          <p:cNvPr id="40" name="Shape 62"/>
          <p:cNvSpPr/>
          <p:nvPr/>
        </p:nvSpPr>
        <p:spPr>
          <a:xfrm>
            <a:off x="8479467" y="1744471"/>
            <a:ext cx="621087" cy="270567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 dirty="0"/>
              <a:t>企业</a:t>
            </a:r>
            <a:r>
              <a:rPr lang="en-US" altLang="zh-CN" sz="700" dirty="0"/>
              <a:t>C</a:t>
            </a:r>
            <a:endParaRPr lang="en-US" altLang="zh-CN" sz="700" dirty="0"/>
          </a:p>
        </p:txBody>
      </p:sp>
      <p:sp>
        <p:nvSpPr>
          <p:cNvPr id="41" name="Shape 60"/>
          <p:cNvSpPr/>
          <p:nvPr/>
        </p:nvSpPr>
        <p:spPr>
          <a:xfrm>
            <a:off x="2383951" y="1051378"/>
            <a:ext cx="5658050" cy="860775"/>
          </a:xfrm>
          <a:prstGeom prst="flowChartInputOutput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0" name="TextBox 6"/>
          <p:cNvSpPr txBox="1"/>
          <p:nvPr/>
        </p:nvSpPr>
        <p:spPr>
          <a:xfrm>
            <a:off x="2673120" y="2211705"/>
            <a:ext cx="1094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合约驱动的中间件模型</a:t>
            </a:r>
            <a:endParaRPr lang="zh-CN" altLang="en-US" sz="1400" dirty="0"/>
          </a:p>
        </p:txBody>
      </p:sp>
      <p:sp>
        <p:nvSpPr>
          <p:cNvPr id="32" name="Shape 66"/>
          <p:cNvSpPr/>
          <p:nvPr/>
        </p:nvSpPr>
        <p:spPr>
          <a:xfrm>
            <a:off x="3347720" y="1590040"/>
            <a:ext cx="1169035" cy="23495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数字产业化应用</a:t>
            </a:r>
            <a:endParaRPr lang="zh-CN" altLang="en-US" sz="1000" dirty="0"/>
          </a:p>
        </p:txBody>
      </p:sp>
      <p:sp>
        <p:nvSpPr>
          <p:cNvPr id="34" name="Shape 66"/>
          <p:cNvSpPr/>
          <p:nvPr/>
        </p:nvSpPr>
        <p:spPr>
          <a:xfrm>
            <a:off x="6684265" y="1151255"/>
            <a:ext cx="692150" cy="23495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数据流通</a:t>
            </a:r>
            <a:endParaRPr lang="zh-CN" altLang="en-US" sz="1000" dirty="0"/>
          </a:p>
        </p:txBody>
      </p:sp>
      <p:sp>
        <p:nvSpPr>
          <p:cNvPr id="35" name="Shape 66"/>
          <p:cNvSpPr/>
          <p:nvPr/>
        </p:nvSpPr>
        <p:spPr>
          <a:xfrm>
            <a:off x="5750538" y="1152525"/>
            <a:ext cx="816402" cy="23495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数据定价</a:t>
            </a:r>
            <a:endParaRPr lang="zh-CN" altLang="en-US" sz="1000" dirty="0"/>
          </a:p>
        </p:txBody>
      </p:sp>
      <p:sp>
        <p:nvSpPr>
          <p:cNvPr id="36" name="文本框 35"/>
          <p:cNvSpPr txBox="1"/>
          <p:nvPr/>
        </p:nvSpPr>
        <p:spPr>
          <a:xfrm>
            <a:off x="5255935" y="1027430"/>
            <a:ext cx="630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.....</a:t>
            </a:r>
            <a:endParaRPr lang="en-US" altLang="zh-CN" dirty="0"/>
          </a:p>
        </p:txBody>
      </p:sp>
      <p:sp>
        <p:nvSpPr>
          <p:cNvPr id="4" name="Shape 66"/>
          <p:cNvSpPr/>
          <p:nvPr/>
        </p:nvSpPr>
        <p:spPr>
          <a:xfrm>
            <a:off x="5246370" y="1588135"/>
            <a:ext cx="1169035" cy="23495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产业数字化应用</a:t>
            </a:r>
            <a:endParaRPr lang="zh-CN" altLang="en-US" sz="1000" dirty="0"/>
          </a:p>
        </p:txBody>
      </p:sp>
      <p:sp>
        <p:nvSpPr>
          <p:cNvPr id="5" name="Shape 66"/>
          <p:cNvSpPr/>
          <p:nvPr/>
        </p:nvSpPr>
        <p:spPr>
          <a:xfrm>
            <a:off x="3519783" y="1163955"/>
            <a:ext cx="816402" cy="23495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数据分析</a:t>
            </a:r>
            <a:endParaRPr lang="zh-CN" altLang="en-US" sz="1000" dirty="0"/>
          </a:p>
        </p:txBody>
      </p:sp>
      <p:sp>
        <p:nvSpPr>
          <p:cNvPr id="8" name="Shape 66"/>
          <p:cNvSpPr/>
          <p:nvPr/>
        </p:nvSpPr>
        <p:spPr>
          <a:xfrm>
            <a:off x="4459583" y="1165225"/>
            <a:ext cx="816402" cy="23495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/>
              <a:t>数据协同</a:t>
            </a:r>
            <a:endParaRPr lang="zh-CN" altLang="en-US" sz="1000" dirty="0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240155" y="5185410"/>
            <a:ext cx="9525635" cy="12249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240155" y="2320925"/>
            <a:ext cx="9525635" cy="1417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1240155" y="3849370"/>
            <a:ext cx="9525635" cy="12249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240155" y="929640"/>
            <a:ext cx="9525635" cy="12249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3009265" y="542544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>
                <a:solidFill>
                  <a:schemeClr val="tx1"/>
                </a:solidFill>
              </a:rPr>
              <a:t>数据流通交易激励机制</a:t>
            </a:r>
            <a:endParaRPr lang="zh-CN" altLang="en-US" sz="2100">
              <a:solidFill>
                <a:schemeClr val="tx1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597525" y="542544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数据流通交易登记备案机制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185785" y="542544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>
                <a:solidFill>
                  <a:schemeClr val="tx1"/>
                </a:solidFill>
              </a:rPr>
              <a:t>数据要素市场社会信用机制</a:t>
            </a:r>
            <a:endParaRPr lang="zh-CN" altLang="en-US" sz="2100">
              <a:solidFill>
                <a:schemeClr val="tx1"/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009265" y="408940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数据质量的考核激励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597525" y="408940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数据产品的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动态资产管理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8185785" y="408940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数据要素的流通监管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009265" y="2877185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夯实数据要素财政治理基础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5597525" y="2877185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提高数据要素应用水平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8185785" y="2877185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激励数据要素流通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3009265" y="116967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财税赋能的守底线功能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597525" y="116967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企业治理的负责人意识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8185785" y="1169670"/>
            <a:ext cx="2323465" cy="7448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/>
                </a:solidFill>
              </a:rPr>
              <a:t>社会治理的促协同作用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494155" y="1203325"/>
            <a:ext cx="14255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/>
              <a:t>构建数据治理规则</a:t>
            </a:r>
            <a:endParaRPr lang="zh-CN" altLang="en-US" sz="2100" b="1"/>
          </a:p>
        </p:txBody>
      </p:sp>
      <p:sp>
        <p:nvSpPr>
          <p:cNvPr id="50" name="文本框 49"/>
          <p:cNvSpPr txBox="1"/>
          <p:nvPr/>
        </p:nvSpPr>
        <p:spPr>
          <a:xfrm>
            <a:off x="1507490" y="2757170"/>
            <a:ext cx="14255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/>
              <a:t>培育新型交易生态</a:t>
            </a:r>
            <a:endParaRPr lang="zh-CN" altLang="en-US" sz="2100" b="1"/>
          </a:p>
        </p:txBody>
      </p:sp>
      <p:sp>
        <p:nvSpPr>
          <p:cNvPr id="51" name="文本框 50"/>
          <p:cNvSpPr txBox="1"/>
          <p:nvPr/>
        </p:nvSpPr>
        <p:spPr>
          <a:xfrm>
            <a:off x="1517015" y="4063365"/>
            <a:ext cx="14255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/>
              <a:t>提升数据流通效率</a:t>
            </a:r>
            <a:endParaRPr lang="zh-CN" altLang="en-US" sz="2100" b="1"/>
          </a:p>
        </p:txBody>
      </p:sp>
      <p:sp>
        <p:nvSpPr>
          <p:cNvPr id="52" name="文本框 51"/>
          <p:cNvSpPr txBox="1"/>
          <p:nvPr/>
        </p:nvSpPr>
        <p:spPr>
          <a:xfrm>
            <a:off x="1517015" y="5476875"/>
            <a:ext cx="14255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/>
              <a:t>完善市场监管机制</a:t>
            </a:r>
            <a:endParaRPr lang="zh-CN" altLang="en-US" sz="2100" b="1"/>
          </a:p>
        </p:txBody>
      </p:sp>
      <p:sp>
        <p:nvSpPr>
          <p:cNvPr id="53" name="文本框 52"/>
          <p:cNvSpPr txBox="1"/>
          <p:nvPr/>
        </p:nvSpPr>
        <p:spPr>
          <a:xfrm>
            <a:off x="3345180" y="2389505"/>
            <a:ext cx="176847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/>
              <a:t>数据交易所</a:t>
            </a:r>
            <a:endParaRPr lang="zh-CN" altLang="en-US" sz="2100" b="1"/>
          </a:p>
        </p:txBody>
      </p:sp>
      <p:sp>
        <p:nvSpPr>
          <p:cNvPr id="54" name="文本框 53"/>
          <p:cNvSpPr txBox="1"/>
          <p:nvPr/>
        </p:nvSpPr>
        <p:spPr>
          <a:xfrm>
            <a:off x="8587740" y="2389505"/>
            <a:ext cx="176847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/>
              <a:t>第三方机构</a:t>
            </a:r>
            <a:endParaRPr lang="zh-CN" altLang="en-US" sz="2100" b="1"/>
          </a:p>
        </p:txBody>
      </p:sp>
      <p:sp>
        <p:nvSpPr>
          <p:cNvPr id="55" name="文本框 54"/>
          <p:cNvSpPr txBox="1"/>
          <p:nvPr/>
        </p:nvSpPr>
        <p:spPr>
          <a:xfrm>
            <a:off x="5966460" y="2389505"/>
            <a:ext cx="176847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/>
              <a:t>数据服务商</a:t>
            </a:r>
            <a:endParaRPr lang="zh-CN" altLang="en-US" sz="2100" b="1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8"/>
          <p:cNvSpPr/>
          <p:nvPr/>
        </p:nvSpPr>
        <p:spPr>
          <a:xfrm>
            <a:off x="78740" y="2038985"/>
            <a:ext cx="9794240" cy="148399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1489625" y="218014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深层次</a:t>
            </a:r>
            <a:r>
              <a:rPr lang="zh-CN" altLang="en-US" sz="1400" kern="0" spc="-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+mn-ea"/>
              </a:rPr>
              <a:t>关</a:t>
            </a:r>
            <a:r>
              <a:rPr kumimoji="0" lang="zh-CN" altLang="en-US" sz="1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系挖掘</a:t>
            </a:r>
            <a:endParaRPr kumimoji="0" lang="en-US" sz="14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1489625" y="287770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altLang="en-US" sz="1400" kern="0" spc="-1" dirty="0">
                <a:solidFill>
                  <a:srgbClr val="FFFFFF"/>
                </a:solidFill>
              </a:rPr>
              <a:t>数据一体化</a:t>
            </a:r>
            <a:endParaRPr kumimoji="0" lang="en-US" sz="14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7518" y="2518886"/>
            <a:ext cx="11074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中间件层</a:t>
            </a:r>
            <a:endParaRPr 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95624" y="88776"/>
            <a:ext cx="9744987" cy="1797017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77518" y="970336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应用层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1380913" y="2922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kumimoji="0" lang="zh-CN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智慧能源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78740" y="6055995"/>
            <a:ext cx="9807575" cy="622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0674" y="6219222"/>
            <a:ext cx="17373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基础设施层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3553376" y="612191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云计算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5550373" y="61120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人工智能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4" name="CustomShape 9"/>
          <p:cNvSpPr/>
          <p:nvPr/>
        </p:nvSpPr>
        <p:spPr>
          <a:xfrm>
            <a:off x="7547966" y="61120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区块链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3088" y="3931233"/>
            <a:ext cx="6212205" cy="1906270"/>
            <a:chOff x="133088" y="3931233"/>
            <a:chExt cx="6212205" cy="1906270"/>
          </a:xfrm>
        </p:grpSpPr>
        <p:sp>
          <p:nvSpPr>
            <p:cNvPr id="45" name="文本框 44"/>
            <p:cNvSpPr txBox="1"/>
            <p:nvPr/>
          </p:nvSpPr>
          <p:spPr>
            <a:xfrm>
              <a:off x="133088" y="4578092"/>
              <a:ext cx="25038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latin typeface="+mn-ea"/>
                </a:defRPr>
              </a:lvl1pPr>
            </a:lstStyle>
            <a:p>
              <a:r>
                <a:rPr lang="zh-CN" altLang="en-US" b="0" dirty="0">
                  <a:latin typeface="黑体" panose="02010609060101010101" charset="-122"/>
                  <a:ea typeface="黑体" panose="02010609060101010101" charset="-122"/>
                </a:rPr>
                <a:t>共性技术层</a:t>
              </a:r>
              <a:endParaRPr lang="zh-CN" altLang="en-US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471033" y="3931233"/>
              <a:ext cx="1533525" cy="18954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关系构建</a:t>
              </a:r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559933" y="4519878"/>
              <a:ext cx="1360170" cy="502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跨行业</a:t>
              </a:r>
              <a:endParaRPr lang="zh-CN" altLang="en-US" sz="1600" dirty="0"/>
            </a:p>
            <a:p>
              <a:pPr algn="ctr"/>
              <a:r>
                <a:rPr lang="zh-CN" altLang="en-US" sz="1600" dirty="0"/>
                <a:t>关系挖掘</a:t>
              </a:r>
              <a:endParaRPr lang="zh-CN" altLang="en-US" sz="1600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565648" y="5174563"/>
              <a:ext cx="1358265" cy="5149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时空大数据</a:t>
              </a:r>
              <a:endParaRPr lang="zh-CN" altLang="en-US" sz="1600" dirty="0"/>
            </a:p>
            <a:p>
              <a:pPr algn="ctr"/>
              <a:r>
                <a:rPr lang="zh-CN" altLang="en-US" sz="1600" dirty="0"/>
                <a:t>融合与分析</a:t>
              </a:r>
              <a:endParaRPr lang="zh-CN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133463" y="3942028"/>
              <a:ext cx="1531620" cy="18954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评估定价</a:t>
              </a:r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276973" y="4521148"/>
              <a:ext cx="1228725" cy="502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定价机制</a:t>
              </a:r>
              <a:endParaRPr lang="zh-CN" altLang="en-US" sz="16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276338" y="5172023"/>
              <a:ext cx="1229360" cy="5149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成本评估</a:t>
              </a:r>
              <a:endParaRPr lang="zh-CN" sz="1600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4793988" y="3942028"/>
              <a:ext cx="1551305" cy="18954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安全流通</a:t>
              </a:r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926703" y="4526863"/>
              <a:ext cx="1304925" cy="502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隐私计算</a:t>
              </a:r>
              <a:endParaRPr lang="zh-CN" altLang="en-US" sz="16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4928608" y="5174563"/>
              <a:ext cx="1323340" cy="5149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600" dirty="0"/>
                <a:t>安全协议</a:t>
              </a:r>
              <a:endParaRPr lang="zh-CN" sz="1600" dirty="0"/>
            </a:p>
          </p:txBody>
        </p:sp>
      </p:grpSp>
      <p:sp>
        <p:nvSpPr>
          <p:cNvPr id="30" name="CustomShape 9"/>
          <p:cNvSpPr/>
          <p:nvPr/>
        </p:nvSpPr>
        <p:spPr>
          <a:xfrm>
            <a:off x="3612947" y="218014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交易机制制定</a:t>
            </a:r>
            <a:endParaRPr lang="zh-CN" altLang="en-US" sz="14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31" name="CustomShape 13"/>
          <p:cNvSpPr/>
          <p:nvPr/>
        </p:nvSpPr>
        <p:spPr>
          <a:xfrm>
            <a:off x="3612947" y="287770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altLang="en-US" sz="1400" kern="0" spc="-1" dirty="0">
                <a:solidFill>
                  <a:srgbClr val="FFFFFF"/>
                </a:solidFill>
              </a:rPr>
              <a:t>市场化评估</a:t>
            </a:r>
            <a:endParaRPr lang="en-US" altLang="zh-CN" sz="14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5688092" y="2180147"/>
            <a:ext cx="1740909" cy="517938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dirty="0">
                <a:solidFill>
                  <a:srgbClr val="FFFFFF"/>
                </a:solidFill>
              </a:rPr>
              <a:t>跨行业数据协同</a:t>
            </a:r>
            <a:endParaRPr lang="en-US" altLang="zh-CN" sz="14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33" name="CustomShape 13"/>
          <p:cNvSpPr/>
          <p:nvPr/>
        </p:nvSpPr>
        <p:spPr>
          <a:xfrm>
            <a:off x="5706466" y="2867615"/>
            <a:ext cx="1722535" cy="489307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dirty="0">
                <a:solidFill>
                  <a:schemeClr val="bg2"/>
                </a:solidFill>
                <a:latin typeface="DejaVu Sans"/>
              </a:rPr>
              <a:t>隐私保护</a:t>
            </a:r>
            <a:endParaRPr lang="zh-CN" altLang="en-US" sz="1400" kern="0" spc="-1" dirty="0">
              <a:solidFill>
                <a:schemeClr val="bg2"/>
              </a:solidFill>
              <a:latin typeface="DejaVu San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381615" y="2321560"/>
            <a:ext cx="1713865" cy="426656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0592934" y="3137837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全生命周期管理框架</a:t>
            </a:r>
            <a:endParaRPr lang="zh-CN" altLang="en-US" sz="1600" dirty="0"/>
          </a:p>
        </p:txBody>
      </p:sp>
      <p:sp>
        <p:nvSpPr>
          <p:cNvPr id="36" name="箭头: 右 35"/>
          <p:cNvSpPr/>
          <p:nvPr/>
        </p:nvSpPr>
        <p:spPr>
          <a:xfrm>
            <a:off x="9886315" y="2826385"/>
            <a:ext cx="478155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10670036" y="2568544"/>
            <a:ext cx="11644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latin typeface="+mn-ea"/>
              </a:defRPr>
            </a:lvl1pPr>
          </a:lstStyle>
          <a:p>
            <a:r>
              <a:rPr lang="zh-CN" altLang="en-US" b="0" dirty="0">
                <a:latin typeface="黑体" panose="02010609060101010101" charset="-122"/>
                <a:ea typeface="黑体" panose="02010609060101010101" charset="-122"/>
              </a:rPr>
              <a:t>平台架构</a:t>
            </a:r>
            <a:endParaRPr lang="zh-CN" altLang="en-US" b="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0588281" y="4182896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分布式隐私计算框架</a:t>
            </a:r>
            <a:endParaRPr lang="zh-CN" altLang="en-US" sz="1600" dirty="0"/>
          </a:p>
        </p:txBody>
      </p:sp>
      <p:sp>
        <p:nvSpPr>
          <p:cNvPr id="81" name="矩形 80"/>
          <p:cNvSpPr/>
          <p:nvPr/>
        </p:nvSpPr>
        <p:spPr>
          <a:xfrm>
            <a:off x="10588281" y="5206412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跨行业数据要素关系挖掘框架</a:t>
            </a:r>
            <a:endParaRPr lang="zh-CN" altLang="en-US" sz="1600" dirty="0"/>
          </a:p>
        </p:txBody>
      </p:sp>
      <p:sp>
        <p:nvSpPr>
          <p:cNvPr id="88" name="箭头: 下 87"/>
          <p:cNvSpPr/>
          <p:nvPr/>
        </p:nvSpPr>
        <p:spPr>
          <a:xfrm rot="10800000">
            <a:off x="11083290" y="1909445"/>
            <a:ext cx="307975" cy="3803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/>
        </p:nvCxnSpPr>
        <p:spPr>
          <a:xfrm flipV="1">
            <a:off x="1471295" y="2771775"/>
            <a:ext cx="8138795" cy="635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stomShape 9"/>
          <p:cNvSpPr/>
          <p:nvPr/>
        </p:nvSpPr>
        <p:spPr>
          <a:xfrm>
            <a:off x="3487414" y="2836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sz="1600" kern="0" spc="-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sym typeface="+mn-ea"/>
              </a:rPr>
              <a:t>智慧海洋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6" name="CustomShape 9"/>
          <p:cNvSpPr/>
          <p:nvPr/>
        </p:nvSpPr>
        <p:spPr>
          <a:xfrm>
            <a:off x="5648595" y="2922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altLang="en-US" sz="1600" kern="0" spc="-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sym typeface="+mn-ea"/>
              </a:rPr>
              <a:t>智慧交通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8" name="CustomShape 9"/>
          <p:cNvSpPr/>
          <p:nvPr/>
        </p:nvSpPr>
        <p:spPr>
          <a:xfrm>
            <a:off x="7755096" y="2836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sz="1600" kern="0" spc="-1" dirty="0">
                <a:solidFill>
                  <a:prstClr val="black"/>
                </a:solidFill>
                <a:latin typeface="DejaVu Sans"/>
                <a:sym typeface="+mn-ea"/>
              </a:rPr>
              <a:t>智慧文旅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cxnSp>
        <p:nvCxnSpPr>
          <p:cNvPr id="99" name="直接连接符 98"/>
          <p:cNvCxnSpPr/>
          <p:nvPr/>
        </p:nvCxnSpPr>
        <p:spPr>
          <a:xfrm>
            <a:off x="1380913" y="966982"/>
            <a:ext cx="80449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10379047" y="88776"/>
            <a:ext cx="1717329" cy="1788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400" dirty="0"/>
              <a:t>数字福建</a:t>
            </a:r>
            <a:r>
              <a:rPr lang="en-US" altLang="zh-CN" sz="2400" dirty="0"/>
              <a:t>/</a:t>
            </a:r>
            <a:endParaRPr lang="en-US" altLang="zh-CN" sz="2400" dirty="0"/>
          </a:p>
          <a:p>
            <a:pPr algn="ctr"/>
            <a:r>
              <a:rPr lang="zh-CN" altLang="en-US" sz="2400" dirty="0"/>
              <a:t>数字中国</a:t>
            </a:r>
            <a:endParaRPr lang="zh-CN" altLang="en-US" sz="2400" dirty="0"/>
          </a:p>
          <a:p>
            <a:pPr algn="ctr"/>
            <a:r>
              <a:rPr lang="zh-CN" altLang="en-US" sz="2400" dirty="0"/>
              <a:t>特色应用</a:t>
            </a:r>
            <a:endParaRPr lang="zh-CN" altLang="en-US" sz="2400" dirty="0"/>
          </a:p>
        </p:txBody>
      </p:sp>
      <p:sp>
        <p:nvSpPr>
          <p:cNvPr id="112" name="箭头: 右 111"/>
          <p:cNvSpPr/>
          <p:nvPr/>
        </p:nvSpPr>
        <p:spPr>
          <a:xfrm>
            <a:off x="9851830" y="8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235" y="3768725"/>
            <a:ext cx="9783445" cy="219075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471285" y="3942080"/>
            <a:ext cx="1557020" cy="18954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溯源审计</a:t>
            </a:r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7" name="CustomShape 9"/>
          <p:cNvSpPr/>
          <p:nvPr/>
        </p:nvSpPr>
        <p:spPr>
          <a:xfrm>
            <a:off x="1555666" y="6120008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物联网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07175" y="4526915"/>
            <a:ext cx="1285240" cy="502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自动化审计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6607175" y="5175250"/>
            <a:ext cx="1285240" cy="514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区块链溯源</a:t>
            </a:r>
            <a:endParaRPr lang="zh-CN" sz="1600" dirty="0"/>
          </a:p>
        </p:txBody>
      </p:sp>
      <p:sp>
        <p:nvSpPr>
          <p:cNvPr id="11" name="CustomShape 13"/>
          <p:cNvSpPr/>
          <p:nvPr/>
        </p:nvSpPr>
        <p:spPr>
          <a:xfrm>
            <a:off x="7744816" y="2867615"/>
            <a:ext cx="1722535" cy="489307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dirty="0">
                <a:solidFill>
                  <a:schemeClr val="bg2"/>
                </a:solidFill>
                <a:latin typeface="DejaVu Sans"/>
              </a:rPr>
              <a:t>实时审计</a:t>
            </a:r>
            <a:endParaRPr lang="zh-CN" altLang="en-US" sz="1400" kern="0" spc="-1" dirty="0">
              <a:solidFill>
                <a:schemeClr val="bg2"/>
              </a:solidFill>
              <a:latin typeface="DejaVu Sans"/>
            </a:endParaRPr>
          </a:p>
        </p:txBody>
      </p:sp>
      <p:sp>
        <p:nvSpPr>
          <p:cNvPr id="12" name="CustomShape 9"/>
          <p:cNvSpPr/>
          <p:nvPr/>
        </p:nvSpPr>
        <p:spPr>
          <a:xfrm>
            <a:off x="7741682" y="2186497"/>
            <a:ext cx="1740909" cy="517938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dirty="0">
                <a:solidFill>
                  <a:srgbClr val="FFFFFF"/>
                </a:solidFill>
              </a:rPr>
              <a:t>数据行为监管</a:t>
            </a:r>
            <a:endParaRPr lang="en-US" altLang="zh-CN" sz="14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4" name="CustomShape 9"/>
          <p:cNvSpPr/>
          <p:nvPr/>
        </p:nvSpPr>
        <p:spPr>
          <a:xfrm>
            <a:off x="1399963" y="11304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sz="1600" kern="0" spc="-1" dirty="0">
                <a:solidFill>
                  <a:prstClr val="black"/>
                </a:solidFill>
                <a:latin typeface="DejaVu Sans"/>
              </a:rPr>
              <a:t>智慧政务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6" name="CustomShape 9"/>
          <p:cNvSpPr/>
          <p:nvPr/>
        </p:nvSpPr>
        <p:spPr>
          <a:xfrm>
            <a:off x="3506464" y="11218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kumimoji="0" lang="zh-CN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智慧社区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8" name="CustomShape 9"/>
          <p:cNvSpPr/>
          <p:nvPr/>
        </p:nvSpPr>
        <p:spPr>
          <a:xfrm>
            <a:off x="5667645" y="11304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智慧医疗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9" name="CustomShape 9"/>
          <p:cNvSpPr/>
          <p:nvPr/>
        </p:nvSpPr>
        <p:spPr>
          <a:xfrm>
            <a:off x="7774146" y="11218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sz="1600" kern="0" spc="-1" dirty="0">
                <a:solidFill>
                  <a:prstClr val="black"/>
                </a:solidFill>
                <a:latin typeface="DejaVu Sans"/>
              </a:rPr>
              <a:t>智能审计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169910" y="3941445"/>
            <a:ext cx="1557020" cy="19348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管理决策</a:t>
            </a:r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30565" y="4499610"/>
            <a:ext cx="1285240" cy="502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智能决策</a:t>
            </a:r>
            <a:endParaRPr lang="zh-CN" altLang="en-US" sz="1600" dirty="0"/>
          </a:p>
        </p:txBody>
      </p:sp>
      <p:sp>
        <p:nvSpPr>
          <p:cNvPr id="21" name="矩形 20"/>
          <p:cNvSpPr/>
          <p:nvPr/>
        </p:nvSpPr>
        <p:spPr>
          <a:xfrm>
            <a:off x="8330565" y="5175250"/>
            <a:ext cx="1285240" cy="514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多智能体</a:t>
            </a:r>
            <a:endParaRPr lang="zh-CN" altLang="en-US" sz="1600" dirty="0"/>
          </a:p>
          <a:p>
            <a:pPr algn="ctr"/>
            <a:r>
              <a:rPr lang="zh-CN" altLang="en-US" sz="1600" dirty="0"/>
              <a:t>协同</a:t>
            </a:r>
            <a:endParaRPr lang="zh-CN" sz="1600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/>
          <p:nvPr/>
        </p:nvSpPr>
        <p:spPr>
          <a:xfrm>
            <a:off x="561975" y="245110"/>
            <a:ext cx="84747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产品简介</a:t>
            </a:r>
            <a:endParaRPr kumimoji="0" lang="zh-CN" altLang="en-US" sz="2800" b="1" i="0" u="none" strike="noStrike" kern="1200" cap="none" spc="0" normalizeH="0" baseline="0" noProof="0"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95" y="174625"/>
            <a:ext cx="281940" cy="66294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35905" y="116205"/>
            <a:ext cx="6668770" cy="5942330"/>
            <a:chOff x="4458" y="1344"/>
            <a:chExt cx="11423" cy="9358"/>
          </a:xfrm>
        </p:grpSpPr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4542" y="3915"/>
              <a:ext cx="11339" cy="2274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下箭头 63"/>
            <p:cNvSpPr/>
            <p:nvPr/>
          </p:nvSpPr>
          <p:spPr bwMode="auto">
            <a:xfrm flipV="1">
              <a:off x="9700" y="8688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下箭头 64"/>
            <p:cNvSpPr/>
            <p:nvPr/>
          </p:nvSpPr>
          <p:spPr bwMode="auto">
            <a:xfrm flipV="1">
              <a:off x="13699" y="8687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下箭头 65"/>
            <p:cNvSpPr/>
            <p:nvPr/>
          </p:nvSpPr>
          <p:spPr bwMode="auto">
            <a:xfrm flipV="1">
              <a:off x="6177" y="8688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下箭头 78"/>
            <p:cNvSpPr/>
            <p:nvPr/>
          </p:nvSpPr>
          <p:spPr bwMode="auto">
            <a:xfrm flipV="1">
              <a:off x="9797" y="6194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下箭头 79"/>
            <p:cNvSpPr/>
            <p:nvPr/>
          </p:nvSpPr>
          <p:spPr bwMode="auto">
            <a:xfrm flipV="1">
              <a:off x="13705" y="6212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下箭头 80"/>
            <p:cNvSpPr/>
            <p:nvPr/>
          </p:nvSpPr>
          <p:spPr bwMode="auto">
            <a:xfrm flipV="1">
              <a:off x="6219" y="6194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5218" y="4081"/>
              <a:ext cx="3407" cy="2003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02" name="Rectangle 7"/>
            <p:cNvSpPr>
              <a:spLocks noChangeArrowheads="1"/>
            </p:cNvSpPr>
            <p:nvPr/>
          </p:nvSpPr>
          <p:spPr bwMode="auto">
            <a:xfrm>
              <a:off x="4527" y="3132"/>
              <a:ext cx="11354" cy="458"/>
            </a:xfrm>
            <a:prstGeom prst="roundRect">
              <a:avLst>
                <a:gd name="adj" fmla="val 3505"/>
              </a:avLst>
            </a:prstGeom>
            <a:solidFill>
              <a:schemeClr val="accent2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ngnix/http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/HTTPS/RESTFul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下箭头 102"/>
            <p:cNvSpPr/>
            <p:nvPr/>
          </p:nvSpPr>
          <p:spPr bwMode="auto">
            <a:xfrm flipV="1">
              <a:off x="9700" y="3590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下箭头 103"/>
            <p:cNvSpPr/>
            <p:nvPr/>
          </p:nvSpPr>
          <p:spPr bwMode="auto">
            <a:xfrm flipV="1">
              <a:off x="13605" y="3609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下箭头 104"/>
            <p:cNvSpPr/>
            <p:nvPr/>
          </p:nvSpPr>
          <p:spPr bwMode="auto">
            <a:xfrm flipV="1">
              <a:off x="6140" y="3590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下箭头 108"/>
            <p:cNvSpPr/>
            <p:nvPr/>
          </p:nvSpPr>
          <p:spPr bwMode="auto">
            <a:xfrm flipV="1">
              <a:off x="9718" y="2803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下箭头 109"/>
            <p:cNvSpPr/>
            <p:nvPr/>
          </p:nvSpPr>
          <p:spPr bwMode="auto">
            <a:xfrm flipV="1">
              <a:off x="13601" y="2822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下箭头 110"/>
            <p:cNvSpPr/>
            <p:nvPr/>
          </p:nvSpPr>
          <p:spPr bwMode="auto">
            <a:xfrm flipV="1">
              <a:off x="6158" y="2803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7"/>
            <p:cNvSpPr>
              <a:spLocks noChangeArrowheads="1"/>
            </p:cNvSpPr>
            <p:nvPr/>
          </p:nvSpPr>
          <p:spPr bwMode="auto">
            <a:xfrm>
              <a:off x="4527" y="1344"/>
              <a:ext cx="11354" cy="1478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12700" cap="flat" cmpd="sng" algn="ctr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</a:pPr>
              <a:endParaRPr kumimoji="1" lang="en-US" altLang="zh-CN" sz="4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TextBox 218"/>
            <p:cNvSpPr txBox="1"/>
            <p:nvPr/>
          </p:nvSpPr>
          <p:spPr>
            <a:xfrm>
              <a:off x="7445" y="2175"/>
              <a:ext cx="1329" cy="386"/>
            </a:xfrm>
            <a:prstGeom prst="rect">
              <a:avLst/>
            </a:prstGeom>
            <a:solidFill>
              <a:srgbClr val="BFE5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智能手机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TextBox 219"/>
            <p:cNvSpPr txBox="1"/>
            <p:nvPr/>
          </p:nvSpPr>
          <p:spPr>
            <a:xfrm>
              <a:off x="5564" y="2175"/>
              <a:ext cx="1350" cy="386"/>
            </a:xfrm>
            <a:prstGeom prst="rect">
              <a:avLst/>
            </a:prstGeom>
            <a:solidFill>
              <a:srgbClr val="BFE5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电脑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TextBox 220"/>
            <p:cNvSpPr txBox="1"/>
            <p:nvPr/>
          </p:nvSpPr>
          <p:spPr>
            <a:xfrm>
              <a:off x="9487" y="2175"/>
              <a:ext cx="1329" cy="386"/>
            </a:xfrm>
            <a:prstGeom prst="rect">
              <a:avLst/>
            </a:prstGeom>
            <a:solidFill>
              <a:srgbClr val="BFE5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平板电脑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7" name="TextBox 222"/>
            <p:cNvSpPr txBox="1"/>
            <p:nvPr/>
          </p:nvSpPr>
          <p:spPr>
            <a:xfrm>
              <a:off x="13222" y="2175"/>
              <a:ext cx="1329" cy="386"/>
            </a:xfrm>
            <a:prstGeom prst="rect">
              <a:avLst/>
            </a:prstGeom>
            <a:solidFill>
              <a:srgbClr val="BFE5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触控大屏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458" y="9751"/>
              <a:ext cx="11338" cy="951"/>
              <a:chOff x="4725" y="9280"/>
              <a:chExt cx="11071" cy="951"/>
            </a:xfrm>
          </p:grpSpPr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4725" y="9465"/>
                <a:ext cx="11071" cy="766"/>
              </a:xfrm>
              <a:prstGeom prst="roundRect">
                <a:avLst>
                  <a:gd name="adj" fmla="val 3505"/>
                </a:avLst>
              </a:prstGeom>
              <a:solidFill>
                <a:srgbClr val="99CCFF"/>
              </a:solidFill>
              <a:ln w="9525">
                <a:noFill/>
                <a:round/>
              </a:ln>
              <a:effectLst>
                <a:outerShdw blurRad="63500"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spcBef>
                    <a:spcPct val="35000"/>
                  </a:spcBef>
                  <a:spcAft>
                    <a:spcPct val="15000"/>
                  </a:spcAft>
                  <a:buClr>
                    <a:srgbClr val="000000"/>
                  </a:buClr>
                  <a:buFont typeface="Arial" panose="020B0604020202020204" pitchFamily="34" charset="0"/>
                  <a:buNone/>
                  <a:defRPr/>
                </a:pPr>
                <a:endParaRPr lang="en-US" altLang="zh-CN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" name="TextBox 65"/>
              <p:cNvSpPr txBox="1"/>
              <p:nvPr/>
            </p:nvSpPr>
            <p:spPr>
              <a:xfrm>
                <a:off x="4792" y="9610"/>
                <a:ext cx="1523" cy="483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运行环境</a:t>
                </a:r>
                <a:endParaRPr lang="zh-CN" altLang="en-US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6443" y="9624"/>
                <a:ext cx="1457" cy="45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/>
                  <a:t>私有云</a:t>
                </a:r>
                <a:endParaRPr lang="zh-CN" altLang="en-US" sz="1200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8313" y="9624"/>
                <a:ext cx="1457" cy="45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JVM</a:t>
                </a:r>
                <a:endParaRPr lang="en-US" altLang="zh-CN" sz="120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10201" y="9624"/>
                <a:ext cx="1457" cy="45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/>
                  <a:t>公有云</a:t>
                </a:r>
                <a:endParaRPr lang="zh-CN" altLang="en-US" sz="1200"/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13569" y="9624"/>
                <a:ext cx="1896" cy="45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Docker</a:t>
                </a:r>
                <a:r>
                  <a:rPr lang="zh-CN" altLang="en-US" sz="1200">
                    <a:ea typeface="宋体" panose="02010600030101010101" pitchFamily="2" charset="-122"/>
                  </a:rPr>
                  <a:t>云平台</a:t>
                </a:r>
                <a:endParaRPr lang="zh-CN" altLang="en-US" sz="1200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2208" y="9280"/>
                <a:ext cx="565" cy="7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b="1">
                    <a:solidFill>
                      <a:srgbClr val="FF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...</a:t>
                </a:r>
                <a:endParaRPr lang="en-US" altLang="zh-CN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4514" y="8915"/>
              <a:ext cx="11282" cy="766"/>
            </a:xfrm>
            <a:prstGeom prst="roundRect">
              <a:avLst>
                <a:gd name="adj" fmla="val 350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TextBox 65"/>
            <p:cNvSpPr txBox="1"/>
            <p:nvPr/>
          </p:nvSpPr>
          <p:spPr>
            <a:xfrm>
              <a:off x="4493" y="9045"/>
              <a:ext cx="1435" cy="4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数据层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12208" y="8730"/>
              <a:ext cx="565" cy="7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...</a:t>
              </a:r>
              <a:endParaRPr lang="en-US" altLang="zh-CN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" name="下箭头 119"/>
            <p:cNvSpPr/>
            <p:nvPr/>
          </p:nvSpPr>
          <p:spPr bwMode="auto">
            <a:xfrm flipV="1">
              <a:off x="9700" y="9709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下箭头 120"/>
            <p:cNvSpPr/>
            <p:nvPr/>
          </p:nvSpPr>
          <p:spPr bwMode="auto">
            <a:xfrm flipV="1">
              <a:off x="13685" y="9708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下箭头 121"/>
            <p:cNvSpPr/>
            <p:nvPr/>
          </p:nvSpPr>
          <p:spPr bwMode="auto">
            <a:xfrm flipV="1">
              <a:off x="6177" y="9709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6485" y="9044"/>
              <a:ext cx="868" cy="942"/>
              <a:chOff x="5716" y="8412"/>
              <a:chExt cx="1267" cy="1884"/>
            </a:xfrm>
          </p:grpSpPr>
          <p:pic>
            <p:nvPicPr>
              <p:cNvPr id="130" name="图片 129" descr="mysql (1)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33" y="8412"/>
                <a:ext cx="1016" cy="680"/>
              </a:xfrm>
              <a:prstGeom prst="rect">
                <a:avLst/>
              </a:prstGeom>
            </p:spPr>
          </p:pic>
          <p:sp>
            <p:nvSpPr>
              <p:cNvPr id="131" name="文本框 130"/>
              <p:cNvSpPr txBox="1"/>
              <p:nvPr/>
            </p:nvSpPr>
            <p:spPr>
              <a:xfrm>
                <a:off x="5716" y="9136"/>
                <a:ext cx="1267" cy="1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/>
                  <a:t>MySQL</a:t>
                </a:r>
                <a:endParaRPr lang="en-US" altLang="zh-CN" sz="900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7707" y="8957"/>
              <a:ext cx="1116" cy="1026"/>
              <a:chOff x="7085" y="8305"/>
              <a:chExt cx="1481" cy="1912"/>
            </a:xfrm>
          </p:grpSpPr>
          <p:pic>
            <p:nvPicPr>
              <p:cNvPr id="133" name="图片 132" descr="mongodb 云数据库 MongoDB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9" y="8305"/>
                <a:ext cx="780" cy="960"/>
              </a:xfrm>
              <a:prstGeom prst="rect">
                <a:avLst/>
              </a:prstGeom>
            </p:spPr>
          </p:pic>
          <p:sp>
            <p:nvSpPr>
              <p:cNvPr id="134" name="文本框 133"/>
              <p:cNvSpPr txBox="1"/>
              <p:nvPr/>
            </p:nvSpPr>
            <p:spPr>
              <a:xfrm>
                <a:off x="7085" y="9136"/>
                <a:ext cx="1481" cy="1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/>
                  <a:t>MongoDB</a:t>
                </a:r>
                <a:endParaRPr lang="en-US" altLang="zh-CN" sz="900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8872" y="8997"/>
              <a:ext cx="1481" cy="771"/>
              <a:chOff x="9772" y="8692"/>
              <a:chExt cx="1481" cy="771"/>
            </a:xfrm>
          </p:grpSpPr>
          <p:pic>
            <p:nvPicPr>
              <p:cNvPr id="136" name="图片 135" descr="redis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62" y="8692"/>
                <a:ext cx="475" cy="475"/>
              </a:xfrm>
              <a:prstGeom prst="rect">
                <a:avLst/>
              </a:prstGeom>
            </p:spPr>
          </p:pic>
          <p:sp>
            <p:nvSpPr>
              <p:cNvPr id="137" name="文本框 136"/>
              <p:cNvSpPr txBox="1"/>
              <p:nvPr/>
            </p:nvSpPr>
            <p:spPr>
              <a:xfrm>
                <a:off x="9772" y="9101"/>
                <a:ext cx="1481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/>
                  <a:t>Redis</a:t>
                </a:r>
                <a:endParaRPr lang="en-US" altLang="zh-CN" sz="900"/>
              </a:p>
            </p:txBody>
          </p:sp>
        </p:grpSp>
        <p:pic>
          <p:nvPicPr>
            <p:cNvPr id="138" name="图片 137" descr="CouchDB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08" y="8917"/>
              <a:ext cx="595" cy="595"/>
            </a:xfrm>
            <a:prstGeom prst="rect">
              <a:avLst/>
            </a:prstGeom>
          </p:spPr>
        </p:pic>
        <p:sp>
          <p:nvSpPr>
            <p:cNvPr id="139" name="文本框 138"/>
            <p:cNvSpPr txBox="1"/>
            <p:nvPr/>
          </p:nvSpPr>
          <p:spPr>
            <a:xfrm>
              <a:off x="10054" y="9402"/>
              <a:ext cx="14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/>
                <a:t>couchdb</a:t>
              </a:r>
              <a:endParaRPr lang="en-US" altLang="zh-CN" sz="900"/>
            </a:p>
          </p:txBody>
        </p:sp>
        <p:pic>
          <p:nvPicPr>
            <p:cNvPr id="140" name="图片 139" descr="hadoop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95" y="8915"/>
              <a:ext cx="783" cy="589"/>
            </a:xfrm>
            <a:prstGeom prst="rect">
              <a:avLst/>
            </a:prstGeom>
          </p:spPr>
        </p:pic>
        <p:sp>
          <p:nvSpPr>
            <p:cNvPr id="141" name="文本框 140"/>
            <p:cNvSpPr txBox="1"/>
            <p:nvPr/>
          </p:nvSpPr>
          <p:spPr>
            <a:xfrm>
              <a:off x="13163" y="9406"/>
              <a:ext cx="14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/>
                <a:t>hadoop</a:t>
              </a:r>
              <a:endParaRPr lang="en-US" altLang="zh-CN" sz="900"/>
            </a:p>
          </p:txBody>
        </p:sp>
        <p:sp>
          <p:nvSpPr>
            <p:cNvPr id="142" name="Rectangle 7"/>
            <p:cNvSpPr>
              <a:spLocks noChangeArrowheads="1"/>
            </p:cNvSpPr>
            <p:nvPr/>
          </p:nvSpPr>
          <p:spPr bwMode="auto">
            <a:xfrm>
              <a:off x="4515" y="6494"/>
              <a:ext cx="11296" cy="2134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" name="TextBox 61"/>
            <p:cNvSpPr txBox="1"/>
            <p:nvPr/>
          </p:nvSpPr>
          <p:spPr>
            <a:xfrm>
              <a:off x="5605" y="8071"/>
              <a:ext cx="2976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联邦计算平台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4" name="TextBox 62"/>
            <p:cNvSpPr txBox="1"/>
            <p:nvPr/>
          </p:nvSpPr>
          <p:spPr>
            <a:xfrm>
              <a:off x="12596" y="8071"/>
              <a:ext cx="2970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大数据计算中间件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TextBox 65"/>
            <p:cNvSpPr txBox="1"/>
            <p:nvPr/>
          </p:nvSpPr>
          <p:spPr>
            <a:xfrm>
              <a:off x="9080" y="8081"/>
              <a:ext cx="3031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区块链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BaaS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平台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6" name="TextBox 86"/>
            <p:cNvSpPr txBox="1"/>
            <p:nvPr/>
          </p:nvSpPr>
          <p:spPr>
            <a:xfrm>
              <a:off x="5363" y="7637"/>
              <a:ext cx="1592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建模可视化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7" name="TextBox 185"/>
            <p:cNvSpPr txBox="1"/>
            <p:nvPr/>
          </p:nvSpPr>
          <p:spPr>
            <a:xfrm>
              <a:off x="5364" y="7206"/>
              <a:ext cx="1590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在线推理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8" name="TextBox 186"/>
            <p:cNvSpPr txBox="1"/>
            <p:nvPr/>
          </p:nvSpPr>
          <p:spPr>
            <a:xfrm>
              <a:off x="7029" y="7639"/>
              <a:ext cx="1596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算法组件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9" name="TextBox 187"/>
            <p:cNvSpPr txBox="1"/>
            <p:nvPr/>
          </p:nvSpPr>
          <p:spPr>
            <a:xfrm>
              <a:off x="7029" y="7206"/>
              <a:ext cx="1596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联邦建模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0" name="TextBox 188"/>
            <p:cNvSpPr txBox="1"/>
            <p:nvPr/>
          </p:nvSpPr>
          <p:spPr>
            <a:xfrm>
              <a:off x="5369" y="6773"/>
              <a:ext cx="1590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特征工程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1" name="TextBox 189"/>
            <p:cNvSpPr txBox="1"/>
            <p:nvPr/>
          </p:nvSpPr>
          <p:spPr>
            <a:xfrm>
              <a:off x="7029" y="6773"/>
              <a:ext cx="1596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分布式存储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2" name="TextBox 190"/>
            <p:cNvSpPr txBox="1"/>
            <p:nvPr/>
          </p:nvSpPr>
          <p:spPr>
            <a:xfrm>
              <a:off x="9204" y="7240"/>
              <a:ext cx="1539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通道管理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3" name="TextBox 191"/>
            <p:cNvSpPr txBox="1"/>
            <p:nvPr/>
          </p:nvSpPr>
          <p:spPr>
            <a:xfrm>
              <a:off x="10795" y="7673"/>
              <a:ext cx="1653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联盟管理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4" name="TextBox 192"/>
            <p:cNvSpPr txBox="1"/>
            <p:nvPr/>
          </p:nvSpPr>
          <p:spPr>
            <a:xfrm>
              <a:off x="10795" y="7240"/>
              <a:ext cx="1653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自动化部署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5" name="TextBox 193"/>
            <p:cNvSpPr txBox="1"/>
            <p:nvPr/>
          </p:nvSpPr>
          <p:spPr>
            <a:xfrm>
              <a:off x="9203" y="6773"/>
              <a:ext cx="1540" cy="628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区块链浏览器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6" name="TextBox 194"/>
            <p:cNvSpPr txBox="1"/>
            <p:nvPr/>
          </p:nvSpPr>
          <p:spPr>
            <a:xfrm>
              <a:off x="10793" y="6773"/>
              <a:ext cx="1655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共识机制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7" name="TextBox 195"/>
            <p:cNvSpPr txBox="1"/>
            <p:nvPr/>
          </p:nvSpPr>
          <p:spPr>
            <a:xfrm>
              <a:off x="9203" y="7666"/>
              <a:ext cx="1539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链码管理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8" name="TextBox 196"/>
            <p:cNvSpPr txBox="1"/>
            <p:nvPr/>
          </p:nvSpPr>
          <p:spPr>
            <a:xfrm>
              <a:off x="13342" y="6773"/>
              <a:ext cx="1743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数据清洗服务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9" name="TextBox 197"/>
            <p:cNvSpPr txBox="1"/>
            <p:nvPr/>
          </p:nvSpPr>
          <p:spPr>
            <a:xfrm>
              <a:off x="13342" y="7671"/>
              <a:ext cx="1741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数据分析服务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0" name="TextBox 198"/>
            <p:cNvSpPr txBox="1"/>
            <p:nvPr/>
          </p:nvSpPr>
          <p:spPr>
            <a:xfrm>
              <a:off x="13343" y="7238"/>
              <a:ext cx="1740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数据仓库管理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5258" y="6665"/>
              <a:ext cx="3492" cy="1835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9009" y="6675"/>
              <a:ext cx="3700" cy="1832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63" name="矩形 162"/>
            <p:cNvSpPr/>
            <p:nvPr/>
          </p:nvSpPr>
          <p:spPr>
            <a:xfrm>
              <a:off x="13004" y="6642"/>
              <a:ext cx="2381" cy="1835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64" name="TextBox 167"/>
            <p:cNvSpPr txBox="1">
              <a:spLocks noChangeArrowheads="1"/>
            </p:cNvSpPr>
            <p:nvPr/>
          </p:nvSpPr>
          <p:spPr bwMode="auto">
            <a:xfrm>
              <a:off x="4724" y="6641"/>
              <a:ext cx="380" cy="18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核心技术层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6" name="TextBox 65"/>
            <p:cNvSpPr txBox="1"/>
            <p:nvPr/>
          </p:nvSpPr>
          <p:spPr>
            <a:xfrm>
              <a:off x="4687" y="1545"/>
              <a:ext cx="516" cy="1161"/>
            </a:xfrm>
            <a:prstGeom prst="rect">
              <a:avLst/>
            </a:prstGeom>
            <a:solidFill>
              <a:srgbClr val="BFE5FF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展示层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7" name="文本框 166"/>
            <p:cNvSpPr txBox="1"/>
            <p:nvPr/>
          </p:nvSpPr>
          <p:spPr>
            <a:xfrm>
              <a:off x="11981" y="1771"/>
              <a:ext cx="565" cy="7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...</a:t>
              </a:r>
              <a:endParaRPr lang="en-US" altLang="zh-CN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68" name="图片 167" descr="电脑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84" y="1431"/>
              <a:ext cx="921" cy="800"/>
            </a:xfrm>
            <a:prstGeom prst="rect">
              <a:avLst/>
            </a:prstGeom>
          </p:spPr>
        </p:pic>
        <p:pic>
          <p:nvPicPr>
            <p:cNvPr id="169" name="图片 168" descr="智能手机_smartphone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95" y="1546"/>
              <a:ext cx="629" cy="629"/>
            </a:xfrm>
            <a:prstGeom prst="rect">
              <a:avLst/>
            </a:prstGeom>
          </p:spPr>
        </p:pic>
        <p:pic>
          <p:nvPicPr>
            <p:cNvPr id="170" name="图片 169" descr="手机视频，平板电脑看剧，看片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27" y="1431"/>
              <a:ext cx="718" cy="718"/>
            </a:xfrm>
            <a:prstGeom prst="rect">
              <a:avLst/>
            </a:prstGeom>
          </p:spPr>
        </p:pic>
        <p:pic>
          <p:nvPicPr>
            <p:cNvPr id="171" name="图片 170" descr="智慧大屏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560" y="1657"/>
              <a:ext cx="654" cy="537"/>
            </a:xfrm>
            <a:prstGeom prst="rect">
              <a:avLst/>
            </a:prstGeom>
          </p:spPr>
        </p:pic>
        <p:sp>
          <p:nvSpPr>
            <p:cNvPr id="172" name="TextBox 65"/>
            <p:cNvSpPr txBox="1"/>
            <p:nvPr/>
          </p:nvSpPr>
          <p:spPr>
            <a:xfrm>
              <a:off x="4687" y="4132"/>
              <a:ext cx="417" cy="1840"/>
            </a:xfrm>
            <a:prstGeom prst="rect">
              <a:avLst/>
            </a:prstGeom>
            <a:solidFill>
              <a:srgbClr val="BFE5FF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应用服务层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TextBox 188"/>
            <p:cNvSpPr txBox="1"/>
            <p:nvPr/>
          </p:nvSpPr>
          <p:spPr>
            <a:xfrm>
              <a:off x="5359" y="460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商品管理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5" name="TextBox 188"/>
            <p:cNvSpPr txBox="1"/>
            <p:nvPr/>
          </p:nvSpPr>
          <p:spPr>
            <a:xfrm>
              <a:off x="6955" y="460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发货管理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8" name="TextBox 188"/>
            <p:cNvSpPr txBox="1"/>
            <p:nvPr/>
          </p:nvSpPr>
          <p:spPr>
            <a:xfrm>
              <a:off x="5354" y="509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购物车管理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9" name="TextBox 188"/>
            <p:cNvSpPr txBox="1"/>
            <p:nvPr/>
          </p:nvSpPr>
          <p:spPr>
            <a:xfrm>
              <a:off x="6950" y="5094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店铺管理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0" name="TextBox 188"/>
            <p:cNvSpPr txBox="1"/>
            <p:nvPr/>
          </p:nvSpPr>
          <p:spPr>
            <a:xfrm>
              <a:off x="5359" y="554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订单管理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1" name="TextBox 188"/>
            <p:cNvSpPr txBox="1"/>
            <p:nvPr/>
          </p:nvSpPr>
          <p:spPr>
            <a:xfrm>
              <a:off x="6955" y="554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2" name="TextBox 61"/>
            <p:cNvSpPr txBox="1"/>
            <p:nvPr/>
          </p:nvSpPr>
          <p:spPr>
            <a:xfrm>
              <a:off x="5291" y="4081"/>
              <a:ext cx="3277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电商应用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3" name="矩形 182"/>
            <p:cNvSpPr/>
            <p:nvPr/>
          </p:nvSpPr>
          <p:spPr>
            <a:xfrm>
              <a:off x="8733" y="4081"/>
              <a:ext cx="3407" cy="2003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84" name="TextBox 188"/>
            <p:cNvSpPr txBox="1"/>
            <p:nvPr/>
          </p:nvSpPr>
          <p:spPr>
            <a:xfrm>
              <a:off x="8874" y="460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库存管理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5" name="TextBox 188"/>
            <p:cNvSpPr txBox="1"/>
            <p:nvPr/>
          </p:nvSpPr>
          <p:spPr>
            <a:xfrm>
              <a:off x="10470" y="460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供应商管理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6" name="TextBox 188"/>
            <p:cNvSpPr txBox="1"/>
            <p:nvPr/>
          </p:nvSpPr>
          <p:spPr>
            <a:xfrm>
              <a:off x="8869" y="509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采购业务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7" name="TextBox 188"/>
            <p:cNvSpPr txBox="1"/>
            <p:nvPr/>
          </p:nvSpPr>
          <p:spPr>
            <a:xfrm>
              <a:off x="10465" y="5094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财务管理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8874" y="554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销售业务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0470" y="554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0" name="TextBox 61"/>
            <p:cNvSpPr txBox="1"/>
            <p:nvPr/>
          </p:nvSpPr>
          <p:spPr>
            <a:xfrm>
              <a:off x="8806" y="4081"/>
              <a:ext cx="3277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erp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应用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1" name="矩形 190"/>
            <p:cNvSpPr/>
            <p:nvPr/>
          </p:nvSpPr>
          <p:spPr>
            <a:xfrm>
              <a:off x="12243" y="4081"/>
              <a:ext cx="1765" cy="2003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92" name="TextBox 188"/>
            <p:cNvSpPr txBox="1"/>
            <p:nvPr/>
          </p:nvSpPr>
          <p:spPr>
            <a:xfrm>
              <a:off x="12384" y="4608"/>
              <a:ext cx="1511" cy="62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应收账款融资</a:t>
              </a:r>
              <a:endPara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4" name="TextBox 188"/>
            <p:cNvSpPr txBox="1"/>
            <p:nvPr/>
          </p:nvSpPr>
          <p:spPr>
            <a:xfrm>
              <a:off x="12379" y="5096"/>
              <a:ext cx="1511" cy="62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预付账款融资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6" name="TextBox 188"/>
            <p:cNvSpPr txBox="1"/>
            <p:nvPr/>
          </p:nvSpPr>
          <p:spPr>
            <a:xfrm>
              <a:off x="12384" y="5548"/>
              <a:ext cx="1511" cy="62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仓单质押融资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8" name="TextBox 61"/>
            <p:cNvSpPr txBox="1"/>
            <p:nvPr/>
          </p:nvSpPr>
          <p:spPr>
            <a:xfrm>
              <a:off x="12316" y="4081"/>
              <a:ext cx="1613" cy="7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供应链金融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9" name="矩形 198"/>
            <p:cNvSpPr/>
            <p:nvPr/>
          </p:nvSpPr>
          <p:spPr>
            <a:xfrm>
              <a:off x="14076" y="4081"/>
              <a:ext cx="1765" cy="2003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200" name="TextBox 188"/>
            <p:cNvSpPr txBox="1"/>
            <p:nvPr/>
          </p:nvSpPr>
          <p:spPr>
            <a:xfrm>
              <a:off x="14217" y="460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数据统计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1" name="TextBox 188"/>
            <p:cNvSpPr txBox="1"/>
            <p:nvPr/>
          </p:nvSpPr>
          <p:spPr>
            <a:xfrm>
              <a:off x="14212" y="509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数据分析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2" name="TextBox 188"/>
            <p:cNvSpPr txBox="1"/>
            <p:nvPr/>
          </p:nvSpPr>
          <p:spPr>
            <a:xfrm>
              <a:off x="14217" y="554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决策推送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3" name="TextBox 61"/>
            <p:cNvSpPr txBox="1"/>
            <p:nvPr/>
          </p:nvSpPr>
          <p:spPr>
            <a:xfrm>
              <a:off x="14149" y="4081"/>
              <a:ext cx="1613" cy="7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大数据决策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61975" y="2047875"/>
            <a:ext cx="436308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支持包括公有云、私有云、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Docker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云平台等多样化部署方式部署，可为客户提供个性化服务。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提供联邦计算平台、区块链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BaaS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平台、大数据计算中间件等核心组件，为业务层提供关键技术支撑与服务。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提供多样化、一体化的业务服务内容，具体包含电子商城、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ERP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供应链、基于区块链供应链金融以及大数据分析与决策应用服务。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拥有大数据分析平台、可以使用智慧大屏展示系统实时情况、同时提供多样化客户端供用户使用，用户可以在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、手机、平板等多个用户端完成业务操作。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2425" y="955040"/>
            <a:ext cx="476885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平台能够实现产业链业务</a:t>
            </a:r>
            <a:r>
              <a:rPr lang="zh-CN" altLang="en-US"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全</a:t>
            </a:r>
            <a:r>
              <a:rPr lang="zh-CN" altLang="en-US"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覆盖、从商品销售、供应链管理、供应链金融、大数据分析决策全生命周期管理。</a:t>
            </a:r>
            <a:endParaRPr lang="zh-CN" altLang="en-US" sz="1400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5" name="文本框 46"/>
          <p:cNvSpPr txBox="1"/>
          <p:nvPr/>
        </p:nvSpPr>
        <p:spPr>
          <a:xfrm>
            <a:off x="47625" y="2129790"/>
            <a:ext cx="708660" cy="52895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A.</a:t>
            </a:r>
            <a:endParaRPr lang="en-US" altLang="zh-CN" sz="30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937" name="文本框 46"/>
          <p:cNvSpPr txBox="1"/>
          <p:nvPr/>
        </p:nvSpPr>
        <p:spPr>
          <a:xfrm>
            <a:off x="6985" y="3127375"/>
            <a:ext cx="721995" cy="52895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B.</a:t>
            </a:r>
            <a:endParaRPr lang="en-US" altLang="zh-CN" sz="30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939" name="文本框 46"/>
          <p:cNvSpPr txBox="1"/>
          <p:nvPr/>
        </p:nvSpPr>
        <p:spPr>
          <a:xfrm>
            <a:off x="-24130" y="4265295"/>
            <a:ext cx="721995" cy="52895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C.</a:t>
            </a:r>
            <a:endParaRPr lang="en-US" altLang="zh-CN" sz="30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941" name="文本框 46"/>
          <p:cNvSpPr txBox="1"/>
          <p:nvPr/>
        </p:nvSpPr>
        <p:spPr>
          <a:xfrm>
            <a:off x="40640" y="5474335"/>
            <a:ext cx="595630" cy="52895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D.</a:t>
            </a:r>
            <a:endParaRPr lang="en-US" altLang="zh-CN" sz="30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41160" y="6308725"/>
            <a:ext cx="4885055" cy="460375"/>
            <a:chOff x="4661659" y="1133032"/>
            <a:chExt cx="8364827" cy="460001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5" name="文本框 34"/>
            <p:cNvSpPr txBox="1"/>
            <p:nvPr/>
          </p:nvSpPr>
          <p:spPr>
            <a:xfrm>
              <a:off x="4661659" y="1133032"/>
              <a:ext cx="8364827" cy="460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宋体" panose="02010600030101010101" pitchFamily="2" charset="-122"/>
                  <a:cs typeface="+mn-ea"/>
                  <a:sym typeface="+mn-lt"/>
                </a:rPr>
                <a:t>全产业链平台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宋体" panose="02010600030101010101" pitchFamily="2" charset="-122"/>
                  <a:cs typeface="+mn-ea"/>
                  <a:sym typeface="+mn-lt"/>
                </a:rPr>
                <a:t>-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宋体" panose="02010600030101010101" pitchFamily="2" charset="-122"/>
                  <a:cs typeface="+mn-ea"/>
                  <a:sym typeface="+mn-lt"/>
                </a:rPr>
                <a:t>总体架构图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688842" y="1140011"/>
              <a:ext cx="7589561" cy="369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5" grpId="0"/>
      <p:bldP spid="937" grpId="0"/>
      <p:bldP spid="939" grpId="0"/>
      <p:bldP spid="9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/>
          <p:nvPr/>
        </p:nvSpPr>
        <p:spPr>
          <a:xfrm>
            <a:off x="561975" y="245110"/>
            <a:ext cx="84747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产品简介</a:t>
            </a:r>
            <a:endParaRPr kumimoji="0" lang="zh-CN" altLang="en-US" sz="2800" b="1" i="0" u="none" strike="noStrike" kern="1200" cap="none" spc="0" normalizeH="0" baseline="0" noProof="0"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95" y="174625"/>
            <a:ext cx="281940" cy="66294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335905" y="116205"/>
            <a:ext cx="6668770" cy="5942330"/>
            <a:chOff x="4458" y="1344"/>
            <a:chExt cx="11423" cy="9358"/>
          </a:xfrm>
        </p:grpSpPr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4542" y="3915"/>
              <a:ext cx="11339" cy="2274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下箭头 63"/>
            <p:cNvSpPr/>
            <p:nvPr/>
          </p:nvSpPr>
          <p:spPr bwMode="auto">
            <a:xfrm flipV="1">
              <a:off x="9700" y="8688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下箭头 64"/>
            <p:cNvSpPr/>
            <p:nvPr/>
          </p:nvSpPr>
          <p:spPr bwMode="auto">
            <a:xfrm flipV="1">
              <a:off x="13699" y="8687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下箭头 65"/>
            <p:cNvSpPr/>
            <p:nvPr/>
          </p:nvSpPr>
          <p:spPr bwMode="auto">
            <a:xfrm flipV="1">
              <a:off x="6177" y="8688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下箭头 78"/>
            <p:cNvSpPr/>
            <p:nvPr/>
          </p:nvSpPr>
          <p:spPr bwMode="auto">
            <a:xfrm flipV="1">
              <a:off x="9797" y="6194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下箭头 79"/>
            <p:cNvSpPr/>
            <p:nvPr/>
          </p:nvSpPr>
          <p:spPr bwMode="auto">
            <a:xfrm flipV="1">
              <a:off x="13705" y="6212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下箭头 80"/>
            <p:cNvSpPr/>
            <p:nvPr/>
          </p:nvSpPr>
          <p:spPr bwMode="auto">
            <a:xfrm flipV="1">
              <a:off x="6219" y="6194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5218" y="4081"/>
              <a:ext cx="3407" cy="2003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02" name="Rectangle 7"/>
            <p:cNvSpPr>
              <a:spLocks noChangeArrowheads="1"/>
            </p:cNvSpPr>
            <p:nvPr/>
          </p:nvSpPr>
          <p:spPr bwMode="auto">
            <a:xfrm>
              <a:off x="4527" y="3132"/>
              <a:ext cx="11354" cy="458"/>
            </a:xfrm>
            <a:prstGeom prst="roundRect">
              <a:avLst>
                <a:gd name="adj" fmla="val 3505"/>
              </a:avLst>
            </a:prstGeom>
            <a:solidFill>
              <a:schemeClr val="accent2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ngnix/http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协议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/HTTPS/RESTFul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下箭头 102"/>
            <p:cNvSpPr/>
            <p:nvPr/>
          </p:nvSpPr>
          <p:spPr bwMode="auto">
            <a:xfrm flipV="1">
              <a:off x="9700" y="3590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下箭头 103"/>
            <p:cNvSpPr/>
            <p:nvPr/>
          </p:nvSpPr>
          <p:spPr bwMode="auto">
            <a:xfrm flipV="1">
              <a:off x="13605" y="3609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下箭头 104"/>
            <p:cNvSpPr/>
            <p:nvPr/>
          </p:nvSpPr>
          <p:spPr bwMode="auto">
            <a:xfrm flipV="1">
              <a:off x="6140" y="3590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下箭头 108"/>
            <p:cNvSpPr/>
            <p:nvPr/>
          </p:nvSpPr>
          <p:spPr bwMode="auto">
            <a:xfrm flipV="1">
              <a:off x="9718" y="2803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0" name="下箭头 109"/>
            <p:cNvSpPr/>
            <p:nvPr/>
          </p:nvSpPr>
          <p:spPr bwMode="auto">
            <a:xfrm flipV="1">
              <a:off x="13601" y="2822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下箭头 110"/>
            <p:cNvSpPr/>
            <p:nvPr/>
          </p:nvSpPr>
          <p:spPr bwMode="auto">
            <a:xfrm flipV="1">
              <a:off x="6158" y="2803"/>
              <a:ext cx="404" cy="306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Rectangle 7"/>
            <p:cNvSpPr>
              <a:spLocks noChangeArrowheads="1"/>
            </p:cNvSpPr>
            <p:nvPr/>
          </p:nvSpPr>
          <p:spPr bwMode="auto">
            <a:xfrm>
              <a:off x="4527" y="1344"/>
              <a:ext cx="11354" cy="1478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12700" cap="flat" cmpd="sng" algn="ctr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</a:pPr>
              <a:endParaRPr kumimoji="1" lang="en-US" altLang="zh-CN" sz="4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TextBox 218"/>
            <p:cNvSpPr txBox="1"/>
            <p:nvPr/>
          </p:nvSpPr>
          <p:spPr>
            <a:xfrm>
              <a:off x="7445" y="2175"/>
              <a:ext cx="1329" cy="386"/>
            </a:xfrm>
            <a:prstGeom prst="rect">
              <a:avLst/>
            </a:prstGeom>
            <a:solidFill>
              <a:srgbClr val="BFE5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智能手机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TextBox 219"/>
            <p:cNvSpPr txBox="1"/>
            <p:nvPr/>
          </p:nvSpPr>
          <p:spPr>
            <a:xfrm>
              <a:off x="5564" y="2175"/>
              <a:ext cx="1350" cy="386"/>
            </a:xfrm>
            <a:prstGeom prst="rect">
              <a:avLst/>
            </a:prstGeom>
            <a:solidFill>
              <a:srgbClr val="BFE5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电脑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TextBox 220"/>
            <p:cNvSpPr txBox="1"/>
            <p:nvPr/>
          </p:nvSpPr>
          <p:spPr>
            <a:xfrm>
              <a:off x="9487" y="2175"/>
              <a:ext cx="1329" cy="386"/>
            </a:xfrm>
            <a:prstGeom prst="rect">
              <a:avLst/>
            </a:prstGeom>
            <a:solidFill>
              <a:srgbClr val="BFE5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平板电脑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7" name="TextBox 222"/>
            <p:cNvSpPr txBox="1"/>
            <p:nvPr/>
          </p:nvSpPr>
          <p:spPr>
            <a:xfrm>
              <a:off x="13222" y="2175"/>
              <a:ext cx="1329" cy="386"/>
            </a:xfrm>
            <a:prstGeom prst="rect">
              <a:avLst/>
            </a:prstGeom>
            <a:solidFill>
              <a:srgbClr val="BFE5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触控大屏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458" y="9751"/>
              <a:ext cx="11338" cy="951"/>
              <a:chOff x="4725" y="9280"/>
              <a:chExt cx="11071" cy="951"/>
            </a:xfrm>
          </p:grpSpPr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4725" y="9465"/>
                <a:ext cx="11071" cy="766"/>
              </a:xfrm>
              <a:prstGeom prst="roundRect">
                <a:avLst>
                  <a:gd name="adj" fmla="val 3505"/>
                </a:avLst>
              </a:prstGeom>
              <a:solidFill>
                <a:srgbClr val="99CCFF"/>
              </a:solidFill>
              <a:ln w="9525">
                <a:noFill/>
                <a:round/>
              </a:ln>
              <a:effectLst>
                <a:outerShdw blurRad="63500"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spcBef>
                    <a:spcPct val="35000"/>
                  </a:spcBef>
                  <a:spcAft>
                    <a:spcPct val="15000"/>
                  </a:spcAft>
                  <a:buClr>
                    <a:srgbClr val="000000"/>
                  </a:buClr>
                  <a:buFont typeface="Arial" panose="020B0604020202020204" pitchFamily="34" charset="0"/>
                  <a:buNone/>
                  <a:defRPr/>
                </a:pPr>
                <a:endParaRPr lang="en-US" altLang="zh-CN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" name="TextBox 65"/>
              <p:cNvSpPr txBox="1"/>
              <p:nvPr/>
            </p:nvSpPr>
            <p:spPr>
              <a:xfrm>
                <a:off x="4792" y="9610"/>
                <a:ext cx="1523" cy="483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运行环境</a:t>
                </a:r>
                <a:endParaRPr lang="zh-CN" altLang="en-US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6443" y="9624"/>
                <a:ext cx="1457" cy="45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/>
                  <a:t>私有云</a:t>
                </a:r>
                <a:endParaRPr lang="zh-CN" altLang="en-US" sz="1200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8313" y="9624"/>
                <a:ext cx="1457" cy="45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JVM</a:t>
                </a:r>
                <a:endParaRPr lang="en-US" altLang="zh-CN" sz="120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10201" y="9624"/>
                <a:ext cx="1457" cy="45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/>
                  <a:t>公有云</a:t>
                </a:r>
                <a:endParaRPr lang="zh-CN" altLang="en-US" sz="1200"/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13569" y="9624"/>
                <a:ext cx="2002" cy="45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Docker</a:t>
                </a:r>
                <a:r>
                  <a:rPr lang="zh-CN" altLang="en-US" sz="1200">
                    <a:ea typeface="宋体" panose="02010600030101010101" pitchFamily="2" charset="-122"/>
                  </a:rPr>
                  <a:t>云平台</a:t>
                </a:r>
                <a:endParaRPr lang="zh-CN" altLang="en-US" sz="1200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2208" y="9280"/>
                <a:ext cx="565" cy="7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b="1">
                    <a:solidFill>
                      <a:srgbClr val="FF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...</a:t>
                </a:r>
                <a:endParaRPr lang="en-US" altLang="zh-CN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4514" y="8915"/>
              <a:ext cx="11282" cy="766"/>
            </a:xfrm>
            <a:prstGeom prst="roundRect">
              <a:avLst>
                <a:gd name="adj" fmla="val 350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TextBox 65"/>
            <p:cNvSpPr txBox="1"/>
            <p:nvPr/>
          </p:nvSpPr>
          <p:spPr>
            <a:xfrm>
              <a:off x="4493" y="9045"/>
              <a:ext cx="1435" cy="4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数据层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12208" y="8730"/>
              <a:ext cx="565" cy="7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...</a:t>
              </a:r>
              <a:endParaRPr lang="en-US" altLang="zh-CN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" name="下箭头 119"/>
            <p:cNvSpPr/>
            <p:nvPr/>
          </p:nvSpPr>
          <p:spPr bwMode="auto">
            <a:xfrm flipV="1">
              <a:off x="9700" y="9709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下箭头 120"/>
            <p:cNvSpPr/>
            <p:nvPr/>
          </p:nvSpPr>
          <p:spPr bwMode="auto">
            <a:xfrm flipV="1">
              <a:off x="13685" y="9708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下箭头 121"/>
            <p:cNvSpPr/>
            <p:nvPr/>
          </p:nvSpPr>
          <p:spPr bwMode="auto">
            <a:xfrm flipV="1">
              <a:off x="6177" y="9709"/>
              <a:ext cx="402" cy="208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6485" y="9044"/>
              <a:ext cx="1103" cy="942"/>
              <a:chOff x="5716" y="8412"/>
              <a:chExt cx="1610" cy="1884"/>
            </a:xfrm>
          </p:grpSpPr>
          <p:pic>
            <p:nvPicPr>
              <p:cNvPr id="130" name="图片 129" descr="mysql (1)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33" y="8412"/>
                <a:ext cx="1016" cy="680"/>
              </a:xfrm>
              <a:prstGeom prst="rect">
                <a:avLst/>
              </a:prstGeom>
            </p:spPr>
          </p:pic>
          <p:sp>
            <p:nvSpPr>
              <p:cNvPr id="131" name="文本框 130"/>
              <p:cNvSpPr txBox="1"/>
              <p:nvPr/>
            </p:nvSpPr>
            <p:spPr>
              <a:xfrm>
                <a:off x="5716" y="9136"/>
                <a:ext cx="1610" cy="1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/>
                  <a:t>MySQL</a:t>
                </a:r>
                <a:endParaRPr lang="en-US" altLang="zh-CN" sz="900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7689" y="8957"/>
              <a:ext cx="1303" cy="1026"/>
              <a:chOff x="7061" y="8305"/>
              <a:chExt cx="1729" cy="1912"/>
            </a:xfrm>
          </p:grpSpPr>
          <p:pic>
            <p:nvPicPr>
              <p:cNvPr id="133" name="图片 132" descr="mongodb 云数据库 MongoDB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9" y="8305"/>
                <a:ext cx="780" cy="960"/>
              </a:xfrm>
              <a:prstGeom prst="rect">
                <a:avLst/>
              </a:prstGeom>
            </p:spPr>
          </p:pic>
          <p:sp>
            <p:nvSpPr>
              <p:cNvPr id="134" name="文本框 133"/>
              <p:cNvSpPr txBox="1"/>
              <p:nvPr/>
            </p:nvSpPr>
            <p:spPr>
              <a:xfrm>
                <a:off x="7061" y="9136"/>
                <a:ext cx="1729" cy="1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/>
                  <a:t>MongoDB</a:t>
                </a:r>
                <a:endParaRPr lang="en-US" altLang="zh-CN" sz="900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8872" y="8997"/>
              <a:ext cx="1481" cy="771"/>
              <a:chOff x="9772" y="8692"/>
              <a:chExt cx="1481" cy="771"/>
            </a:xfrm>
          </p:grpSpPr>
          <p:pic>
            <p:nvPicPr>
              <p:cNvPr id="136" name="图片 135" descr="redis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62" y="8692"/>
                <a:ext cx="475" cy="475"/>
              </a:xfrm>
              <a:prstGeom prst="rect">
                <a:avLst/>
              </a:prstGeom>
            </p:spPr>
          </p:pic>
          <p:sp>
            <p:nvSpPr>
              <p:cNvPr id="137" name="文本框 136"/>
              <p:cNvSpPr txBox="1"/>
              <p:nvPr/>
            </p:nvSpPr>
            <p:spPr>
              <a:xfrm>
                <a:off x="9772" y="9101"/>
                <a:ext cx="1481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/>
                  <a:t>Redis</a:t>
                </a:r>
                <a:endParaRPr lang="en-US" altLang="zh-CN" sz="900"/>
              </a:p>
            </p:txBody>
          </p:sp>
        </p:grpSp>
        <p:pic>
          <p:nvPicPr>
            <p:cNvPr id="138" name="图片 137" descr="CouchDB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08" y="8917"/>
              <a:ext cx="595" cy="595"/>
            </a:xfrm>
            <a:prstGeom prst="rect">
              <a:avLst/>
            </a:prstGeom>
          </p:spPr>
        </p:pic>
        <p:sp>
          <p:nvSpPr>
            <p:cNvPr id="139" name="文本框 138"/>
            <p:cNvSpPr txBox="1"/>
            <p:nvPr/>
          </p:nvSpPr>
          <p:spPr>
            <a:xfrm>
              <a:off x="10054" y="9402"/>
              <a:ext cx="14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/>
                <a:t>couchdb</a:t>
              </a:r>
              <a:endParaRPr lang="en-US" altLang="zh-CN" sz="900"/>
            </a:p>
          </p:txBody>
        </p:sp>
        <p:pic>
          <p:nvPicPr>
            <p:cNvPr id="140" name="图片 139" descr="hadoop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95" y="8915"/>
              <a:ext cx="783" cy="589"/>
            </a:xfrm>
            <a:prstGeom prst="rect">
              <a:avLst/>
            </a:prstGeom>
          </p:spPr>
        </p:pic>
        <p:sp>
          <p:nvSpPr>
            <p:cNvPr id="141" name="文本框 140"/>
            <p:cNvSpPr txBox="1"/>
            <p:nvPr/>
          </p:nvSpPr>
          <p:spPr>
            <a:xfrm>
              <a:off x="13163" y="9406"/>
              <a:ext cx="14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/>
                <a:t>hadoop</a:t>
              </a:r>
              <a:endParaRPr lang="en-US" altLang="zh-CN" sz="900"/>
            </a:p>
          </p:txBody>
        </p:sp>
        <p:sp>
          <p:nvSpPr>
            <p:cNvPr id="142" name="Rectangle 7"/>
            <p:cNvSpPr>
              <a:spLocks noChangeArrowheads="1"/>
            </p:cNvSpPr>
            <p:nvPr/>
          </p:nvSpPr>
          <p:spPr bwMode="auto">
            <a:xfrm>
              <a:off x="4515" y="6494"/>
              <a:ext cx="11296" cy="2134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" name="TextBox 61"/>
            <p:cNvSpPr txBox="1"/>
            <p:nvPr/>
          </p:nvSpPr>
          <p:spPr>
            <a:xfrm>
              <a:off x="5605" y="8071"/>
              <a:ext cx="2976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联邦计算平台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4" name="TextBox 62"/>
            <p:cNvSpPr txBox="1"/>
            <p:nvPr/>
          </p:nvSpPr>
          <p:spPr>
            <a:xfrm>
              <a:off x="12596" y="8071"/>
              <a:ext cx="2970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大数据计算中间件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TextBox 65"/>
            <p:cNvSpPr txBox="1"/>
            <p:nvPr/>
          </p:nvSpPr>
          <p:spPr>
            <a:xfrm>
              <a:off x="9080" y="8081"/>
              <a:ext cx="3031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区块链</a:t>
              </a:r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BaaS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平台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6" name="TextBox 86"/>
            <p:cNvSpPr txBox="1"/>
            <p:nvPr/>
          </p:nvSpPr>
          <p:spPr>
            <a:xfrm>
              <a:off x="5363" y="7637"/>
              <a:ext cx="1592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建模可视化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7" name="TextBox 185"/>
            <p:cNvSpPr txBox="1"/>
            <p:nvPr/>
          </p:nvSpPr>
          <p:spPr>
            <a:xfrm>
              <a:off x="5364" y="7206"/>
              <a:ext cx="1590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在线推理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8" name="TextBox 186"/>
            <p:cNvSpPr txBox="1"/>
            <p:nvPr/>
          </p:nvSpPr>
          <p:spPr>
            <a:xfrm>
              <a:off x="7029" y="7639"/>
              <a:ext cx="1596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算法组件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9" name="TextBox 187"/>
            <p:cNvSpPr txBox="1"/>
            <p:nvPr/>
          </p:nvSpPr>
          <p:spPr>
            <a:xfrm>
              <a:off x="7029" y="7206"/>
              <a:ext cx="1596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联邦建模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0" name="TextBox 188"/>
            <p:cNvSpPr txBox="1"/>
            <p:nvPr/>
          </p:nvSpPr>
          <p:spPr>
            <a:xfrm>
              <a:off x="5369" y="6773"/>
              <a:ext cx="1590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特征工程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1" name="TextBox 189"/>
            <p:cNvSpPr txBox="1"/>
            <p:nvPr/>
          </p:nvSpPr>
          <p:spPr>
            <a:xfrm>
              <a:off x="7029" y="6773"/>
              <a:ext cx="1596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分布式存储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2" name="TextBox 190"/>
            <p:cNvSpPr txBox="1"/>
            <p:nvPr/>
          </p:nvSpPr>
          <p:spPr>
            <a:xfrm>
              <a:off x="9204" y="7240"/>
              <a:ext cx="1539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通道管理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3" name="TextBox 191"/>
            <p:cNvSpPr txBox="1"/>
            <p:nvPr/>
          </p:nvSpPr>
          <p:spPr>
            <a:xfrm>
              <a:off x="10795" y="7673"/>
              <a:ext cx="1653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联盟管理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4" name="TextBox 192"/>
            <p:cNvSpPr txBox="1"/>
            <p:nvPr/>
          </p:nvSpPr>
          <p:spPr>
            <a:xfrm>
              <a:off x="10795" y="7240"/>
              <a:ext cx="1653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自动化部署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5" name="TextBox 193"/>
            <p:cNvSpPr txBox="1"/>
            <p:nvPr/>
          </p:nvSpPr>
          <p:spPr>
            <a:xfrm>
              <a:off x="9203" y="6773"/>
              <a:ext cx="1688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区块链浏览器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6" name="TextBox 194"/>
            <p:cNvSpPr txBox="1"/>
            <p:nvPr/>
          </p:nvSpPr>
          <p:spPr>
            <a:xfrm>
              <a:off x="10891" y="6773"/>
              <a:ext cx="1558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共识机制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7" name="TextBox 195"/>
            <p:cNvSpPr txBox="1"/>
            <p:nvPr/>
          </p:nvSpPr>
          <p:spPr>
            <a:xfrm>
              <a:off x="9203" y="7666"/>
              <a:ext cx="1539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链码管理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8" name="TextBox 196"/>
            <p:cNvSpPr txBox="1"/>
            <p:nvPr/>
          </p:nvSpPr>
          <p:spPr>
            <a:xfrm>
              <a:off x="13342" y="6773"/>
              <a:ext cx="1743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数据清洗服务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9" name="TextBox 197"/>
            <p:cNvSpPr txBox="1"/>
            <p:nvPr/>
          </p:nvSpPr>
          <p:spPr>
            <a:xfrm>
              <a:off x="13342" y="7671"/>
              <a:ext cx="1741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数据分析服务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0" name="TextBox 198"/>
            <p:cNvSpPr txBox="1"/>
            <p:nvPr/>
          </p:nvSpPr>
          <p:spPr>
            <a:xfrm>
              <a:off x="13343" y="7238"/>
              <a:ext cx="1740" cy="386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数据仓库管理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5258" y="6665"/>
              <a:ext cx="3492" cy="1835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9009" y="6675"/>
              <a:ext cx="3700" cy="1832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63" name="矩形 162"/>
            <p:cNvSpPr/>
            <p:nvPr/>
          </p:nvSpPr>
          <p:spPr>
            <a:xfrm>
              <a:off x="13004" y="6642"/>
              <a:ext cx="2381" cy="1835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64" name="TextBox 167"/>
            <p:cNvSpPr txBox="1">
              <a:spLocks noChangeArrowheads="1"/>
            </p:cNvSpPr>
            <p:nvPr/>
          </p:nvSpPr>
          <p:spPr bwMode="auto">
            <a:xfrm>
              <a:off x="4724" y="6641"/>
              <a:ext cx="380" cy="18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核心技术层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6" name="TextBox 65"/>
            <p:cNvSpPr txBox="1"/>
            <p:nvPr/>
          </p:nvSpPr>
          <p:spPr>
            <a:xfrm>
              <a:off x="4687" y="1545"/>
              <a:ext cx="516" cy="1161"/>
            </a:xfrm>
            <a:prstGeom prst="rect">
              <a:avLst/>
            </a:prstGeom>
            <a:solidFill>
              <a:srgbClr val="BFE5FF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展示层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7" name="文本框 166"/>
            <p:cNvSpPr txBox="1"/>
            <p:nvPr/>
          </p:nvSpPr>
          <p:spPr>
            <a:xfrm>
              <a:off x="11981" y="1771"/>
              <a:ext cx="565" cy="7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...</a:t>
              </a:r>
              <a:endParaRPr lang="en-US" altLang="zh-CN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68" name="图片 167" descr="电脑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84" y="1431"/>
              <a:ext cx="921" cy="800"/>
            </a:xfrm>
            <a:prstGeom prst="rect">
              <a:avLst/>
            </a:prstGeom>
          </p:spPr>
        </p:pic>
        <p:pic>
          <p:nvPicPr>
            <p:cNvPr id="169" name="图片 168" descr="智能手机_smartphone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95" y="1546"/>
              <a:ext cx="629" cy="629"/>
            </a:xfrm>
            <a:prstGeom prst="rect">
              <a:avLst/>
            </a:prstGeom>
          </p:spPr>
        </p:pic>
        <p:pic>
          <p:nvPicPr>
            <p:cNvPr id="170" name="图片 169" descr="手机视频，平板电脑看剧，看片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27" y="1431"/>
              <a:ext cx="718" cy="718"/>
            </a:xfrm>
            <a:prstGeom prst="rect">
              <a:avLst/>
            </a:prstGeom>
          </p:spPr>
        </p:pic>
        <p:pic>
          <p:nvPicPr>
            <p:cNvPr id="171" name="图片 170" descr="智慧大屏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560" y="1657"/>
              <a:ext cx="654" cy="537"/>
            </a:xfrm>
            <a:prstGeom prst="rect">
              <a:avLst/>
            </a:prstGeom>
          </p:spPr>
        </p:pic>
        <p:sp>
          <p:nvSpPr>
            <p:cNvPr id="172" name="TextBox 65"/>
            <p:cNvSpPr txBox="1"/>
            <p:nvPr/>
          </p:nvSpPr>
          <p:spPr>
            <a:xfrm>
              <a:off x="4687" y="4132"/>
              <a:ext cx="417" cy="1840"/>
            </a:xfrm>
            <a:prstGeom prst="rect">
              <a:avLst/>
            </a:prstGeom>
            <a:solidFill>
              <a:srgbClr val="BFE5FF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应用服务层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TextBox 188"/>
            <p:cNvSpPr txBox="1"/>
            <p:nvPr/>
          </p:nvSpPr>
          <p:spPr>
            <a:xfrm>
              <a:off x="5359" y="460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商品管理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5" name="TextBox 188"/>
            <p:cNvSpPr txBox="1"/>
            <p:nvPr/>
          </p:nvSpPr>
          <p:spPr>
            <a:xfrm>
              <a:off x="6955" y="460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发货管理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8" name="TextBox 188"/>
            <p:cNvSpPr txBox="1"/>
            <p:nvPr/>
          </p:nvSpPr>
          <p:spPr>
            <a:xfrm>
              <a:off x="5354" y="509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购物车管理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9" name="TextBox 188"/>
            <p:cNvSpPr txBox="1"/>
            <p:nvPr/>
          </p:nvSpPr>
          <p:spPr>
            <a:xfrm>
              <a:off x="6950" y="5094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店铺管理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0" name="TextBox 188"/>
            <p:cNvSpPr txBox="1"/>
            <p:nvPr/>
          </p:nvSpPr>
          <p:spPr>
            <a:xfrm>
              <a:off x="5359" y="554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订单管理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1" name="TextBox 188"/>
            <p:cNvSpPr txBox="1"/>
            <p:nvPr/>
          </p:nvSpPr>
          <p:spPr>
            <a:xfrm>
              <a:off x="6955" y="554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2" name="TextBox 61"/>
            <p:cNvSpPr txBox="1"/>
            <p:nvPr/>
          </p:nvSpPr>
          <p:spPr>
            <a:xfrm>
              <a:off x="5291" y="4081"/>
              <a:ext cx="3277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电商应用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3" name="矩形 182"/>
            <p:cNvSpPr/>
            <p:nvPr/>
          </p:nvSpPr>
          <p:spPr>
            <a:xfrm>
              <a:off x="8733" y="4081"/>
              <a:ext cx="3407" cy="2003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84" name="TextBox 188"/>
            <p:cNvSpPr txBox="1"/>
            <p:nvPr/>
          </p:nvSpPr>
          <p:spPr>
            <a:xfrm>
              <a:off x="8874" y="460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库存管理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5" name="TextBox 188"/>
            <p:cNvSpPr txBox="1"/>
            <p:nvPr/>
          </p:nvSpPr>
          <p:spPr>
            <a:xfrm>
              <a:off x="10470" y="460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供应商管理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6" name="TextBox 188"/>
            <p:cNvSpPr txBox="1"/>
            <p:nvPr/>
          </p:nvSpPr>
          <p:spPr>
            <a:xfrm>
              <a:off x="8869" y="509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采购业务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7" name="TextBox 188"/>
            <p:cNvSpPr txBox="1"/>
            <p:nvPr/>
          </p:nvSpPr>
          <p:spPr>
            <a:xfrm>
              <a:off x="10465" y="5094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财务管理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8874" y="554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销售业务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0470" y="554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0" name="TextBox 61"/>
            <p:cNvSpPr txBox="1"/>
            <p:nvPr/>
          </p:nvSpPr>
          <p:spPr>
            <a:xfrm>
              <a:off x="8806" y="4081"/>
              <a:ext cx="3277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</a:rPr>
                <a:t>ERP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应用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1" name="矩形 190"/>
            <p:cNvSpPr/>
            <p:nvPr/>
          </p:nvSpPr>
          <p:spPr>
            <a:xfrm>
              <a:off x="12243" y="4081"/>
              <a:ext cx="1765" cy="2003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92" name="TextBox 188"/>
            <p:cNvSpPr txBox="1"/>
            <p:nvPr/>
          </p:nvSpPr>
          <p:spPr>
            <a:xfrm>
              <a:off x="12330" y="4608"/>
              <a:ext cx="162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应收账款融资</a:t>
              </a:r>
              <a:endPara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4" name="TextBox 188"/>
            <p:cNvSpPr txBox="1"/>
            <p:nvPr/>
          </p:nvSpPr>
          <p:spPr>
            <a:xfrm>
              <a:off x="12325" y="5096"/>
              <a:ext cx="1630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预付账款融资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6" name="TextBox 188"/>
            <p:cNvSpPr txBox="1"/>
            <p:nvPr/>
          </p:nvSpPr>
          <p:spPr>
            <a:xfrm>
              <a:off x="12339" y="5548"/>
              <a:ext cx="1620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仓单质押融资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8" name="TextBox 61"/>
            <p:cNvSpPr txBox="1"/>
            <p:nvPr/>
          </p:nvSpPr>
          <p:spPr>
            <a:xfrm>
              <a:off x="12316" y="4081"/>
              <a:ext cx="1760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供应链金融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9" name="矩形 198"/>
            <p:cNvSpPr/>
            <p:nvPr/>
          </p:nvSpPr>
          <p:spPr>
            <a:xfrm>
              <a:off x="14076" y="4081"/>
              <a:ext cx="1765" cy="2003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200" name="TextBox 188"/>
            <p:cNvSpPr txBox="1"/>
            <p:nvPr/>
          </p:nvSpPr>
          <p:spPr>
            <a:xfrm>
              <a:off x="14217" y="460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数据统计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1" name="TextBox 188"/>
            <p:cNvSpPr txBox="1"/>
            <p:nvPr/>
          </p:nvSpPr>
          <p:spPr>
            <a:xfrm>
              <a:off x="14212" y="5096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数据分析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2" name="TextBox 188"/>
            <p:cNvSpPr txBox="1"/>
            <p:nvPr/>
          </p:nvSpPr>
          <p:spPr>
            <a:xfrm>
              <a:off x="14217" y="5548"/>
              <a:ext cx="1511" cy="38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决策推送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3" name="TextBox 61"/>
            <p:cNvSpPr txBox="1"/>
            <p:nvPr/>
          </p:nvSpPr>
          <p:spPr>
            <a:xfrm>
              <a:off x="14063" y="4081"/>
              <a:ext cx="1753" cy="43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大数据决策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61975" y="2047875"/>
            <a:ext cx="436308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支持包括公有云、私有云、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Docker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云平台等多样化部署方式部署，可为客户提供个性化服务。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提供联邦计算平台、区块链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BaaS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平台、大数据计算中间件等核心组件，为业务层提供关键技术支撑与服务。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提供多样化、一体化的业务服务内容，具体包含电子商城、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ERP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供应链、基于区块链供应链金融以及大数据分析与决策应用服务。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拥有大数据分析平台、可以使用智慧大屏展示系统实时情况、同时提供多样化客户端供用户使用，用户可以在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、手机、平板等多个用户端完成业务操作。</a:t>
            </a: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2425" y="955040"/>
            <a:ext cx="476885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平台能够实现产业链业务</a:t>
            </a:r>
            <a:r>
              <a:rPr lang="zh-CN" altLang="en-US"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全</a:t>
            </a:r>
            <a:r>
              <a:rPr lang="zh-CN" altLang="en-US"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覆盖、从商品销售、供应链管理、供应链金融、大数据分析决策全生命周期管理。</a:t>
            </a:r>
            <a:endParaRPr lang="zh-CN" altLang="en-US" sz="1400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5" name="文本框 46"/>
          <p:cNvSpPr txBox="1"/>
          <p:nvPr/>
        </p:nvSpPr>
        <p:spPr>
          <a:xfrm>
            <a:off x="47625" y="2129790"/>
            <a:ext cx="708660" cy="52895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A.</a:t>
            </a:r>
            <a:endParaRPr lang="en-US" altLang="zh-CN" sz="30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937" name="文本框 46"/>
          <p:cNvSpPr txBox="1"/>
          <p:nvPr/>
        </p:nvSpPr>
        <p:spPr>
          <a:xfrm>
            <a:off x="6985" y="3127375"/>
            <a:ext cx="721995" cy="52895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B.</a:t>
            </a:r>
            <a:endParaRPr lang="en-US" altLang="zh-CN" sz="30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939" name="文本框 46"/>
          <p:cNvSpPr txBox="1"/>
          <p:nvPr/>
        </p:nvSpPr>
        <p:spPr>
          <a:xfrm>
            <a:off x="-24130" y="4265295"/>
            <a:ext cx="721995" cy="52895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C.</a:t>
            </a:r>
            <a:endParaRPr lang="en-US" altLang="zh-CN" sz="30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941" name="文本框 46"/>
          <p:cNvSpPr txBox="1"/>
          <p:nvPr/>
        </p:nvSpPr>
        <p:spPr>
          <a:xfrm>
            <a:off x="40640" y="5474335"/>
            <a:ext cx="595630" cy="52895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algn="ctr"/>
            <a:r>
              <a:rPr lang="en-US" altLang="zh-CN" sz="30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D.</a:t>
            </a:r>
            <a:endParaRPr lang="en-US" altLang="zh-CN" sz="30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41160" y="6308725"/>
            <a:ext cx="4885055" cy="460375"/>
            <a:chOff x="4661659" y="1133032"/>
            <a:chExt cx="8364827" cy="460001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5" name="文本框 34"/>
            <p:cNvSpPr txBox="1"/>
            <p:nvPr/>
          </p:nvSpPr>
          <p:spPr>
            <a:xfrm>
              <a:off x="4661659" y="1133032"/>
              <a:ext cx="8364827" cy="460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宋体" panose="02010600030101010101" pitchFamily="2" charset="-122"/>
                  <a:cs typeface="+mn-ea"/>
                  <a:sym typeface="+mn-lt"/>
                </a:rPr>
                <a:t>全产业链平台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宋体" panose="02010600030101010101" pitchFamily="2" charset="-122"/>
                  <a:cs typeface="+mn-ea"/>
                  <a:sym typeface="+mn-lt"/>
                </a:rPr>
                <a:t>-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ea typeface="宋体" panose="02010600030101010101" pitchFamily="2" charset="-122"/>
                  <a:cs typeface="+mn-ea"/>
                  <a:sym typeface="+mn-lt"/>
                </a:rPr>
                <a:t>总体架构图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688842" y="1140011"/>
              <a:ext cx="7589561" cy="369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5" grpId="0"/>
      <p:bldP spid="937" grpId="0"/>
      <p:bldP spid="939" grpId="0"/>
      <p:bldP spid="9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8"/>
          <p:cNvSpPr/>
          <p:nvPr/>
        </p:nvSpPr>
        <p:spPr>
          <a:xfrm>
            <a:off x="78740" y="2038985"/>
            <a:ext cx="9794240" cy="148399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1489625" y="218014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仿真</a:t>
            </a:r>
            <a:r>
              <a:rPr kumimoji="0" lang="zh-CN" sz="1400" b="0" i="0" u="none" strike="noStrike" kern="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迭代验证</a:t>
            </a:r>
            <a:endParaRPr kumimoji="0" lang="zh-CN" sz="1400" b="0" i="0" u="none" strike="noStrike" kern="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1489625" y="287770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altLang="en-US" sz="1400" kern="0" spc="-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+mn-ea"/>
              </a:rPr>
              <a:t>仿真虚实反馈</a:t>
            </a:r>
            <a:endParaRPr kumimoji="0" lang="zh-CN" altLang="en-US" sz="14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7518" y="2518886"/>
            <a:ext cx="11074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中间件层</a:t>
            </a:r>
            <a:endParaRPr 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95624" y="88776"/>
            <a:ext cx="9744987" cy="1797017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77518" y="970336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应用层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1380913" y="2922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kumimoji="0" lang="zh-CN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成型制造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78740" y="6055995"/>
            <a:ext cx="9807575" cy="622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0674" y="6219222"/>
            <a:ext cx="17373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基础设施层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3553376" y="612191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云计算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5550373" y="61120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人工智能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4" name="CustomShape 9"/>
          <p:cNvSpPr/>
          <p:nvPr/>
        </p:nvSpPr>
        <p:spPr>
          <a:xfrm>
            <a:off x="7547966" y="61120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区块链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3350" y="3931285"/>
            <a:ext cx="7459344" cy="1906270"/>
            <a:chOff x="133088" y="3931233"/>
            <a:chExt cx="7264062" cy="1906270"/>
          </a:xfrm>
        </p:grpSpPr>
        <p:sp>
          <p:nvSpPr>
            <p:cNvPr id="45" name="文本框 44"/>
            <p:cNvSpPr txBox="1"/>
            <p:nvPr/>
          </p:nvSpPr>
          <p:spPr>
            <a:xfrm>
              <a:off x="133088" y="4578092"/>
              <a:ext cx="25038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latin typeface="+mn-ea"/>
                </a:defRPr>
              </a:lvl1pPr>
            </a:lstStyle>
            <a:p>
              <a:r>
                <a:rPr lang="zh-CN" altLang="en-US" b="0" dirty="0">
                  <a:latin typeface="黑体" panose="02010609060101010101" charset="-122"/>
                  <a:ea typeface="黑体" panose="02010609060101010101" charset="-122"/>
                </a:rPr>
                <a:t>共性技术层</a:t>
              </a:r>
              <a:endParaRPr lang="zh-CN" altLang="en-US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471254" y="3931233"/>
              <a:ext cx="1724651" cy="18954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数字仿真</a:t>
              </a:r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658872" y="4526863"/>
              <a:ext cx="1360170" cy="502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数学建模</a:t>
              </a:r>
              <a:endParaRPr lang="zh-CN" altLang="en-US" sz="1600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652224" y="5174563"/>
              <a:ext cx="1358265" cy="5149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600" dirty="0"/>
                <a:t>半实物建模</a:t>
              </a:r>
              <a:endParaRPr lang="zh-CN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03432" y="3942028"/>
              <a:ext cx="1744439" cy="18954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数据仿真</a:t>
              </a:r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798204" y="4546548"/>
              <a:ext cx="1386399" cy="502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数据关系构建</a:t>
              </a:r>
              <a:endParaRPr lang="zh-CN" altLang="en-US" sz="16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792024" y="5187263"/>
              <a:ext cx="1388254" cy="5149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智能分析</a:t>
              </a:r>
              <a:endParaRPr lang="zh-CN" sz="1600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720114" y="3942028"/>
              <a:ext cx="1677036" cy="18954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安全</a:t>
              </a:r>
              <a:r>
                <a:rPr lang="en-US" altLang="zh-CN" b="1" dirty="0"/>
                <a:t>&amp;</a:t>
              </a:r>
              <a:r>
                <a:rPr lang="zh-CN" altLang="en-US" b="1" dirty="0"/>
                <a:t>隐私</a:t>
              </a:r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  <a:p>
              <a:pPr algn="ctr"/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5929748" y="4546548"/>
              <a:ext cx="1304925" cy="502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隐私计算</a:t>
              </a:r>
              <a:endParaRPr lang="zh-CN" altLang="en-US" sz="16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920489" y="5187263"/>
              <a:ext cx="1323340" cy="5149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600" dirty="0"/>
                <a:t>安全</a:t>
              </a:r>
              <a:r>
                <a:rPr lang="en-US" altLang="zh-CN" sz="1600" dirty="0"/>
                <a:t>&amp;</a:t>
              </a:r>
              <a:r>
                <a:rPr lang="zh-CN" altLang="en-US" sz="1600" dirty="0"/>
                <a:t>溯源</a:t>
              </a:r>
              <a:endParaRPr lang="zh-CN" sz="1600" dirty="0"/>
            </a:p>
          </p:txBody>
        </p:sp>
      </p:grpSp>
      <p:sp>
        <p:nvSpPr>
          <p:cNvPr id="30" name="CustomShape 9"/>
          <p:cNvSpPr/>
          <p:nvPr/>
        </p:nvSpPr>
        <p:spPr>
          <a:xfrm>
            <a:off x="3612947" y="218014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+mn-ea"/>
              </a:rPr>
              <a:t>深层次关系挖掘</a:t>
            </a:r>
            <a:endParaRPr lang="zh-CN" altLang="en-US" sz="14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31" name="CustomShape 13"/>
          <p:cNvSpPr/>
          <p:nvPr/>
        </p:nvSpPr>
        <p:spPr>
          <a:xfrm>
            <a:off x="3612947" y="287770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altLang="en-US" sz="1400" kern="0" spc="-1" dirty="0">
                <a:solidFill>
                  <a:srgbClr val="FFFFFF"/>
                </a:solidFill>
                <a:sym typeface="+mn-ea"/>
              </a:rPr>
              <a:t>智能决策</a:t>
            </a:r>
            <a:endParaRPr lang="en-US" altLang="zh-CN" sz="14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5688092" y="2180147"/>
            <a:ext cx="1740909" cy="517938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buClrTx/>
              <a:buSzTx/>
              <a:buFontTx/>
              <a:defRPr/>
            </a:pPr>
            <a:r>
              <a:rPr lang="zh-CN" altLang="en-US" sz="1400" kern="0" spc="-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+mn-ea"/>
              </a:rPr>
              <a:t>区块链溯源</a:t>
            </a:r>
            <a:endParaRPr lang="zh-CN" altLang="en-US" sz="1400" kern="0" spc="-1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3" name="CustomShape 13"/>
          <p:cNvSpPr/>
          <p:nvPr/>
        </p:nvSpPr>
        <p:spPr>
          <a:xfrm>
            <a:off x="5706466" y="2867615"/>
            <a:ext cx="1722535" cy="489307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dirty="0">
                <a:solidFill>
                  <a:schemeClr val="bg2"/>
                </a:solidFill>
                <a:latin typeface="DejaVu Sans"/>
              </a:rPr>
              <a:t>安全标准与</a:t>
            </a:r>
            <a:endParaRPr lang="zh-CN" altLang="en-US" sz="1400" kern="0" spc="-1" dirty="0">
              <a:solidFill>
                <a:schemeClr val="bg2"/>
              </a:solidFill>
              <a:latin typeface="DejaVu Sans"/>
            </a:endParaRPr>
          </a:p>
          <a:p>
            <a:pPr algn="ctr">
              <a:defRPr/>
            </a:pPr>
            <a:r>
              <a:rPr lang="zh-CN" altLang="en-US" sz="1400" kern="0" spc="-1" dirty="0">
                <a:solidFill>
                  <a:schemeClr val="bg2"/>
                </a:solidFill>
                <a:latin typeface="DejaVu Sans"/>
              </a:rPr>
              <a:t>隐私保护</a:t>
            </a:r>
            <a:endParaRPr lang="zh-CN" altLang="en-US" sz="1400" kern="0" spc="-1" dirty="0">
              <a:solidFill>
                <a:schemeClr val="bg2"/>
              </a:solidFill>
              <a:latin typeface="DejaVu San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381615" y="2321560"/>
            <a:ext cx="1713865" cy="426656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0593070" y="3137535"/>
            <a:ext cx="1323975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产业链信息融合框架</a:t>
            </a:r>
            <a:endParaRPr lang="zh-CN" altLang="en-US" sz="2000" dirty="0"/>
          </a:p>
        </p:txBody>
      </p:sp>
      <p:sp>
        <p:nvSpPr>
          <p:cNvPr id="36" name="箭头: 右 35"/>
          <p:cNvSpPr/>
          <p:nvPr/>
        </p:nvSpPr>
        <p:spPr>
          <a:xfrm>
            <a:off x="9886315" y="2826385"/>
            <a:ext cx="478155" cy="342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10631805" y="2555875"/>
            <a:ext cx="125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latin typeface="+mn-ea"/>
              </a:defRPr>
            </a:lvl1pPr>
          </a:lstStyle>
          <a:p>
            <a:r>
              <a:rPr lang="zh-CN" altLang="en-US" sz="2000" b="0" dirty="0">
                <a:latin typeface="黑体" panose="02010609060101010101" charset="-122"/>
                <a:ea typeface="黑体" panose="02010609060101010101" charset="-122"/>
              </a:rPr>
              <a:t>平台架构</a:t>
            </a:r>
            <a:endParaRPr lang="zh-CN" altLang="en-US" sz="2000" b="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0587990" y="4777105"/>
            <a:ext cx="1323975" cy="1160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汽车玻璃设计仿真框架</a:t>
            </a:r>
            <a:endParaRPr lang="zh-CN" altLang="en-US" sz="2000" dirty="0"/>
          </a:p>
        </p:txBody>
      </p:sp>
      <p:sp>
        <p:nvSpPr>
          <p:cNvPr id="88" name="箭头: 下 87"/>
          <p:cNvSpPr/>
          <p:nvPr/>
        </p:nvSpPr>
        <p:spPr>
          <a:xfrm rot="10800000">
            <a:off x="11083290" y="1909445"/>
            <a:ext cx="307975" cy="3803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/>
        </p:nvCxnSpPr>
        <p:spPr>
          <a:xfrm flipV="1">
            <a:off x="1471295" y="2771775"/>
            <a:ext cx="8138795" cy="635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stomShape 9"/>
          <p:cNvSpPr/>
          <p:nvPr/>
        </p:nvSpPr>
        <p:spPr>
          <a:xfrm>
            <a:off x="3487414" y="2836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kumimoji="0" lang="zh-CN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加热丝布置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6" name="CustomShape 9"/>
          <p:cNvSpPr/>
          <p:nvPr/>
        </p:nvSpPr>
        <p:spPr>
          <a:xfrm>
            <a:off x="5648595" y="2922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altLang="en-US" sz="1600" kern="0" spc="-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sym typeface="+mn-ea"/>
              </a:rPr>
              <a:t>玻璃运动方案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8" name="CustomShape 9"/>
          <p:cNvSpPr/>
          <p:nvPr/>
        </p:nvSpPr>
        <p:spPr>
          <a:xfrm>
            <a:off x="7755096" y="2836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sz="1600" kern="0" spc="-1" dirty="0">
                <a:solidFill>
                  <a:prstClr val="black"/>
                </a:solidFill>
                <a:latin typeface="DejaVu Sans"/>
                <a:sym typeface="+mn-ea"/>
              </a:rPr>
              <a:t>全产业链协同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cxnSp>
        <p:nvCxnSpPr>
          <p:cNvPr id="99" name="直接连接符 98"/>
          <p:cNvCxnSpPr/>
          <p:nvPr/>
        </p:nvCxnSpPr>
        <p:spPr>
          <a:xfrm>
            <a:off x="1380913" y="966982"/>
            <a:ext cx="80449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10379047" y="88776"/>
            <a:ext cx="1717329" cy="1788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400" dirty="0"/>
              <a:t>汽车玻璃制造工业互联网</a:t>
            </a:r>
            <a:r>
              <a:rPr lang="zh-CN" altLang="en-US" sz="2400" dirty="0"/>
              <a:t>特色应用</a:t>
            </a:r>
            <a:endParaRPr lang="zh-CN" altLang="en-US" sz="2400" dirty="0"/>
          </a:p>
        </p:txBody>
      </p:sp>
      <p:sp>
        <p:nvSpPr>
          <p:cNvPr id="112" name="箭头: 右 111"/>
          <p:cNvSpPr/>
          <p:nvPr/>
        </p:nvSpPr>
        <p:spPr>
          <a:xfrm>
            <a:off x="9851830" y="8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235" y="3768725"/>
            <a:ext cx="9783445" cy="219075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CustomShape 9"/>
          <p:cNvSpPr/>
          <p:nvPr/>
        </p:nvSpPr>
        <p:spPr>
          <a:xfrm>
            <a:off x="1555666" y="6120008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物联网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1" name="CustomShape 13"/>
          <p:cNvSpPr/>
          <p:nvPr/>
        </p:nvSpPr>
        <p:spPr>
          <a:xfrm>
            <a:off x="7744816" y="2867615"/>
            <a:ext cx="1722535" cy="489307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dirty="0">
                <a:solidFill>
                  <a:schemeClr val="bg2"/>
                </a:solidFill>
                <a:latin typeface="DejaVu Sans"/>
              </a:rPr>
              <a:t>能耗优化</a:t>
            </a:r>
            <a:endParaRPr lang="zh-CN" altLang="en-US" sz="1400" kern="0" spc="-1" dirty="0">
              <a:solidFill>
                <a:schemeClr val="bg2"/>
              </a:solidFill>
              <a:latin typeface="DejaVu Sans"/>
            </a:endParaRPr>
          </a:p>
        </p:txBody>
      </p:sp>
      <p:sp>
        <p:nvSpPr>
          <p:cNvPr id="12" name="CustomShape 9"/>
          <p:cNvSpPr/>
          <p:nvPr/>
        </p:nvSpPr>
        <p:spPr>
          <a:xfrm>
            <a:off x="7741682" y="2186497"/>
            <a:ext cx="1740909" cy="517938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400" kern="0" spc="-1" dirty="0">
                <a:solidFill>
                  <a:srgbClr val="FFFFFF"/>
                </a:solidFill>
                <a:sym typeface="+mn-ea"/>
              </a:rPr>
              <a:t>智能决策</a:t>
            </a:r>
            <a:endParaRPr lang="zh-CN" altLang="en-US" sz="1400" kern="0" spc="-1" dirty="0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14" name="CustomShape 9"/>
          <p:cNvSpPr/>
          <p:nvPr/>
        </p:nvSpPr>
        <p:spPr>
          <a:xfrm>
            <a:off x="1399963" y="11304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sz="1600" kern="0" spc="-1" dirty="0">
                <a:solidFill>
                  <a:prstClr val="black"/>
                </a:solidFill>
                <a:latin typeface="DejaVu Sans"/>
              </a:rPr>
              <a:t>成型设计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6" name="CustomShape 9"/>
          <p:cNvSpPr/>
          <p:nvPr/>
        </p:nvSpPr>
        <p:spPr>
          <a:xfrm>
            <a:off x="3506464" y="11218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kumimoji="0" lang="zh-CN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加热设计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8" name="CustomShape 9"/>
          <p:cNvSpPr/>
          <p:nvPr/>
        </p:nvSpPr>
        <p:spPr>
          <a:xfrm>
            <a:off x="5667645" y="113042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kumimoji="0" lang="zh-CN" altLang="en-US" sz="16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玻璃运动设计</a:t>
            </a:r>
            <a:endParaRPr kumimoji="0" lang="zh-CN" altLang="en-US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9" name="CustomShape 9"/>
          <p:cNvSpPr/>
          <p:nvPr/>
        </p:nvSpPr>
        <p:spPr>
          <a:xfrm>
            <a:off x="7774146" y="11218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lvl="0" algn="ctr">
              <a:defRPr/>
            </a:pPr>
            <a:r>
              <a:rPr lang="zh-CN" sz="1600" kern="0" spc="-1" dirty="0">
                <a:solidFill>
                  <a:prstClr val="black"/>
                </a:solidFill>
                <a:latin typeface="DejaVu Sans"/>
              </a:rPr>
              <a:t>新</a:t>
            </a:r>
            <a:r>
              <a:rPr lang="en-US" altLang="zh-CN" sz="1600" kern="0" spc="-1" dirty="0">
                <a:solidFill>
                  <a:prstClr val="black"/>
                </a:solidFill>
                <a:latin typeface="DejaVu Sans"/>
              </a:rPr>
              <a:t>/</a:t>
            </a:r>
            <a:r>
              <a:rPr lang="zh-CN" altLang="en-US" sz="1600" kern="0" spc="-1" dirty="0">
                <a:solidFill>
                  <a:prstClr val="black"/>
                </a:solidFill>
                <a:latin typeface="DejaVu Sans"/>
              </a:rPr>
              <a:t>旧</a:t>
            </a:r>
            <a:r>
              <a:rPr lang="zh-CN" sz="1600" kern="0" spc="-1" dirty="0">
                <a:solidFill>
                  <a:prstClr val="black"/>
                </a:solidFill>
                <a:latin typeface="DejaVu Sans"/>
              </a:rPr>
              <a:t>建筑能耗管理</a:t>
            </a:r>
            <a:endParaRPr kumimoji="0" lang="zh-CN" sz="1600" b="0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59090" y="3941445"/>
            <a:ext cx="1767840" cy="1885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能耗管理</a:t>
            </a:r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126095" y="4511675"/>
            <a:ext cx="1457960" cy="502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大数据优化</a:t>
            </a:r>
            <a:endParaRPr lang="zh-CN" altLang="en-US" sz="1600" dirty="0"/>
          </a:p>
        </p:txBody>
      </p:sp>
      <p:sp>
        <p:nvSpPr>
          <p:cNvPr id="21" name="矩形 20"/>
          <p:cNvSpPr/>
          <p:nvPr/>
        </p:nvSpPr>
        <p:spPr>
          <a:xfrm>
            <a:off x="8117205" y="5174615"/>
            <a:ext cx="1476375" cy="514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ym typeface="+mn-ea"/>
              </a:rPr>
              <a:t>能耗建模</a:t>
            </a:r>
            <a:endParaRPr lang="zh-CN" sz="1600"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529715" y="435610"/>
            <a:ext cx="1892935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tx1"/>
                </a:solidFill>
              </a:rPr>
              <a:t>设计师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8836660" y="435610"/>
            <a:ext cx="1892935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tx1"/>
                </a:solidFill>
              </a:rPr>
              <a:t>生产厂商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29715" y="5087620"/>
            <a:ext cx="1892935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tx1"/>
                </a:solidFill>
              </a:rPr>
              <a:t>消费者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836660" y="5087620"/>
            <a:ext cx="1892935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tx1"/>
                </a:solidFill>
              </a:rPr>
              <a:t>金融机构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70535" y="2745105"/>
            <a:ext cx="11250930" cy="1020445"/>
          </a:xfrm>
          <a:prstGeom prst="roundRect">
            <a:avLst/>
          </a:prstGeom>
          <a:solidFill>
            <a:srgbClr val="DCE6F2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926840" y="1001395"/>
            <a:ext cx="446976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2780665" y="161290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2117725" y="161290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780665" y="394716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2117725" y="394716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10169525" y="161290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9506585" y="161290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10181590" y="394716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9518650" y="394716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003800" y="435610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提供设计师资源</a:t>
            </a:r>
            <a:endParaRPr lang="zh-CN" alt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3107690" y="1862455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按销量给予报酬</a:t>
            </a:r>
            <a:endParaRPr lang="zh-CN" altLang="en-US" sz="2400"/>
          </a:p>
        </p:txBody>
      </p:sp>
      <p:sp>
        <p:nvSpPr>
          <p:cNvPr id="20" name="文本框 19"/>
          <p:cNvSpPr txBox="1"/>
          <p:nvPr/>
        </p:nvSpPr>
        <p:spPr>
          <a:xfrm>
            <a:off x="470535" y="186245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设计理念</a:t>
            </a:r>
            <a:endParaRPr lang="zh-CN" altLang="en-US" sz="2400"/>
          </a:p>
        </p:txBody>
      </p:sp>
      <p:sp>
        <p:nvSpPr>
          <p:cNvPr id="21" name="文本框 20"/>
          <p:cNvSpPr txBox="1"/>
          <p:nvPr/>
        </p:nvSpPr>
        <p:spPr>
          <a:xfrm>
            <a:off x="10519410" y="1677670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按需定制</a:t>
            </a:r>
            <a:endParaRPr lang="zh-CN" altLang="en-US" sz="2400"/>
          </a:p>
          <a:p>
            <a:r>
              <a:rPr lang="zh-CN" altLang="en-US" sz="2400"/>
              <a:t>订单直达</a:t>
            </a:r>
            <a:endParaRPr lang="zh-CN" altLang="en-US" sz="2400"/>
          </a:p>
        </p:txBody>
      </p:sp>
      <p:sp>
        <p:nvSpPr>
          <p:cNvPr id="22" name="文本框 21"/>
          <p:cNvSpPr txBox="1"/>
          <p:nvPr/>
        </p:nvSpPr>
        <p:spPr>
          <a:xfrm>
            <a:off x="7754620" y="186245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皮包供货</a:t>
            </a:r>
            <a:endParaRPr lang="zh-CN" altLang="en-US" sz="2400"/>
          </a:p>
        </p:txBody>
      </p:sp>
      <p:sp>
        <p:nvSpPr>
          <p:cNvPr id="23" name="文本框 22"/>
          <p:cNvSpPr txBox="1"/>
          <p:nvPr/>
        </p:nvSpPr>
        <p:spPr>
          <a:xfrm>
            <a:off x="7320280" y="4196715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出示信用背书</a:t>
            </a:r>
            <a:endParaRPr lang="zh-CN" altLang="en-US" sz="2400"/>
          </a:p>
        </p:txBody>
      </p:sp>
      <p:sp>
        <p:nvSpPr>
          <p:cNvPr id="24" name="文本框 23"/>
          <p:cNvSpPr txBox="1"/>
          <p:nvPr/>
        </p:nvSpPr>
        <p:spPr>
          <a:xfrm>
            <a:off x="10214610" y="4196715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提供金融支持</a:t>
            </a:r>
            <a:endParaRPr lang="zh-CN" altLang="en-US" sz="2400"/>
          </a:p>
        </p:txBody>
      </p:sp>
      <p:sp>
        <p:nvSpPr>
          <p:cNvPr id="25" name="文本框 24"/>
          <p:cNvSpPr txBox="1"/>
          <p:nvPr/>
        </p:nvSpPr>
        <p:spPr>
          <a:xfrm>
            <a:off x="470535" y="419671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产品样式</a:t>
            </a:r>
            <a:endParaRPr lang="zh-CN" altLang="en-US" sz="2400"/>
          </a:p>
        </p:txBody>
      </p:sp>
      <p:sp>
        <p:nvSpPr>
          <p:cNvPr id="26" name="文本框 25"/>
          <p:cNvSpPr txBox="1"/>
          <p:nvPr/>
        </p:nvSpPr>
        <p:spPr>
          <a:xfrm>
            <a:off x="3014345" y="4196715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预付款</a:t>
            </a:r>
            <a:endParaRPr lang="zh-CN" altLang="en-US" sz="2400"/>
          </a:p>
        </p:txBody>
      </p:sp>
      <p:sp>
        <p:nvSpPr>
          <p:cNvPr id="27" name="文本框 26"/>
          <p:cNvSpPr txBox="1"/>
          <p:nvPr/>
        </p:nvSpPr>
        <p:spPr>
          <a:xfrm>
            <a:off x="1456690" y="2963545"/>
            <a:ext cx="3392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/>
              <a:t>品牌运营商整合</a:t>
            </a:r>
            <a:endParaRPr lang="zh-CN" altLang="en-US" sz="3200"/>
          </a:p>
        </p:txBody>
      </p:sp>
      <p:sp>
        <p:nvSpPr>
          <p:cNvPr id="28" name="文本框 27"/>
          <p:cNvSpPr txBox="1"/>
          <p:nvPr/>
        </p:nvSpPr>
        <p:spPr>
          <a:xfrm>
            <a:off x="6170295" y="2963545"/>
            <a:ext cx="4789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/>
              <a:t>消费平台</a:t>
            </a:r>
            <a:r>
              <a:rPr lang="en-US" altLang="zh-CN" sz="3200"/>
              <a:t>&amp;</a:t>
            </a:r>
            <a:r>
              <a:rPr lang="zh-CN" altLang="en-US" sz="3200"/>
              <a:t>设计师平台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565275" y="435610"/>
            <a:ext cx="1892935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tx1"/>
                </a:solidFill>
              </a:rPr>
              <a:t>电商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164580" y="440690"/>
            <a:ext cx="1892935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tx1"/>
                </a:solidFill>
              </a:rPr>
              <a:t>油画师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29715" y="5087620"/>
            <a:ext cx="1892935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tx1"/>
                </a:solidFill>
              </a:rPr>
              <a:t>消费者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527290" y="5087620"/>
            <a:ext cx="2673350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tx1"/>
                </a:solidFill>
              </a:rPr>
              <a:t>版权</a:t>
            </a:r>
            <a:r>
              <a:rPr lang="en-US" altLang="zh-CN" sz="2800">
                <a:solidFill>
                  <a:schemeClr val="tx1"/>
                </a:solidFill>
              </a:rPr>
              <a:t>/</a:t>
            </a:r>
            <a:r>
              <a:rPr lang="zh-CN" altLang="en-US" sz="2800">
                <a:solidFill>
                  <a:schemeClr val="tx1"/>
                </a:solidFill>
              </a:rPr>
              <a:t>鉴定</a:t>
            </a:r>
            <a:r>
              <a:rPr lang="en-US" altLang="zh-CN" sz="2800">
                <a:solidFill>
                  <a:schemeClr val="tx1"/>
                </a:solidFill>
              </a:rPr>
              <a:t>/</a:t>
            </a:r>
            <a:endParaRPr lang="en-US" altLang="zh-CN" sz="2800">
              <a:solidFill>
                <a:schemeClr val="tx1"/>
              </a:solidFill>
            </a:endParaRPr>
          </a:p>
          <a:p>
            <a:pPr algn="ctr"/>
            <a:r>
              <a:rPr lang="zh-CN" altLang="en-US" sz="2800">
                <a:solidFill>
                  <a:schemeClr val="tx1"/>
                </a:solidFill>
              </a:rPr>
              <a:t>维权机构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70535" y="2745105"/>
            <a:ext cx="11250930" cy="1020445"/>
          </a:xfrm>
          <a:prstGeom prst="roundRect">
            <a:avLst/>
          </a:prstGeom>
          <a:solidFill>
            <a:srgbClr val="DCE6F2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2816225" y="161290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2153285" y="161290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780665" y="394716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2117725" y="394716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7497445" y="161798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6834505" y="161798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8754110" y="3947160"/>
            <a:ext cx="12065" cy="959485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945130" y="1745615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接收订单</a:t>
            </a:r>
            <a:endParaRPr lang="zh-CN" altLang="en-US" sz="2400"/>
          </a:p>
          <a:p>
            <a:r>
              <a:rPr lang="en-US" altLang="zh-CN" sz="2400"/>
              <a:t>/</a:t>
            </a:r>
            <a:r>
              <a:rPr lang="zh-CN" altLang="en-US" sz="2400"/>
              <a:t>收款</a:t>
            </a:r>
            <a:endParaRPr lang="zh-CN" altLang="en-US" sz="2400"/>
          </a:p>
        </p:txBody>
      </p:sp>
      <p:sp>
        <p:nvSpPr>
          <p:cNvPr id="20" name="文本框 19"/>
          <p:cNvSpPr txBox="1"/>
          <p:nvPr/>
        </p:nvSpPr>
        <p:spPr>
          <a:xfrm>
            <a:off x="1243330" y="1713230"/>
            <a:ext cx="792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商品</a:t>
            </a:r>
            <a:endParaRPr lang="zh-CN" altLang="en-US" sz="2400"/>
          </a:p>
          <a:p>
            <a:r>
              <a:rPr lang="zh-CN" altLang="en-US" sz="2400"/>
              <a:t>发布</a:t>
            </a:r>
            <a:endParaRPr lang="zh-CN" altLang="en-US" sz="2400"/>
          </a:p>
        </p:txBody>
      </p:sp>
      <p:sp>
        <p:nvSpPr>
          <p:cNvPr id="21" name="文本框 20"/>
          <p:cNvSpPr txBox="1"/>
          <p:nvPr/>
        </p:nvSpPr>
        <p:spPr>
          <a:xfrm>
            <a:off x="7609840" y="1667510"/>
            <a:ext cx="792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利益</a:t>
            </a:r>
            <a:endParaRPr lang="zh-CN" altLang="en-US" sz="2400"/>
          </a:p>
          <a:p>
            <a:r>
              <a:rPr lang="zh-CN" altLang="en-US" sz="2400"/>
              <a:t>分成</a:t>
            </a:r>
            <a:endParaRPr lang="zh-CN" altLang="en-US" sz="2400"/>
          </a:p>
        </p:txBody>
      </p:sp>
      <p:sp>
        <p:nvSpPr>
          <p:cNvPr id="22" name="文本框 21"/>
          <p:cNvSpPr txBox="1"/>
          <p:nvPr/>
        </p:nvSpPr>
        <p:spPr>
          <a:xfrm>
            <a:off x="5333365" y="1617980"/>
            <a:ext cx="148653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油画图库</a:t>
            </a:r>
            <a:endParaRPr lang="zh-CN" altLang="en-US" sz="2400"/>
          </a:p>
          <a:p>
            <a:r>
              <a:rPr lang="en-US" altLang="zh-CN" sz="2400"/>
              <a:t>/</a:t>
            </a:r>
            <a:r>
              <a:rPr lang="zh-CN" altLang="en-US" sz="2400"/>
              <a:t>交易协议</a:t>
            </a:r>
            <a:endParaRPr lang="zh-CN" altLang="en-US" sz="2400"/>
          </a:p>
        </p:txBody>
      </p:sp>
      <p:sp>
        <p:nvSpPr>
          <p:cNvPr id="24" name="文本框 23"/>
          <p:cNvSpPr txBox="1"/>
          <p:nvPr/>
        </p:nvSpPr>
        <p:spPr>
          <a:xfrm>
            <a:off x="8741410" y="4095115"/>
            <a:ext cx="148653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版权背书</a:t>
            </a:r>
            <a:endParaRPr lang="zh-CN" altLang="en-US" sz="2400"/>
          </a:p>
          <a:p>
            <a:r>
              <a:rPr lang="en-US" altLang="zh-CN" sz="2400"/>
              <a:t>/</a:t>
            </a:r>
            <a:r>
              <a:rPr lang="zh-CN" altLang="en-US" sz="2400"/>
              <a:t>维权服务</a:t>
            </a:r>
            <a:endParaRPr lang="zh-CN" altLang="en-US" sz="2400"/>
          </a:p>
        </p:txBody>
      </p:sp>
      <p:sp>
        <p:nvSpPr>
          <p:cNvPr id="25" name="文本框 24"/>
          <p:cNvSpPr txBox="1"/>
          <p:nvPr/>
        </p:nvSpPr>
        <p:spPr>
          <a:xfrm>
            <a:off x="1212215" y="4054475"/>
            <a:ext cx="792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/>
              <a:t>确认</a:t>
            </a:r>
            <a:endParaRPr lang="zh-CN" altLang="en-US" sz="2400"/>
          </a:p>
          <a:p>
            <a:pPr algn="l"/>
            <a:r>
              <a:rPr lang="zh-CN" altLang="en-US" sz="2400">
                <a:sym typeface="+mn-ea"/>
              </a:rPr>
              <a:t>收货</a:t>
            </a:r>
            <a:endParaRPr lang="zh-CN" altLang="en-US" sz="2400"/>
          </a:p>
        </p:txBody>
      </p:sp>
      <p:sp>
        <p:nvSpPr>
          <p:cNvPr id="26" name="文本框 25"/>
          <p:cNvSpPr txBox="1"/>
          <p:nvPr/>
        </p:nvSpPr>
        <p:spPr>
          <a:xfrm>
            <a:off x="2917825" y="4196715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购买</a:t>
            </a:r>
            <a:endParaRPr lang="zh-CN" altLang="en-US" sz="2400"/>
          </a:p>
        </p:txBody>
      </p:sp>
      <p:sp>
        <p:nvSpPr>
          <p:cNvPr id="27" name="文本框 26"/>
          <p:cNvSpPr txBox="1"/>
          <p:nvPr/>
        </p:nvSpPr>
        <p:spPr>
          <a:xfrm>
            <a:off x="948690" y="2963545"/>
            <a:ext cx="3392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/>
              <a:t>跨境电商平台</a:t>
            </a:r>
            <a:endParaRPr lang="zh-CN" altLang="en-US" sz="3200"/>
          </a:p>
        </p:txBody>
      </p:sp>
      <p:sp>
        <p:nvSpPr>
          <p:cNvPr id="28" name="文本框 27"/>
          <p:cNvSpPr txBox="1"/>
          <p:nvPr/>
        </p:nvSpPr>
        <p:spPr>
          <a:xfrm>
            <a:off x="6414135" y="2963545"/>
            <a:ext cx="4789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/>
              <a:t>油画版权交易平台</a:t>
            </a:r>
            <a:endParaRPr lang="zh-CN" altLang="en-US" sz="320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4699635" y="3302000"/>
            <a:ext cx="1818005" cy="0"/>
          </a:xfrm>
          <a:prstGeom prst="straightConnector1">
            <a:avLst/>
          </a:prstGeom>
          <a:ln w="38100"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/>
        </p:nvSpPr>
        <p:spPr>
          <a:xfrm>
            <a:off x="9349740" y="425450"/>
            <a:ext cx="1892935" cy="988060"/>
          </a:xfrm>
          <a:prstGeom prst="roundRect">
            <a:avLst/>
          </a:prstGeom>
          <a:solidFill>
            <a:srgbClr val="E6E0EC"/>
          </a:solidFill>
          <a:ln>
            <a:solidFill>
              <a:srgbClr val="E6E0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</a:rPr>
              <a:t>3D</a:t>
            </a:r>
            <a:r>
              <a:rPr lang="zh-CN" altLang="en-US" sz="2800">
                <a:solidFill>
                  <a:schemeClr val="tx1"/>
                </a:solidFill>
              </a:rPr>
              <a:t>打印机</a:t>
            </a:r>
            <a:endParaRPr lang="zh-CN" altLang="en-US" sz="2800">
              <a:solidFill>
                <a:schemeClr val="tx1"/>
              </a:solidFill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10682605" y="160274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10019665" y="1602740"/>
            <a:ext cx="12065" cy="959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0795000" y="1692910"/>
            <a:ext cx="792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打印</a:t>
            </a:r>
            <a:endParaRPr lang="zh-CN" altLang="en-US" sz="2400"/>
          </a:p>
          <a:p>
            <a:r>
              <a:rPr lang="zh-CN" altLang="en-US" sz="2400"/>
              <a:t>油画</a:t>
            </a:r>
            <a:endParaRPr lang="zh-CN" altLang="en-US" sz="2400"/>
          </a:p>
        </p:txBody>
      </p:sp>
      <p:sp>
        <p:nvSpPr>
          <p:cNvPr id="33" name="文本框 32"/>
          <p:cNvSpPr txBox="1"/>
          <p:nvPr/>
        </p:nvSpPr>
        <p:spPr>
          <a:xfrm>
            <a:off x="9087485" y="1658620"/>
            <a:ext cx="792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/>
              <a:t>订单</a:t>
            </a:r>
            <a:endParaRPr lang="zh-CN" altLang="en-US" sz="2400"/>
          </a:p>
          <a:p>
            <a:pPr algn="l"/>
            <a:r>
              <a:rPr lang="zh-CN" altLang="en-US" sz="2400">
                <a:sym typeface="+mn-ea"/>
              </a:rPr>
              <a:t>完成</a:t>
            </a:r>
            <a:endParaRPr lang="zh-CN" altLang="en-US" sz="2400"/>
          </a:p>
        </p:txBody>
      </p:sp>
      <p:cxnSp>
        <p:nvCxnSpPr>
          <p:cNvPr id="34" name="直接箭头连接符 33"/>
          <p:cNvCxnSpPr/>
          <p:nvPr/>
        </p:nvCxnSpPr>
        <p:spPr>
          <a:xfrm flipV="1">
            <a:off x="8183880" y="920115"/>
            <a:ext cx="1026795" cy="4445"/>
          </a:xfrm>
          <a:prstGeom prst="straightConnector1">
            <a:avLst/>
          </a:prstGeom>
          <a:ln w="38100"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47022" y="206745"/>
            <a:ext cx="11654492" cy="6391895"/>
            <a:chOff x="3010" y="1324"/>
            <a:chExt cx="14420" cy="9400"/>
          </a:xfrm>
        </p:grpSpPr>
        <p:sp>
          <p:nvSpPr>
            <p:cNvPr id="112" name="Rectangle 7"/>
            <p:cNvSpPr>
              <a:spLocks noChangeArrowheads="1"/>
            </p:cNvSpPr>
            <p:nvPr/>
          </p:nvSpPr>
          <p:spPr bwMode="auto">
            <a:xfrm>
              <a:off x="4527" y="1324"/>
              <a:ext cx="11354" cy="1478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12700" cap="flat" cmpd="sng" algn="ctr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</a:pPr>
              <a:endParaRPr kumimoji="1" lang="en-US" altLang="zh-CN" sz="4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4535" y="3957"/>
              <a:ext cx="11339" cy="5470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4695" y="4574"/>
              <a:ext cx="9238" cy="856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02" name="Rectangle 7"/>
            <p:cNvSpPr>
              <a:spLocks noChangeArrowheads="1"/>
            </p:cNvSpPr>
            <p:nvPr/>
          </p:nvSpPr>
          <p:spPr bwMode="auto">
            <a:xfrm>
              <a:off x="5092" y="2026"/>
              <a:ext cx="3889" cy="458"/>
            </a:xfrm>
            <a:prstGeom prst="roundRect">
              <a:avLst>
                <a:gd name="adj" fmla="val 3505"/>
              </a:avLst>
            </a:prstGeom>
            <a:solidFill>
              <a:schemeClr val="accent2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省直部门自建系统办件（流转）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下箭头 102"/>
            <p:cNvSpPr/>
            <p:nvPr/>
          </p:nvSpPr>
          <p:spPr bwMode="auto">
            <a:xfrm flipV="1">
              <a:off x="6081" y="2907"/>
              <a:ext cx="404" cy="863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527" y="9936"/>
              <a:ext cx="11354" cy="766"/>
              <a:chOff x="4792" y="9465"/>
              <a:chExt cx="11087" cy="766"/>
            </a:xfrm>
          </p:grpSpPr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4799" y="9465"/>
                <a:ext cx="11080" cy="766"/>
              </a:xfrm>
              <a:prstGeom prst="roundRect">
                <a:avLst>
                  <a:gd name="adj" fmla="val 3505"/>
                </a:avLst>
              </a:prstGeom>
              <a:solidFill>
                <a:srgbClr val="99CCFF"/>
              </a:solidFill>
              <a:ln w="9525">
                <a:noFill/>
                <a:round/>
              </a:ln>
              <a:effectLst>
                <a:outerShdw blurRad="63500"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spcBef>
                    <a:spcPct val="35000"/>
                  </a:spcBef>
                  <a:spcAft>
                    <a:spcPct val="15000"/>
                  </a:spcAft>
                  <a:buClr>
                    <a:srgbClr val="000000"/>
                  </a:buClr>
                  <a:buFont typeface="Arial" panose="020B0604020202020204" pitchFamily="34" charset="0"/>
                  <a:buNone/>
                  <a:defRPr/>
                </a:pPr>
                <a:endParaRPr lang="en-US" altLang="zh-CN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" name="TextBox 65"/>
              <p:cNvSpPr txBox="1"/>
              <p:nvPr/>
            </p:nvSpPr>
            <p:spPr>
              <a:xfrm>
                <a:off x="4792" y="9610"/>
                <a:ext cx="11004" cy="451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用户（省直部门、地市行政服务中心、总线平台运维同队、技术支撑单位）</a:t>
                </a:r>
                <a:endParaRPr lang="zh-CN" altLang="en-US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20" name="下箭头 119"/>
            <p:cNvSpPr/>
            <p:nvPr/>
          </p:nvSpPr>
          <p:spPr bwMode="auto">
            <a:xfrm flipV="1">
              <a:off x="9700" y="9428"/>
              <a:ext cx="402" cy="489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2" name="Rectangle 7"/>
            <p:cNvSpPr>
              <a:spLocks noChangeArrowheads="1"/>
            </p:cNvSpPr>
            <p:nvPr/>
          </p:nvSpPr>
          <p:spPr bwMode="auto">
            <a:xfrm>
              <a:off x="3010" y="1555"/>
              <a:ext cx="758" cy="9169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8" name="TextBox 196"/>
            <p:cNvSpPr txBox="1"/>
            <p:nvPr/>
          </p:nvSpPr>
          <p:spPr>
            <a:xfrm>
              <a:off x="14465" y="5069"/>
              <a:ext cx="1178" cy="360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技术支撑单位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3" name="矩形 162"/>
            <p:cNvSpPr/>
            <p:nvPr/>
          </p:nvSpPr>
          <p:spPr>
            <a:xfrm>
              <a:off x="14389" y="4196"/>
              <a:ext cx="1330" cy="4992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66" name="TextBox 65"/>
            <p:cNvSpPr txBox="1"/>
            <p:nvPr/>
          </p:nvSpPr>
          <p:spPr>
            <a:xfrm>
              <a:off x="8433" y="1489"/>
              <a:ext cx="3133" cy="451"/>
            </a:xfrm>
            <a:prstGeom prst="rect">
              <a:avLst/>
            </a:prstGeom>
            <a:solidFill>
              <a:srgbClr val="BFE5FF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省级政府服务总线</a:t>
              </a:r>
              <a:endParaRPr lang="en-US" altLang="zh-CN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2" name="TextBox 61"/>
            <p:cNvSpPr txBox="1"/>
            <p:nvPr/>
          </p:nvSpPr>
          <p:spPr>
            <a:xfrm>
              <a:off x="8415" y="4577"/>
              <a:ext cx="1797" cy="40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业务协同门户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Rectangle 7"/>
            <p:cNvSpPr>
              <a:spLocks noChangeArrowheads="1"/>
            </p:cNvSpPr>
            <p:nvPr/>
          </p:nvSpPr>
          <p:spPr bwMode="auto">
            <a:xfrm>
              <a:off x="10742" y="2026"/>
              <a:ext cx="4137" cy="458"/>
            </a:xfrm>
            <a:prstGeom prst="roundRect">
              <a:avLst>
                <a:gd name="adj" fmla="val 3505"/>
              </a:avLst>
            </a:prstGeom>
            <a:solidFill>
              <a:schemeClr val="accent2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地方行政服务中心行政审批系统办件（流转）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下箭头 7"/>
            <p:cNvSpPr/>
            <p:nvPr/>
          </p:nvSpPr>
          <p:spPr bwMode="auto">
            <a:xfrm rot="10800000" flipV="1">
              <a:off x="13604" y="2905"/>
              <a:ext cx="404" cy="864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下箭头 19"/>
            <p:cNvSpPr/>
            <p:nvPr/>
          </p:nvSpPr>
          <p:spPr bwMode="auto">
            <a:xfrm rot="10800000" flipV="1">
              <a:off x="9770" y="2905"/>
              <a:ext cx="404" cy="864"/>
            </a:xfrm>
            <a:prstGeom prst="downArrow">
              <a:avLst/>
            </a:prstGeom>
            <a:solidFill>
              <a:srgbClr val="99CC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TextBox 188"/>
            <p:cNvSpPr txBox="1"/>
            <p:nvPr/>
          </p:nvSpPr>
          <p:spPr>
            <a:xfrm>
              <a:off x="10259" y="4982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政务服务事项审批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TextBox 188"/>
            <p:cNvSpPr txBox="1"/>
            <p:nvPr/>
          </p:nvSpPr>
          <p:spPr>
            <a:xfrm>
              <a:off x="12121" y="4980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 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695" y="8112"/>
              <a:ext cx="9238" cy="856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32" name="TextBox 188"/>
            <p:cNvSpPr txBox="1"/>
            <p:nvPr/>
          </p:nvSpPr>
          <p:spPr>
            <a:xfrm>
              <a:off x="4789" y="4980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全省业务协同概览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TextBox 188"/>
            <p:cNvSpPr txBox="1"/>
            <p:nvPr/>
          </p:nvSpPr>
          <p:spPr>
            <a:xfrm>
              <a:off x="6605" y="4980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全省业务协同实施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TextBox 188"/>
            <p:cNvSpPr txBox="1"/>
            <p:nvPr/>
          </p:nvSpPr>
          <p:spPr>
            <a:xfrm>
              <a:off x="8433" y="4981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全省业务协同汇总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TextBox 188"/>
            <p:cNvSpPr txBox="1"/>
            <p:nvPr/>
          </p:nvSpPr>
          <p:spPr>
            <a:xfrm>
              <a:off x="10259" y="6060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政务服务系统异常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TextBox 188"/>
            <p:cNvSpPr txBox="1"/>
            <p:nvPr/>
          </p:nvSpPr>
          <p:spPr>
            <a:xfrm>
              <a:off x="12121" y="6060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 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695" y="5712"/>
              <a:ext cx="9238" cy="856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40" name="TextBox 188"/>
            <p:cNvSpPr txBox="1"/>
            <p:nvPr/>
          </p:nvSpPr>
          <p:spPr>
            <a:xfrm>
              <a:off x="4789" y="6060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分工信息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TextBox 188"/>
            <p:cNvSpPr txBox="1"/>
            <p:nvPr/>
          </p:nvSpPr>
          <p:spPr>
            <a:xfrm>
              <a:off x="6605" y="6060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实施任务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TextBox 188"/>
            <p:cNvSpPr txBox="1"/>
            <p:nvPr/>
          </p:nvSpPr>
          <p:spPr>
            <a:xfrm>
              <a:off x="8415" y="6060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协同服务异常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TextBox 188"/>
            <p:cNvSpPr txBox="1"/>
            <p:nvPr/>
          </p:nvSpPr>
          <p:spPr>
            <a:xfrm>
              <a:off x="10259" y="7234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测试环境规范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TextBox 188"/>
            <p:cNvSpPr txBox="1"/>
            <p:nvPr/>
          </p:nvSpPr>
          <p:spPr>
            <a:xfrm>
              <a:off x="12122" y="7234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 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4695" y="6859"/>
              <a:ext cx="9238" cy="856"/>
            </a:xfrm>
            <a:prstGeom prst="rect">
              <a:avLst/>
            </a:prstGeom>
            <a:noFill/>
            <a:ln w="63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46" name="TextBox 188"/>
            <p:cNvSpPr txBox="1"/>
            <p:nvPr/>
          </p:nvSpPr>
          <p:spPr>
            <a:xfrm>
              <a:off x="4789" y="7234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测试环境信息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TextBox 188"/>
            <p:cNvSpPr txBox="1"/>
            <p:nvPr/>
          </p:nvSpPr>
          <p:spPr>
            <a:xfrm>
              <a:off x="6604" y="7234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测试环境数据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TextBox 188"/>
            <p:cNvSpPr txBox="1"/>
            <p:nvPr/>
          </p:nvSpPr>
          <p:spPr>
            <a:xfrm>
              <a:off x="8433" y="7234"/>
              <a:ext cx="1696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测试环境调用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TextBox 188"/>
            <p:cNvSpPr txBox="1"/>
            <p:nvPr/>
          </p:nvSpPr>
          <p:spPr>
            <a:xfrm>
              <a:off x="4789" y="8483"/>
              <a:ext cx="1880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业务协同申请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TextBox 188"/>
            <p:cNvSpPr txBox="1"/>
            <p:nvPr/>
          </p:nvSpPr>
          <p:spPr>
            <a:xfrm>
              <a:off x="7005" y="8483"/>
              <a:ext cx="1874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业务协同审批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TextBox 188"/>
            <p:cNvSpPr txBox="1"/>
            <p:nvPr/>
          </p:nvSpPr>
          <p:spPr>
            <a:xfrm>
              <a:off x="9259" y="8483"/>
              <a:ext cx="1890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代办审批提醒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TextBox 188"/>
            <p:cNvSpPr txBox="1"/>
            <p:nvPr/>
          </p:nvSpPr>
          <p:spPr>
            <a:xfrm>
              <a:off x="11612" y="8483"/>
              <a:ext cx="1992" cy="3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 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TextBox 196"/>
            <p:cNvSpPr txBox="1"/>
            <p:nvPr/>
          </p:nvSpPr>
          <p:spPr>
            <a:xfrm>
              <a:off x="14463" y="5541"/>
              <a:ext cx="1178" cy="360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支撑单位权限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TextBox 196"/>
            <p:cNvSpPr txBox="1"/>
            <p:nvPr/>
          </p:nvSpPr>
          <p:spPr>
            <a:xfrm>
              <a:off x="14464" y="6060"/>
              <a:ext cx="1178" cy="360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数据标准目录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TextBox 196"/>
            <p:cNvSpPr txBox="1"/>
            <p:nvPr/>
          </p:nvSpPr>
          <p:spPr>
            <a:xfrm>
              <a:off x="14465" y="6499"/>
              <a:ext cx="1178" cy="360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政务服务事项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TextBox 196"/>
            <p:cNvSpPr txBox="1"/>
            <p:nvPr/>
          </p:nvSpPr>
          <p:spPr>
            <a:xfrm>
              <a:off x="14465" y="6989"/>
              <a:ext cx="1178" cy="360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政务服务目录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8" name="TextBox 196"/>
            <p:cNvSpPr txBox="1"/>
            <p:nvPr/>
          </p:nvSpPr>
          <p:spPr>
            <a:xfrm>
              <a:off x="14464" y="7494"/>
              <a:ext cx="1178" cy="360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电子文档数据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TextBox 196"/>
            <p:cNvSpPr txBox="1"/>
            <p:nvPr/>
          </p:nvSpPr>
          <p:spPr>
            <a:xfrm>
              <a:off x="14465" y="7988"/>
              <a:ext cx="1178" cy="360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电子文档索引</a:t>
              </a:r>
              <a:endParaRPr lang="zh-CN" alt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3" name="TextBox 196"/>
            <p:cNvSpPr txBox="1"/>
            <p:nvPr/>
          </p:nvSpPr>
          <p:spPr>
            <a:xfrm>
              <a:off x="14465" y="8482"/>
              <a:ext cx="1178" cy="360"/>
            </a:xfrm>
            <a:prstGeom prst="rect">
              <a:avLst/>
            </a:prstGeom>
            <a:solidFill>
              <a:srgbClr val="65BD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... ...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Rectangle 7"/>
            <p:cNvSpPr>
              <a:spLocks noChangeArrowheads="1"/>
            </p:cNvSpPr>
            <p:nvPr/>
          </p:nvSpPr>
          <p:spPr bwMode="auto">
            <a:xfrm>
              <a:off x="16672" y="1555"/>
              <a:ext cx="758" cy="9169"/>
            </a:xfrm>
            <a:prstGeom prst="roundRect">
              <a:avLst>
                <a:gd name="adj" fmla="val 3505"/>
              </a:avLst>
            </a:prstGeom>
            <a:solidFill>
              <a:srgbClr val="BFE5FF"/>
            </a:solidFill>
            <a:ln w="9525">
              <a:noFill/>
              <a:rou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spcBef>
                  <a:spcPct val="35000"/>
                </a:spcBef>
                <a:spcAft>
                  <a:spcPct val="15000"/>
                </a:spcAft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011805" y="1400810"/>
            <a:ext cx="944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/>
              <a:t>系统日志信息</a:t>
            </a:r>
            <a:endParaRPr lang="zh-CN" altLang="en-US" sz="1000"/>
          </a:p>
        </p:txBody>
      </p:sp>
      <p:sp>
        <p:nvSpPr>
          <p:cNvPr id="24" name="文本框 23"/>
          <p:cNvSpPr txBox="1"/>
          <p:nvPr/>
        </p:nvSpPr>
        <p:spPr>
          <a:xfrm>
            <a:off x="5991860" y="1400810"/>
            <a:ext cx="944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/>
              <a:t>服务日志信息</a:t>
            </a:r>
            <a:endParaRPr lang="zh-CN" altLang="en-US" sz="1000"/>
          </a:p>
        </p:txBody>
      </p:sp>
      <p:sp>
        <p:nvSpPr>
          <p:cNvPr id="25" name="文本框 24"/>
          <p:cNvSpPr txBox="1"/>
          <p:nvPr/>
        </p:nvSpPr>
        <p:spPr>
          <a:xfrm>
            <a:off x="9130665" y="1400810"/>
            <a:ext cx="690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/>
              <a:t>服务信息</a:t>
            </a:r>
            <a:endParaRPr lang="zh-CN" altLang="en-US" sz="1000"/>
          </a:p>
        </p:txBody>
      </p:sp>
      <p:sp>
        <p:nvSpPr>
          <p:cNvPr id="61" name="文本框 60"/>
          <p:cNvSpPr txBox="1"/>
          <p:nvPr/>
        </p:nvSpPr>
        <p:spPr>
          <a:xfrm>
            <a:off x="4411980" y="3151505"/>
            <a:ext cx="1859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业务协同监控预警子系统</a:t>
            </a:r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4475480" y="3917315"/>
            <a:ext cx="1554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联调测试仿真子系统</a:t>
            </a:r>
            <a:endParaRPr lang="zh-CN" altLang="en-US" sz="1200"/>
          </a:p>
        </p:txBody>
      </p:sp>
      <p:sp>
        <p:nvSpPr>
          <p:cNvPr id="73" name="文本框 72"/>
          <p:cNvSpPr txBox="1"/>
          <p:nvPr/>
        </p:nvSpPr>
        <p:spPr>
          <a:xfrm>
            <a:off x="4412615" y="4799330"/>
            <a:ext cx="1859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业务协同申请审核子系统</a:t>
            </a:r>
            <a:endParaRPr lang="zh-CN" altLang="en-US" sz="1200"/>
          </a:p>
        </p:txBody>
      </p:sp>
      <p:sp>
        <p:nvSpPr>
          <p:cNvPr id="84" name="文本框 83"/>
          <p:cNvSpPr txBox="1"/>
          <p:nvPr/>
        </p:nvSpPr>
        <p:spPr>
          <a:xfrm>
            <a:off x="9495790" y="2180590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统一服务</a:t>
            </a:r>
            <a:endParaRPr lang="zh-CN" altLang="en-US" sz="1200"/>
          </a:p>
          <a:p>
            <a:r>
              <a:rPr lang="zh-CN" altLang="en-US" sz="1200"/>
              <a:t>支撑系统</a:t>
            </a:r>
            <a:endParaRPr lang="zh-CN" altLang="en-US" sz="1200"/>
          </a:p>
        </p:txBody>
      </p:sp>
      <p:cxnSp>
        <p:nvCxnSpPr>
          <p:cNvPr id="85" name="直接箭头连接符 84"/>
          <p:cNvCxnSpPr/>
          <p:nvPr/>
        </p:nvCxnSpPr>
        <p:spPr>
          <a:xfrm flipH="1">
            <a:off x="9075420" y="3373755"/>
            <a:ext cx="36703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H="1">
            <a:off x="9075420" y="4200525"/>
            <a:ext cx="360045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>
            <a:off x="9075420" y="5040630"/>
            <a:ext cx="386080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4246245" y="1997075"/>
            <a:ext cx="3383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办件交换业务协同监控服务系统</a:t>
            </a:r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287020" y="3153410"/>
            <a:ext cx="58928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省直</a:t>
            </a:r>
            <a:endParaRPr lang="zh-CN" altLang="en-US" sz="1600"/>
          </a:p>
          <a:p>
            <a:r>
              <a:rPr lang="zh-CN" altLang="en-US" sz="1600"/>
              <a:t>部门</a:t>
            </a:r>
            <a:endParaRPr lang="zh-CN" altLang="en-US" sz="1600"/>
          </a:p>
          <a:p>
            <a:r>
              <a:rPr lang="zh-CN" altLang="en-US" sz="1600"/>
              <a:t>自建</a:t>
            </a:r>
            <a:endParaRPr lang="zh-CN" altLang="en-US" sz="1600"/>
          </a:p>
          <a:p>
            <a:r>
              <a:rPr lang="zh-CN" altLang="en-US" sz="1600"/>
              <a:t>系统</a:t>
            </a:r>
            <a:endParaRPr lang="zh-CN" altLang="en-US" sz="1600"/>
          </a:p>
        </p:txBody>
      </p:sp>
      <p:sp>
        <p:nvSpPr>
          <p:cNvPr id="91" name="文本框 90"/>
          <p:cNvSpPr txBox="1"/>
          <p:nvPr/>
        </p:nvSpPr>
        <p:spPr>
          <a:xfrm>
            <a:off x="11329035" y="2640965"/>
            <a:ext cx="58928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行政</a:t>
            </a:r>
            <a:endParaRPr lang="zh-CN" altLang="en-US" sz="1600"/>
          </a:p>
          <a:p>
            <a:r>
              <a:rPr lang="zh-CN" altLang="en-US" sz="1600"/>
              <a:t>服务</a:t>
            </a:r>
            <a:endParaRPr lang="zh-CN" altLang="en-US" sz="1600"/>
          </a:p>
          <a:p>
            <a:r>
              <a:rPr lang="zh-CN" altLang="en-US" sz="1600"/>
              <a:t>中心</a:t>
            </a:r>
            <a:endParaRPr lang="zh-CN" altLang="en-US" sz="1600"/>
          </a:p>
          <a:p>
            <a:r>
              <a:rPr lang="zh-CN" altLang="en-US" sz="1600"/>
              <a:t>网上</a:t>
            </a:r>
            <a:endParaRPr lang="zh-CN" altLang="en-US" sz="1600"/>
          </a:p>
          <a:p>
            <a:r>
              <a:rPr lang="zh-CN" altLang="en-US" sz="1600"/>
              <a:t>审批</a:t>
            </a:r>
            <a:endParaRPr lang="zh-CN" altLang="en-US" sz="1600"/>
          </a:p>
          <a:p>
            <a:r>
              <a:rPr lang="zh-CN" altLang="en-US" sz="1600"/>
              <a:t>系统</a:t>
            </a:r>
            <a:endParaRPr lang="zh-CN" altLang="en-US" sz="1600"/>
          </a:p>
        </p:txBody>
      </p:sp>
      <p:cxnSp>
        <p:nvCxnSpPr>
          <p:cNvPr id="92" name="直接箭头连接符 91"/>
          <p:cNvCxnSpPr/>
          <p:nvPr/>
        </p:nvCxnSpPr>
        <p:spPr>
          <a:xfrm>
            <a:off x="10665460" y="3284855"/>
            <a:ext cx="641985" cy="952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>
            <a:off x="876300" y="3272790"/>
            <a:ext cx="572770" cy="1079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953770" y="2812415"/>
            <a:ext cx="48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办件</a:t>
            </a:r>
            <a:endParaRPr lang="zh-CN" altLang="en-US" sz="1200"/>
          </a:p>
          <a:p>
            <a:r>
              <a:rPr lang="zh-CN" altLang="en-US" sz="1200"/>
              <a:t>交换</a:t>
            </a:r>
            <a:endParaRPr lang="zh-CN" altLang="en-US" sz="1200"/>
          </a:p>
        </p:txBody>
      </p:sp>
      <p:sp>
        <p:nvSpPr>
          <p:cNvPr id="96" name="文本框 95"/>
          <p:cNvSpPr txBox="1"/>
          <p:nvPr/>
        </p:nvSpPr>
        <p:spPr>
          <a:xfrm>
            <a:off x="10742295" y="2834005"/>
            <a:ext cx="48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办件</a:t>
            </a:r>
            <a:endParaRPr lang="zh-CN" altLang="en-US" sz="1200"/>
          </a:p>
          <a:p>
            <a:r>
              <a:rPr lang="zh-CN" altLang="en-US" sz="1200"/>
              <a:t>交换</a:t>
            </a:r>
            <a:endParaRPr lang="zh-CN" altLang="en-US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6084570" y="1189990"/>
            <a:ext cx="860425" cy="548736"/>
            <a:chOff x="3599782" y="2697171"/>
            <a:chExt cx="1154430" cy="878944"/>
          </a:xfrm>
        </p:grpSpPr>
        <p:pic>
          <p:nvPicPr>
            <p:cNvPr id="61" name="图片 60" descr="db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33792" y="2697171"/>
              <a:ext cx="457200" cy="457200"/>
            </a:xfrm>
            <a:prstGeom prst="rect">
              <a:avLst/>
            </a:prstGeom>
          </p:spPr>
        </p:pic>
        <p:pic>
          <p:nvPicPr>
            <p:cNvPr id="62" name="图片 61" descr="加密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9457" y="2697171"/>
              <a:ext cx="481535" cy="481535"/>
            </a:xfrm>
            <a:prstGeom prst="rect">
              <a:avLst/>
            </a:prstGeom>
          </p:spPr>
        </p:pic>
        <p:sp>
          <p:nvSpPr>
            <p:cNvPr id="63" name="文本框 62"/>
            <p:cNvSpPr txBox="1"/>
            <p:nvPr/>
          </p:nvSpPr>
          <p:spPr>
            <a:xfrm>
              <a:off x="3599782" y="3134686"/>
              <a:ext cx="1154430" cy="441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申请材料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圆角矩形 7"/>
          <p:cNvSpPr/>
          <p:nvPr/>
        </p:nvSpPr>
        <p:spPr>
          <a:xfrm>
            <a:off x="2921635" y="135890"/>
            <a:ext cx="5817235" cy="1685925"/>
          </a:xfrm>
          <a:prstGeom prst="roundRect">
            <a:avLst/>
          </a:prstGeom>
          <a:noFill/>
          <a:ln>
            <a:solidFill>
              <a:srgbClr val="1322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3757295" y="222885"/>
            <a:ext cx="4626610" cy="1445895"/>
            <a:chOff x="14260" y="6676"/>
            <a:chExt cx="7286" cy="227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30" y="7256"/>
              <a:ext cx="2022" cy="1638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14741" y="6780"/>
              <a:ext cx="19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行政部门</a:t>
              </a:r>
              <a:endParaRPr lang="zh-CN" altLang="en-US" b="1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4260" y="6780"/>
              <a:ext cx="2762" cy="2173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9794" y="6676"/>
              <a:ext cx="175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/>
                <a:t>申请人员</a:t>
              </a:r>
              <a:endParaRPr lang="zh-CN" altLang="en-US" b="1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210175" y="2523490"/>
            <a:ext cx="1372235" cy="1410335"/>
            <a:chOff x="10061" y="4001"/>
            <a:chExt cx="2523" cy="2644"/>
          </a:xfrm>
        </p:grpSpPr>
        <p:pic>
          <p:nvPicPr>
            <p:cNvPr id="19" name="图片 18" descr="baas 区块链服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61" y="4616"/>
              <a:ext cx="615" cy="615"/>
            </a:xfrm>
            <a:prstGeom prst="rect">
              <a:avLst/>
            </a:prstGeom>
          </p:spPr>
        </p:pic>
        <p:pic>
          <p:nvPicPr>
            <p:cNvPr id="21" name="图片 20" descr="baas 区块链服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04" y="4001"/>
              <a:ext cx="615" cy="615"/>
            </a:xfrm>
            <a:prstGeom prst="rect">
              <a:avLst/>
            </a:prstGeom>
          </p:spPr>
        </p:pic>
        <p:pic>
          <p:nvPicPr>
            <p:cNvPr id="22" name="图片 21" descr="baas 区块链服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04" y="6031"/>
              <a:ext cx="615" cy="615"/>
            </a:xfrm>
            <a:prstGeom prst="rect">
              <a:avLst/>
            </a:prstGeom>
          </p:spPr>
        </p:pic>
        <p:pic>
          <p:nvPicPr>
            <p:cNvPr id="23" name="图片 22" descr="baas 区块链服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61" y="5673"/>
              <a:ext cx="615" cy="615"/>
            </a:xfrm>
            <a:prstGeom prst="rect">
              <a:avLst/>
            </a:prstGeom>
          </p:spPr>
        </p:pic>
        <p:pic>
          <p:nvPicPr>
            <p:cNvPr id="24" name="图片 23" descr="baas 区块链服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70" y="4616"/>
              <a:ext cx="615" cy="615"/>
            </a:xfrm>
            <a:prstGeom prst="rect">
              <a:avLst/>
            </a:prstGeom>
          </p:spPr>
        </p:pic>
        <p:pic>
          <p:nvPicPr>
            <p:cNvPr id="25" name="图片 24" descr="baas 区块链服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70" y="5673"/>
              <a:ext cx="615" cy="615"/>
            </a:xfrm>
            <a:prstGeom prst="rect">
              <a:avLst/>
            </a:prstGeom>
          </p:spPr>
        </p:pic>
        <p:pic>
          <p:nvPicPr>
            <p:cNvPr id="26" name="图片 25" descr="baas 区块链服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04" y="5058"/>
              <a:ext cx="615" cy="615"/>
            </a:xfrm>
            <a:prstGeom prst="rect">
              <a:avLst/>
            </a:prstGeom>
          </p:spPr>
        </p:pic>
        <p:cxnSp>
          <p:nvCxnSpPr>
            <p:cNvPr id="27" name="直接箭头连接符 26"/>
            <p:cNvCxnSpPr/>
            <p:nvPr/>
          </p:nvCxnSpPr>
          <p:spPr>
            <a:xfrm flipH="1">
              <a:off x="11575" y="6156"/>
              <a:ext cx="459" cy="245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>
              <a:off x="10543" y="4383"/>
              <a:ext cx="453" cy="348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H="1">
              <a:off x="10551" y="5534"/>
              <a:ext cx="453" cy="348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H="1">
              <a:off x="11533" y="4912"/>
              <a:ext cx="459" cy="319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21" idx="2"/>
              <a:endCxn id="26" idx="0"/>
            </p:cNvCxnSpPr>
            <p:nvPr/>
          </p:nvCxnSpPr>
          <p:spPr>
            <a:xfrm>
              <a:off x="11312" y="4616"/>
              <a:ext cx="0" cy="442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26" idx="2"/>
            </p:cNvCxnSpPr>
            <p:nvPr/>
          </p:nvCxnSpPr>
          <p:spPr>
            <a:xfrm>
              <a:off x="11312" y="5673"/>
              <a:ext cx="0" cy="373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9" idx="2"/>
            </p:cNvCxnSpPr>
            <p:nvPr/>
          </p:nvCxnSpPr>
          <p:spPr>
            <a:xfrm flipH="1">
              <a:off x="10361" y="5231"/>
              <a:ext cx="8" cy="442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>
              <a:off x="12278" y="5231"/>
              <a:ext cx="0" cy="442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11602" y="4367"/>
              <a:ext cx="451" cy="333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10614" y="6156"/>
              <a:ext cx="397" cy="280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0676" y="5058"/>
              <a:ext cx="396" cy="246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1575" y="5534"/>
              <a:ext cx="444" cy="238"/>
            </a:xfrm>
            <a:prstGeom prst="straightConnector1">
              <a:avLst/>
            </a:prstGeom>
            <a:ln>
              <a:solidFill>
                <a:srgbClr val="0649D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椭圆 40"/>
          <p:cNvSpPr/>
          <p:nvPr/>
        </p:nvSpPr>
        <p:spPr>
          <a:xfrm>
            <a:off x="5028565" y="2474595"/>
            <a:ext cx="1725295" cy="1715770"/>
          </a:xfrm>
          <a:prstGeom prst="ellipse">
            <a:avLst/>
          </a:prstGeom>
          <a:noFill/>
          <a:ln>
            <a:solidFill>
              <a:srgbClr val="0649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11165" y="3853180"/>
            <a:ext cx="939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区块链</a:t>
            </a:r>
            <a:endParaRPr lang="zh-CN" altLang="en-US" sz="1600"/>
          </a:p>
        </p:txBody>
      </p:sp>
      <p:cxnSp>
        <p:nvCxnSpPr>
          <p:cNvPr id="50" name="直接箭头连接符 49"/>
          <p:cNvCxnSpPr>
            <a:stCxn id="41" idx="7"/>
          </p:cNvCxnSpPr>
          <p:nvPr/>
        </p:nvCxnSpPr>
        <p:spPr>
          <a:xfrm flipV="1">
            <a:off x="6501130" y="1885315"/>
            <a:ext cx="15875" cy="84074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6517005" y="2152015"/>
            <a:ext cx="16376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申请材料数据上链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pic>
        <p:nvPicPr>
          <p:cNvPr id="93" name="图片 92" descr="钱包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765" y="5926455"/>
            <a:ext cx="570230" cy="570230"/>
          </a:xfrm>
          <a:prstGeom prst="rect">
            <a:avLst/>
          </a:prstGeom>
        </p:spPr>
      </p:pic>
      <p:sp>
        <p:nvSpPr>
          <p:cNvPr id="96" name="圆角矩形 95"/>
          <p:cNvSpPr/>
          <p:nvPr/>
        </p:nvSpPr>
        <p:spPr>
          <a:xfrm>
            <a:off x="4824730" y="5523865"/>
            <a:ext cx="2133600" cy="1024255"/>
          </a:xfrm>
          <a:prstGeom prst="roundRect">
            <a:avLst/>
          </a:prstGeom>
          <a:noFill/>
          <a:ln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>
            <a:off x="4849495" y="5801360"/>
            <a:ext cx="2095500" cy="0"/>
          </a:xfrm>
          <a:prstGeom prst="line">
            <a:avLst/>
          </a:prstGeom>
          <a:noFill/>
          <a:ln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文本框 97"/>
          <p:cNvSpPr txBox="1"/>
          <p:nvPr/>
        </p:nvSpPr>
        <p:spPr>
          <a:xfrm>
            <a:off x="5185410" y="5464810"/>
            <a:ext cx="1423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   </a:t>
            </a:r>
            <a:r>
              <a:rPr lang="zh-CN" altLang="en-US" b="1"/>
              <a:t>智能合约</a:t>
            </a:r>
            <a:endParaRPr lang="zh-CN" altLang="en-US" b="1"/>
          </a:p>
        </p:txBody>
      </p:sp>
      <p:sp>
        <p:nvSpPr>
          <p:cNvPr id="100" name="上下箭头 99"/>
          <p:cNvSpPr/>
          <p:nvPr/>
        </p:nvSpPr>
        <p:spPr>
          <a:xfrm>
            <a:off x="5813425" y="4338320"/>
            <a:ext cx="153035" cy="981075"/>
          </a:xfrm>
          <a:prstGeom prst="upDownArrow">
            <a:avLst/>
          </a:prstGeom>
          <a:noFill/>
          <a:ln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人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6725"/>
            <a:ext cx="1024255" cy="102425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H="1">
            <a:off x="5514340" y="1097915"/>
            <a:ext cx="1804035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67760" y="2152015"/>
            <a:ext cx="1282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审批材料上链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>
            <a:stCxn id="16" idx="2"/>
            <a:endCxn id="41" idx="1"/>
          </p:cNvCxnSpPr>
          <p:nvPr/>
        </p:nvCxnSpPr>
        <p:spPr>
          <a:xfrm>
            <a:off x="4634230" y="1668780"/>
            <a:ext cx="647065" cy="10572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280660" y="602742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审批规则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966460" y="4549775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返回审批结果</a:t>
            </a:r>
            <a:endParaRPr lang="zh-CN" altLang="en-US" sz="1400" b="1">
              <a:solidFill>
                <a:srgbClr val="FF0000"/>
              </a:solidFill>
            </a:endParaRPr>
          </a:p>
          <a:p>
            <a:r>
              <a:rPr lang="zh-CN" altLang="en-US" sz="1400" b="1">
                <a:solidFill>
                  <a:srgbClr val="FF0000"/>
                </a:solidFill>
              </a:rPr>
              <a:t>审批结果上链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 flipH="1" flipV="1">
            <a:off x="4829810" y="1645285"/>
            <a:ext cx="584835" cy="95885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5133340" y="1845310"/>
            <a:ext cx="1282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返回审批结果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5993765" y="323215"/>
            <a:ext cx="860425" cy="548736"/>
            <a:chOff x="3599782" y="2697171"/>
            <a:chExt cx="1154430" cy="878944"/>
          </a:xfrm>
        </p:grpSpPr>
        <p:pic>
          <p:nvPicPr>
            <p:cNvPr id="65" name="图片 64" descr="db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33792" y="2697171"/>
              <a:ext cx="457200" cy="457200"/>
            </a:xfrm>
            <a:prstGeom prst="rect">
              <a:avLst/>
            </a:prstGeom>
          </p:spPr>
        </p:pic>
        <p:pic>
          <p:nvPicPr>
            <p:cNvPr id="66" name="图片 65" descr="加密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9457" y="2697171"/>
              <a:ext cx="481535" cy="481535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3599782" y="3134686"/>
              <a:ext cx="1154430" cy="441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审批结果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68" name="直接箭头连接符 67"/>
          <p:cNvCxnSpPr/>
          <p:nvPr/>
        </p:nvCxnSpPr>
        <p:spPr>
          <a:xfrm>
            <a:off x="5587365" y="935990"/>
            <a:ext cx="1638935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3820" y="608330"/>
            <a:ext cx="8707755" cy="5641340"/>
          </a:xfrm>
          <a:prstGeom prst="rect">
            <a:avLst/>
          </a:prstGeom>
          <a:noFill/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670" y="520700"/>
            <a:ext cx="1504950" cy="4286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38500" y="612140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电力大数据中心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434975"/>
            <a:ext cx="1647825" cy="514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70" y="4014470"/>
            <a:ext cx="2261235" cy="390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65035" y="61214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区块链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12030" y="4029710"/>
            <a:ext cx="2011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认证和访问控制模块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30835" y="243205"/>
            <a:ext cx="1320800" cy="636397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148205" y="243205"/>
            <a:ext cx="5606415" cy="636270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288020" y="243205"/>
            <a:ext cx="3632200" cy="636333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9105" y="36131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互动角色</a:t>
            </a:r>
            <a:endParaRPr lang="zh-CN" altLang="en-US" b="1"/>
          </a:p>
        </p:txBody>
      </p:sp>
      <p:pic>
        <p:nvPicPr>
          <p:cNvPr id="6" name="图片 5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9934" y="843788"/>
            <a:ext cx="467200" cy="4737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0694" y="1331532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换电站</a:t>
            </a:r>
            <a:endParaRPr lang="zh-CN" altLang="en-US" sz="1400" dirty="0"/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9934" y="1819275"/>
            <a:ext cx="467200" cy="4737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62894" y="2307019"/>
            <a:ext cx="1071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电池供应商</a:t>
            </a:r>
            <a:endParaRPr lang="zh-CN" altLang="en-US" sz="1400"/>
          </a:p>
        </p:txBody>
      </p:sp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739934" y="2840990"/>
            <a:ext cx="467200" cy="4102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51794" y="3282506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换电车主</a:t>
            </a:r>
            <a:endParaRPr lang="zh-CN" altLang="en-US" sz="1400"/>
          </a:p>
        </p:txBody>
      </p:sp>
      <p:sp>
        <p:nvSpPr>
          <p:cNvPr id="19" name="上下箭头 18"/>
          <p:cNvSpPr/>
          <p:nvPr/>
        </p:nvSpPr>
        <p:spPr>
          <a:xfrm rot="5400000">
            <a:off x="1736725" y="911225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上下箭头 14"/>
          <p:cNvSpPr/>
          <p:nvPr/>
        </p:nvSpPr>
        <p:spPr>
          <a:xfrm rot="5400000">
            <a:off x="1736725" y="2969895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上下箭头 15"/>
          <p:cNvSpPr/>
          <p:nvPr/>
        </p:nvSpPr>
        <p:spPr>
          <a:xfrm rot="5400000">
            <a:off x="1736725" y="4871720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945572" y="361315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业务中台与中间件</a:t>
            </a:r>
            <a:endParaRPr lang="zh-CN" altLang="en-US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3844290" y="5551170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3600" b="1"/>
              <a:t>换电业务中</a:t>
            </a:r>
            <a:r>
              <a:rPr lang="zh-CN" altLang="en-US" sz="3600" b="1"/>
              <a:t>台</a:t>
            </a:r>
            <a:endParaRPr lang="zh-CN" altLang="en-US" sz="3600" b="1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855" y="5398135"/>
            <a:ext cx="1205865" cy="936625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2306002" y="5374005"/>
            <a:ext cx="5290820" cy="1063625"/>
          </a:xfrm>
          <a:prstGeom prst="rect">
            <a:avLst/>
          </a:prstGeom>
          <a:noFill/>
          <a:ln w="28575">
            <a:solidFill>
              <a:srgbClr val="92D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上下箭头 49"/>
          <p:cNvSpPr/>
          <p:nvPr/>
        </p:nvSpPr>
        <p:spPr>
          <a:xfrm rot="5400000">
            <a:off x="7879080" y="1487805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上下箭头 50"/>
          <p:cNvSpPr/>
          <p:nvPr/>
        </p:nvSpPr>
        <p:spPr>
          <a:xfrm rot="5400000">
            <a:off x="7879080" y="3319780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上下箭头 52"/>
          <p:cNvSpPr/>
          <p:nvPr/>
        </p:nvSpPr>
        <p:spPr>
          <a:xfrm rot="5400000">
            <a:off x="7877175" y="5367655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9768840" y="361315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应用层</a:t>
            </a:r>
            <a:endParaRPr lang="zh-CN" altLang="en-US" b="1" dirty="0"/>
          </a:p>
        </p:txBody>
      </p:sp>
      <p:sp>
        <p:nvSpPr>
          <p:cNvPr id="83" name="矩形 82"/>
          <p:cNvSpPr/>
          <p:nvPr/>
        </p:nvSpPr>
        <p:spPr>
          <a:xfrm>
            <a:off x="8439092" y="4788387"/>
            <a:ext cx="1632008" cy="1649050"/>
          </a:xfrm>
          <a:prstGeom prst="rect">
            <a:avLst/>
          </a:prstGeom>
          <a:solidFill>
            <a:srgbClr val="FFE69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换电生态金融服务</a:t>
            </a:r>
            <a:endParaRPr lang="zh-CN" altLang="en-US" sz="1200" b="1" dirty="0">
              <a:solidFill>
                <a:schemeClr val="tx1"/>
              </a:solidFill>
            </a:endParaRPr>
          </a:p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换电站金融服务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充放电服务商金融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换电用户金融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0161472" y="1252185"/>
            <a:ext cx="1632008" cy="1649050"/>
          </a:xfrm>
          <a:prstGeom prst="rect">
            <a:avLst/>
          </a:prstGeom>
          <a:solidFill>
            <a:srgbClr val="FFE69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换电站管理系统</a:t>
            </a:r>
            <a:endParaRPr lang="zh-CN" altLang="en-US" sz="1200" b="1" dirty="0">
              <a:solidFill>
                <a:schemeClr val="tx1"/>
              </a:solidFill>
            </a:endParaRPr>
          </a:p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运营信息维护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动力电池供应链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客户信息挖掘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439092" y="3020286"/>
            <a:ext cx="1632008" cy="1649050"/>
          </a:xfrm>
          <a:prstGeom prst="rect">
            <a:avLst/>
          </a:prstGeom>
          <a:solidFill>
            <a:srgbClr val="FFE69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动力电池溯源系统</a:t>
            </a:r>
            <a:endParaRPr lang="zh-CN" altLang="en-US" sz="1200" b="1" dirty="0">
              <a:solidFill>
                <a:schemeClr val="tx1"/>
              </a:solidFill>
            </a:endParaRPr>
          </a:p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区块链存证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电池流通管理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电量健康度管理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0161472" y="3042068"/>
            <a:ext cx="1632008" cy="1649050"/>
          </a:xfrm>
          <a:prstGeom prst="rect">
            <a:avLst/>
          </a:prstGeom>
          <a:solidFill>
            <a:srgbClr val="FFE69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sym typeface="+mn-ea"/>
              </a:rPr>
              <a:t>充放电调度系统</a:t>
            </a:r>
            <a:endParaRPr lang="zh-CN" altLang="en-US" sz="1200" b="1" dirty="0">
              <a:solidFill>
                <a:schemeClr val="tx1"/>
              </a:solidFill>
            </a:endParaRPr>
          </a:p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智能合约调度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电量可视化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电网</a:t>
            </a:r>
            <a:r>
              <a:rPr lang="en-US" altLang="zh-CN" sz="1200" dirty="0">
                <a:solidFill>
                  <a:schemeClr val="tx1"/>
                </a:solidFill>
                <a:sym typeface="+mn-ea"/>
              </a:rPr>
              <a:t>V2G</a:t>
            </a:r>
            <a:endParaRPr lang="en-US" altLang="zh-CN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439092" y="1252185"/>
            <a:ext cx="1632008" cy="1649050"/>
          </a:xfrm>
          <a:prstGeom prst="rect">
            <a:avLst/>
          </a:prstGeom>
          <a:solidFill>
            <a:srgbClr val="FFE69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sym typeface="+mn-ea"/>
              </a:rPr>
              <a:t>换电</a:t>
            </a:r>
            <a:r>
              <a:rPr lang="en-US" altLang="zh-CN" sz="1200" b="1" dirty="0">
                <a:solidFill>
                  <a:schemeClr val="tx1"/>
                </a:solidFill>
                <a:sym typeface="+mn-ea"/>
              </a:rPr>
              <a:t>APP&amp;</a:t>
            </a:r>
            <a:r>
              <a:rPr lang="zh-CN" altLang="en-US" sz="1200" b="1" dirty="0">
                <a:solidFill>
                  <a:schemeClr val="tx1"/>
                </a:solidFill>
                <a:sym typeface="+mn-ea"/>
              </a:rPr>
              <a:t>小程序</a:t>
            </a:r>
            <a:endParaRPr lang="zh-CN" altLang="en-US" sz="1200" b="1" dirty="0">
              <a:solidFill>
                <a:schemeClr val="tx1"/>
              </a:solidFill>
            </a:endParaRPr>
          </a:p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换电查询预约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地图导航功能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交易触发服务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0161472" y="4788387"/>
            <a:ext cx="1632008" cy="1649050"/>
          </a:xfrm>
          <a:prstGeom prst="rect">
            <a:avLst/>
          </a:prstGeom>
          <a:solidFill>
            <a:srgbClr val="FFE69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 dirty="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sym typeface="+mn-ea"/>
              </a:rPr>
              <a:t>换电生态保险服务</a:t>
            </a:r>
            <a:endParaRPr lang="zh-CN" altLang="en-US" sz="1200" b="1" dirty="0">
              <a:solidFill>
                <a:schemeClr val="tx1"/>
              </a:solidFill>
            </a:endParaRPr>
          </a:p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换电站保险服务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换电用户车险服务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充放电服务商保险服务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3994" y="4257993"/>
            <a:ext cx="1249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充放电服务商</a:t>
            </a:r>
            <a:endParaRPr lang="zh-CN" altLang="en-US" sz="1400"/>
          </a:p>
        </p:txBody>
      </p:sp>
      <p:sp>
        <p:nvSpPr>
          <p:cNvPr id="3" name="文本框 2"/>
          <p:cNvSpPr txBox="1"/>
          <p:nvPr/>
        </p:nvSpPr>
        <p:spPr>
          <a:xfrm>
            <a:off x="729594" y="5233480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金融</a:t>
            </a:r>
            <a:endParaRPr lang="zh-CN" altLang="en-US" sz="1400"/>
          </a:p>
        </p:txBody>
      </p:sp>
      <p:sp>
        <p:nvSpPr>
          <p:cNvPr id="12" name="文本框 11"/>
          <p:cNvSpPr txBox="1"/>
          <p:nvPr/>
        </p:nvSpPr>
        <p:spPr>
          <a:xfrm>
            <a:off x="729594" y="6208967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保险</a:t>
            </a:r>
            <a:endParaRPr lang="zh-CN" altLang="en-US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0637520" y="821055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换电站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765540" y="824547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用户相关</a:t>
            </a:r>
            <a:endParaRPr lang="zh-CN" altLang="en-US" sz="1400" dirty="0"/>
          </a:p>
        </p:txBody>
      </p:sp>
      <p:pic>
        <p:nvPicPr>
          <p:cNvPr id="20" name="图片 19"/>
          <p:cNvPicPr/>
          <p:nvPr/>
        </p:nvPicPr>
        <p:blipFill>
          <a:blip r:embed="rId6"/>
          <a:stretch>
            <a:fillRect/>
          </a:stretch>
        </p:blipFill>
        <p:spPr>
          <a:xfrm>
            <a:off x="762632" y="3770249"/>
            <a:ext cx="444502" cy="47371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7"/>
          <a:stretch>
            <a:fillRect/>
          </a:stretch>
        </p:blipFill>
        <p:spPr>
          <a:xfrm>
            <a:off x="739934" y="4745736"/>
            <a:ext cx="467200" cy="47371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8"/>
          <a:stretch>
            <a:fillRect/>
          </a:stretch>
        </p:blipFill>
        <p:spPr>
          <a:xfrm>
            <a:off x="739934" y="5721223"/>
            <a:ext cx="467200" cy="473710"/>
          </a:xfrm>
          <a:prstGeom prst="rect">
            <a:avLst/>
          </a:prstGeom>
        </p:spPr>
      </p:pic>
      <p:sp>
        <p:nvSpPr>
          <p:cNvPr id="24" name="上下箭头 23"/>
          <p:cNvSpPr/>
          <p:nvPr/>
        </p:nvSpPr>
        <p:spPr>
          <a:xfrm rot="5400000">
            <a:off x="1736725" y="1824990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上下箭头 24"/>
          <p:cNvSpPr/>
          <p:nvPr/>
        </p:nvSpPr>
        <p:spPr>
          <a:xfrm rot="5400000">
            <a:off x="1736725" y="3954780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上下箭头 25"/>
          <p:cNvSpPr/>
          <p:nvPr/>
        </p:nvSpPr>
        <p:spPr>
          <a:xfrm rot="5400000">
            <a:off x="1736725" y="5893435"/>
            <a:ext cx="283845" cy="4445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Rectangle 7"/>
          <p:cNvSpPr>
            <a:spLocks noChangeArrowheads="1"/>
          </p:cNvSpPr>
          <p:nvPr/>
        </p:nvSpPr>
        <p:spPr bwMode="auto">
          <a:xfrm>
            <a:off x="2364105" y="892810"/>
            <a:ext cx="5174615" cy="4201795"/>
          </a:xfrm>
          <a:prstGeom prst="roundRect">
            <a:avLst>
              <a:gd name="adj" fmla="val 3505"/>
            </a:avLst>
          </a:prstGeom>
          <a:solidFill>
            <a:srgbClr val="BFE5FF"/>
          </a:solidFill>
          <a:ln w="9525">
            <a:noFill/>
            <a:rou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spcBef>
                <a:spcPct val="35000"/>
              </a:spcBef>
              <a:spcAft>
                <a:spcPct val="15000"/>
              </a:spcAft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zh-CN" sz="2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TextBox 86"/>
          <p:cNvSpPr txBox="1"/>
          <p:nvPr/>
        </p:nvSpPr>
        <p:spPr>
          <a:xfrm>
            <a:off x="3113893" y="1884784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建模可视化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TextBox 185"/>
          <p:cNvSpPr txBox="1"/>
          <p:nvPr/>
        </p:nvSpPr>
        <p:spPr>
          <a:xfrm>
            <a:off x="3113893" y="1586890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在线推理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TextBox 186"/>
          <p:cNvSpPr txBox="1"/>
          <p:nvPr/>
        </p:nvSpPr>
        <p:spPr>
          <a:xfrm>
            <a:off x="4643050" y="1887889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算法组件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TextBox 187"/>
          <p:cNvSpPr txBox="1"/>
          <p:nvPr/>
        </p:nvSpPr>
        <p:spPr>
          <a:xfrm>
            <a:off x="4643050" y="1583544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联邦建模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TextBox 188"/>
          <p:cNvSpPr txBox="1"/>
          <p:nvPr/>
        </p:nvSpPr>
        <p:spPr>
          <a:xfrm>
            <a:off x="3113893" y="1288995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特征工程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TextBox 189"/>
          <p:cNvSpPr txBox="1"/>
          <p:nvPr/>
        </p:nvSpPr>
        <p:spPr>
          <a:xfrm>
            <a:off x="4643050" y="1288995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分布式存储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TextBox 190"/>
          <p:cNvSpPr txBox="1"/>
          <p:nvPr/>
        </p:nvSpPr>
        <p:spPr>
          <a:xfrm>
            <a:off x="3122562" y="2947142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通道管理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TextBox 191"/>
          <p:cNvSpPr txBox="1"/>
          <p:nvPr/>
        </p:nvSpPr>
        <p:spPr>
          <a:xfrm>
            <a:off x="4651719" y="3241731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联盟管理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TextBox 192"/>
          <p:cNvSpPr txBox="1"/>
          <p:nvPr/>
        </p:nvSpPr>
        <p:spPr>
          <a:xfrm>
            <a:off x="4643050" y="2946666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自动化部署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TextBox 193"/>
          <p:cNvSpPr txBox="1"/>
          <p:nvPr/>
        </p:nvSpPr>
        <p:spPr>
          <a:xfrm>
            <a:off x="3122562" y="2650835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区块链浏览器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TextBox 194"/>
          <p:cNvSpPr txBox="1"/>
          <p:nvPr/>
        </p:nvSpPr>
        <p:spPr>
          <a:xfrm>
            <a:off x="4643050" y="2660361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共识机制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TextBox 195"/>
          <p:cNvSpPr txBox="1"/>
          <p:nvPr/>
        </p:nvSpPr>
        <p:spPr>
          <a:xfrm>
            <a:off x="3122562" y="3247337"/>
            <a:ext cx="126690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链码管理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TextBox 167"/>
          <p:cNvSpPr txBox="1">
            <a:spLocks noChangeArrowheads="1"/>
          </p:cNvSpPr>
          <p:nvPr/>
        </p:nvSpPr>
        <p:spPr bwMode="auto">
          <a:xfrm>
            <a:off x="2498537" y="2409507"/>
            <a:ext cx="241363" cy="11684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核心技术层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196"/>
          <p:cNvSpPr txBox="1"/>
          <p:nvPr/>
        </p:nvSpPr>
        <p:spPr>
          <a:xfrm>
            <a:off x="3121934" y="3950675"/>
            <a:ext cx="281186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数据清洗服务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197"/>
          <p:cNvSpPr txBox="1"/>
          <p:nvPr/>
        </p:nvSpPr>
        <p:spPr>
          <a:xfrm>
            <a:off x="3121934" y="4546225"/>
            <a:ext cx="281186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数据分析服务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198"/>
          <p:cNvSpPr txBox="1"/>
          <p:nvPr/>
        </p:nvSpPr>
        <p:spPr>
          <a:xfrm>
            <a:off x="3121934" y="4245950"/>
            <a:ext cx="2811862" cy="246221"/>
          </a:xfrm>
          <a:prstGeom prst="rect">
            <a:avLst/>
          </a:prstGeom>
          <a:solidFill>
            <a:srgbClr val="65BD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数据仓库管理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2877185" y="1127760"/>
            <a:ext cx="4448810" cy="1165225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62" name="矩形 61"/>
          <p:cNvSpPr/>
          <p:nvPr/>
        </p:nvSpPr>
        <p:spPr>
          <a:xfrm>
            <a:off x="2877820" y="2486025"/>
            <a:ext cx="4448810" cy="1165225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63" name="矩形 62"/>
          <p:cNvSpPr/>
          <p:nvPr/>
        </p:nvSpPr>
        <p:spPr>
          <a:xfrm>
            <a:off x="2880360" y="3787140"/>
            <a:ext cx="4448810" cy="1165225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13" name="椭圆 12"/>
          <p:cNvSpPr/>
          <p:nvPr/>
        </p:nvSpPr>
        <p:spPr>
          <a:xfrm>
            <a:off x="6071950" y="1319555"/>
            <a:ext cx="1125220" cy="78100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TextBox 61"/>
          <p:cNvSpPr txBox="1"/>
          <p:nvPr/>
        </p:nvSpPr>
        <p:spPr>
          <a:xfrm>
            <a:off x="6078532" y="1403208"/>
            <a:ext cx="1112056" cy="61369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联邦计算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061164" y="3973017"/>
            <a:ext cx="1125220" cy="78100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046932" y="2659721"/>
            <a:ext cx="1125220" cy="78100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TextBox 65"/>
          <p:cNvSpPr txBox="1"/>
          <p:nvPr/>
        </p:nvSpPr>
        <p:spPr>
          <a:xfrm>
            <a:off x="5976091" y="2743374"/>
            <a:ext cx="1266902" cy="61369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区块链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BaaS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62"/>
          <p:cNvSpPr txBox="1"/>
          <p:nvPr/>
        </p:nvSpPr>
        <p:spPr>
          <a:xfrm>
            <a:off x="5897266" y="4056670"/>
            <a:ext cx="1453017" cy="61369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大数据计算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中间件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/>
          <p:cNvSpPr/>
          <p:nvPr/>
        </p:nvSpPr>
        <p:spPr>
          <a:xfrm>
            <a:off x="853758" y="677228"/>
            <a:ext cx="10484485" cy="5503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992428" y="1359532"/>
            <a:ext cx="2966496" cy="14007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4232152" y="1497962"/>
            <a:ext cx="2966496" cy="14007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1010227" y="1432557"/>
            <a:ext cx="3727827" cy="14007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45" name="CustomShape 15"/>
          <p:cNvSpPr/>
          <p:nvPr/>
        </p:nvSpPr>
        <p:spPr>
          <a:xfrm>
            <a:off x="964248" y="785595"/>
            <a:ext cx="10263505" cy="573982"/>
          </a:xfrm>
          <a:prstGeom prst="rect">
            <a:avLst/>
          </a:prstGeom>
          <a:solidFill>
            <a:srgbClr val="7F64A2"/>
          </a:solidFill>
          <a:ln w="25400" cap="flat" cmpd="sng" algn="ctr">
            <a:noFill/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-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</a:rPr>
              <a:t>基于区块链的换电供应链服务平台</a:t>
            </a: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870382" y="152186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充放电管理</a:t>
            </a:r>
            <a:endParaRPr lang="zh-CN" altLang="en-US" sz="1600" dirty="0"/>
          </a:p>
        </p:txBody>
      </p:sp>
      <p:sp>
        <p:nvSpPr>
          <p:cNvPr id="47" name="文本框 46"/>
          <p:cNvSpPr txBox="1"/>
          <p:nvPr/>
        </p:nvSpPr>
        <p:spPr>
          <a:xfrm>
            <a:off x="5215233" y="1651595"/>
            <a:ext cx="1198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供应链金融</a:t>
            </a:r>
            <a:endParaRPr lang="zh-CN" altLang="en-US" sz="1600" dirty="0"/>
          </a:p>
        </p:txBody>
      </p:sp>
      <p:sp>
        <p:nvSpPr>
          <p:cNvPr id="48" name="文本框 47"/>
          <p:cNvSpPr txBox="1"/>
          <p:nvPr/>
        </p:nvSpPr>
        <p:spPr>
          <a:xfrm>
            <a:off x="2063662" y="1594891"/>
            <a:ext cx="1198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供应链管理</a:t>
            </a:r>
            <a:endParaRPr lang="zh-CN" altLang="en-US" sz="1600" dirty="0"/>
          </a:p>
        </p:txBody>
      </p:sp>
      <p:sp>
        <p:nvSpPr>
          <p:cNvPr id="52" name="矩形 51"/>
          <p:cNvSpPr/>
          <p:nvPr/>
        </p:nvSpPr>
        <p:spPr>
          <a:xfrm>
            <a:off x="4525526" y="2143865"/>
            <a:ext cx="602629" cy="5803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信用评估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416621" y="2155514"/>
            <a:ext cx="602629" cy="5803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风控建模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307718" y="2159556"/>
            <a:ext cx="602629" cy="5803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…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256852" y="2093586"/>
            <a:ext cx="602629" cy="580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动力电池供应链</a:t>
            </a:r>
            <a:endParaRPr lang="zh-CN" altLang="en-US" sz="1400" b="1" dirty="0"/>
          </a:p>
        </p:txBody>
      </p:sp>
      <p:sp>
        <p:nvSpPr>
          <p:cNvPr id="56" name="矩形 55"/>
          <p:cNvSpPr/>
          <p:nvPr/>
        </p:nvSpPr>
        <p:spPr>
          <a:xfrm>
            <a:off x="3039044" y="2093586"/>
            <a:ext cx="602629" cy="580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电池电量管理</a:t>
            </a:r>
            <a:endParaRPr lang="zh-CN" altLang="en-US" sz="1400" b="1" dirty="0"/>
          </a:p>
        </p:txBody>
      </p:sp>
      <p:sp>
        <p:nvSpPr>
          <p:cNvPr id="57" name="矩形 56"/>
          <p:cNvSpPr/>
          <p:nvPr/>
        </p:nvSpPr>
        <p:spPr>
          <a:xfrm>
            <a:off x="3855027" y="2093586"/>
            <a:ext cx="602629" cy="580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资源管理</a:t>
            </a:r>
            <a:endParaRPr lang="zh-CN" altLang="en-US" sz="1400" b="1" dirty="0"/>
          </a:p>
        </p:txBody>
      </p:sp>
      <p:sp>
        <p:nvSpPr>
          <p:cNvPr id="58" name="矩形 57"/>
          <p:cNvSpPr/>
          <p:nvPr/>
        </p:nvSpPr>
        <p:spPr>
          <a:xfrm>
            <a:off x="2072835" y="2093586"/>
            <a:ext cx="752855" cy="580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电池来不及供应链</a:t>
            </a:r>
            <a:endParaRPr lang="zh-CN" altLang="en-US" sz="1400" b="1" dirty="0"/>
          </a:p>
        </p:txBody>
      </p:sp>
      <p:sp>
        <p:nvSpPr>
          <p:cNvPr id="60" name="矩形 59"/>
          <p:cNvSpPr/>
          <p:nvPr/>
        </p:nvSpPr>
        <p:spPr>
          <a:xfrm>
            <a:off x="8272824" y="2001393"/>
            <a:ext cx="602629" cy="5803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充电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优化</a:t>
            </a:r>
            <a:endParaRPr lang="zh-CN" altLang="en-US" sz="1400" b="1" dirty="0"/>
          </a:p>
        </p:txBody>
      </p:sp>
      <p:sp>
        <p:nvSpPr>
          <p:cNvPr id="61" name="矩形 60"/>
          <p:cNvSpPr/>
          <p:nvPr/>
        </p:nvSpPr>
        <p:spPr>
          <a:xfrm>
            <a:off x="9163919" y="2013042"/>
            <a:ext cx="602629" cy="5803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电量计量</a:t>
            </a:r>
            <a:endParaRPr lang="zh-CN" altLang="en-US" sz="1400" b="1" dirty="0"/>
          </a:p>
        </p:txBody>
      </p:sp>
      <p:sp>
        <p:nvSpPr>
          <p:cNvPr id="62" name="矩形 61"/>
          <p:cNvSpPr/>
          <p:nvPr/>
        </p:nvSpPr>
        <p:spPr>
          <a:xfrm>
            <a:off x="10055016" y="2017084"/>
            <a:ext cx="602629" cy="5803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放电管理</a:t>
            </a:r>
            <a:endParaRPr lang="zh-CN" altLang="en-US" sz="1400" b="1" dirty="0"/>
          </a:p>
        </p:txBody>
      </p:sp>
      <p:sp>
        <p:nvSpPr>
          <p:cNvPr id="63" name="文本框 62"/>
          <p:cNvSpPr txBox="1"/>
          <p:nvPr/>
        </p:nvSpPr>
        <p:spPr>
          <a:xfrm>
            <a:off x="2036943" y="573385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供应商</a:t>
            </a:r>
            <a:endParaRPr lang="zh-CN" altLang="en-US" sz="1600" dirty="0"/>
          </a:p>
        </p:txBody>
      </p:sp>
      <p:sp>
        <p:nvSpPr>
          <p:cNvPr id="64" name="文本框 63"/>
          <p:cNvSpPr txBox="1"/>
          <p:nvPr/>
        </p:nvSpPr>
        <p:spPr>
          <a:xfrm>
            <a:off x="5490706" y="573385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换电运营商</a:t>
            </a:r>
            <a:endParaRPr lang="zh-CN" altLang="en-US" sz="1600" dirty="0"/>
          </a:p>
        </p:txBody>
      </p:sp>
      <p:sp>
        <p:nvSpPr>
          <p:cNvPr id="65" name="文本框 64"/>
          <p:cNvSpPr txBox="1"/>
          <p:nvPr/>
        </p:nvSpPr>
        <p:spPr>
          <a:xfrm>
            <a:off x="9066322" y="5733851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换电客户</a:t>
            </a:r>
            <a:endParaRPr lang="zh-CN" altLang="en-US" sz="1600" b="1" dirty="0"/>
          </a:p>
        </p:txBody>
      </p:sp>
      <p:pic>
        <p:nvPicPr>
          <p:cNvPr id="67" name="图片 6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150" y="5227062"/>
            <a:ext cx="457378" cy="457378"/>
          </a:xfrm>
          <a:prstGeom prst="rect">
            <a:avLst/>
          </a:prstGeom>
        </p:spPr>
      </p:pic>
      <p:pic>
        <p:nvPicPr>
          <p:cNvPr id="69" name="图片 6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922" y="5227062"/>
            <a:ext cx="457378" cy="457378"/>
          </a:xfrm>
          <a:prstGeom prst="rect">
            <a:avLst/>
          </a:prstGeom>
        </p:spPr>
      </p:pic>
      <p:pic>
        <p:nvPicPr>
          <p:cNvPr id="71" name="图片 7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11" y="5227062"/>
            <a:ext cx="457378" cy="457378"/>
          </a:xfrm>
          <a:prstGeom prst="rect">
            <a:avLst/>
          </a:prstGeom>
        </p:spPr>
      </p:pic>
      <p:pic>
        <p:nvPicPr>
          <p:cNvPr id="81" name="图片 80"/>
          <p:cNvPicPr/>
          <p:nvPr/>
        </p:nvPicPr>
        <p:blipFill>
          <a:blip r:embed="rId4"/>
          <a:stretch>
            <a:fillRect/>
          </a:stretch>
        </p:blipFill>
        <p:spPr>
          <a:xfrm>
            <a:off x="5084091" y="3429000"/>
            <a:ext cx="932776" cy="558418"/>
          </a:xfrm>
          <a:prstGeom prst="rect">
            <a:avLst/>
          </a:prstGeom>
        </p:spPr>
      </p:pic>
      <p:pic>
        <p:nvPicPr>
          <p:cNvPr id="82" name="图片 81"/>
          <p:cNvPicPr/>
          <p:nvPr/>
        </p:nvPicPr>
        <p:blipFill>
          <a:blip r:embed="rId4"/>
          <a:stretch>
            <a:fillRect/>
          </a:stretch>
        </p:blipFill>
        <p:spPr>
          <a:xfrm>
            <a:off x="6182966" y="3429000"/>
            <a:ext cx="932776" cy="558418"/>
          </a:xfrm>
          <a:prstGeom prst="rect">
            <a:avLst/>
          </a:prstGeom>
        </p:spPr>
      </p:pic>
      <p:pic>
        <p:nvPicPr>
          <p:cNvPr id="84" name="图片 83"/>
          <p:cNvPicPr/>
          <p:nvPr/>
        </p:nvPicPr>
        <p:blipFill>
          <a:blip r:embed="rId4"/>
          <a:stretch>
            <a:fillRect/>
          </a:stretch>
        </p:blipFill>
        <p:spPr>
          <a:xfrm>
            <a:off x="5084091" y="4111290"/>
            <a:ext cx="932776" cy="558418"/>
          </a:xfrm>
          <a:prstGeom prst="rect">
            <a:avLst/>
          </a:prstGeom>
        </p:spPr>
      </p:pic>
      <p:pic>
        <p:nvPicPr>
          <p:cNvPr id="85" name="图片 84"/>
          <p:cNvPicPr/>
          <p:nvPr/>
        </p:nvPicPr>
        <p:blipFill>
          <a:blip r:embed="rId4"/>
          <a:stretch>
            <a:fillRect/>
          </a:stretch>
        </p:blipFill>
        <p:spPr>
          <a:xfrm>
            <a:off x="6182966" y="4111290"/>
            <a:ext cx="932776" cy="558418"/>
          </a:xfrm>
          <a:prstGeom prst="rect">
            <a:avLst/>
          </a:prstGeom>
        </p:spPr>
      </p:pic>
      <p:sp>
        <p:nvSpPr>
          <p:cNvPr id="89" name="椭圆 88"/>
          <p:cNvSpPr/>
          <p:nvPr/>
        </p:nvSpPr>
        <p:spPr>
          <a:xfrm>
            <a:off x="918097" y="3016873"/>
            <a:ext cx="3298326" cy="114219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1268702" y="3193697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</a:rPr>
              <a:t>电池</a:t>
            </a:r>
            <a:endParaRPr lang="en-US" altLang="zh-CN" sz="14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</a:rPr>
              <a:t>零部件</a:t>
            </a:r>
            <a:endParaRPr lang="en-US" altLang="zh-CN" sz="14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</a:rPr>
              <a:t>供应商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918097" y="3929241"/>
            <a:ext cx="3298326" cy="11421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文本框 85"/>
          <p:cNvSpPr txBox="1"/>
          <p:nvPr/>
        </p:nvSpPr>
        <p:spPr>
          <a:xfrm>
            <a:off x="1237190" y="423873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</a:rPr>
              <a:t>电力</a:t>
            </a:r>
            <a:endParaRPr lang="en-US" altLang="zh-CN" sz="14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</a:rPr>
              <a:t>供应商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681" y="3207344"/>
            <a:ext cx="538579" cy="538579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317" y="3207344"/>
            <a:ext cx="538579" cy="538579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952" y="3207344"/>
            <a:ext cx="538579" cy="538579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48" y="4223012"/>
            <a:ext cx="523220" cy="523220"/>
          </a:xfrm>
          <a:prstGeom prst="rect">
            <a:avLst/>
          </a:prstGeom>
        </p:spPr>
      </p:pic>
      <p:pic>
        <p:nvPicPr>
          <p:cNvPr id="99" name="图片 9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264" y="4223012"/>
            <a:ext cx="523220" cy="52322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580" y="4223012"/>
            <a:ext cx="523220" cy="523220"/>
          </a:xfrm>
          <a:prstGeom prst="rect">
            <a:avLst/>
          </a:prstGeom>
        </p:spPr>
      </p:pic>
      <p:sp>
        <p:nvSpPr>
          <p:cNvPr id="101" name="矩形 100"/>
          <p:cNvSpPr/>
          <p:nvPr/>
        </p:nvSpPr>
        <p:spPr>
          <a:xfrm>
            <a:off x="4891961" y="3258859"/>
            <a:ext cx="2401427" cy="1590231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cxnSp>
        <p:nvCxnSpPr>
          <p:cNvPr id="103" name="直接箭头连接符 102"/>
          <p:cNvCxnSpPr/>
          <p:nvPr/>
        </p:nvCxnSpPr>
        <p:spPr>
          <a:xfrm>
            <a:off x="4226069" y="3586851"/>
            <a:ext cx="665892" cy="132631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 flipV="1">
            <a:off x="4226069" y="4350601"/>
            <a:ext cx="680376" cy="134021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: 圆角 109"/>
          <p:cNvSpPr/>
          <p:nvPr/>
        </p:nvSpPr>
        <p:spPr>
          <a:xfrm>
            <a:off x="8442037" y="3091277"/>
            <a:ext cx="2022765" cy="916864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矩形: 圆角 110"/>
          <p:cNvSpPr/>
          <p:nvPr/>
        </p:nvSpPr>
        <p:spPr>
          <a:xfrm>
            <a:off x="8459284" y="4100790"/>
            <a:ext cx="2022765" cy="916864"/>
          </a:xfrm>
          <a:prstGeom prst="roundRect">
            <a:avLst/>
          </a:prstGeom>
          <a:noFill/>
          <a:ln>
            <a:solidFill>
              <a:srgbClr val="E874AE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7" name="图片 76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773" y="4176102"/>
            <a:ext cx="763567" cy="763567"/>
          </a:xfrm>
          <a:prstGeom prst="rect">
            <a:avLst/>
          </a:prstGeom>
        </p:spPr>
      </p:pic>
      <p:pic>
        <p:nvPicPr>
          <p:cNvPr id="79" name="图片 78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519" y="3181726"/>
            <a:ext cx="763567" cy="763567"/>
          </a:xfrm>
          <a:prstGeom prst="rect">
            <a:avLst/>
          </a:prstGeom>
        </p:spPr>
      </p:pic>
      <p:pic>
        <p:nvPicPr>
          <p:cNvPr id="107" name="图片 106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700" y="3227955"/>
            <a:ext cx="718781" cy="718781"/>
          </a:xfrm>
          <a:prstGeom prst="rect">
            <a:avLst/>
          </a:prstGeom>
        </p:spPr>
      </p:pic>
      <p:pic>
        <p:nvPicPr>
          <p:cNvPr id="109" name="图片 108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083" y="4214487"/>
            <a:ext cx="718781" cy="718781"/>
          </a:xfrm>
          <a:prstGeom prst="rect">
            <a:avLst/>
          </a:prstGeom>
        </p:spPr>
      </p:pic>
      <p:cxnSp>
        <p:nvCxnSpPr>
          <p:cNvPr id="112" name="直接箭头连接符 111"/>
          <p:cNvCxnSpPr>
            <a:endCxn id="114" idx="1"/>
          </p:cNvCxnSpPr>
          <p:nvPr/>
        </p:nvCxnSpPr>
        <p:spPr>
          <a:xfrm>
            <a:off x="7324002" y="3759882"/>
            <a:ext cx="1009766" cy="299806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: 圆角 113"/>
          <p:cNvSpPr/>
          <p:nvPr/>
        </p:nvSpPr>
        <p:spPr>
          <a:xfrm>
            <a:off x="8333768" y="3002865"/>
            <a:ext cx="2283942" cy="2113645"/>
          </a:xfrm>
          <a:prstGeom prst="roundRect">
            <a:avLst>
              <a:gd name="adj" fmla="val 7053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6" name="直接箭头连接符 115"/>
          <p:cNvCxnSpPr/>
          <p:nvPr/>
        </p:nvCxnSpPr>
        <p:spPr>
          <a:xfrm flipH="1" flipV="1">
            <a:off x="7293388" y="4176102"/>
            <a:ext cx="977622" cy="214397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/>
          <p:nvPr/>
        </p:nvSpPr>
        <p:spPr>
          <a:xfrm rot="5400000">
            <a:off x="3558308" y="808468"/>
            <a:ext cx="1842657" cy="2189020"/>
          </a:xfrm>
          <a:prstGeom prst="hexagon">
            <a:avLst/>
          </a:prstGeom>
          <a:solidFill>
            <a:srgbClr val="F3B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6698389" y="981648"/>
            <a:ext cx="1842659" cy="184265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85126" y="3616325"/>
            <a:ext cx="5155922" cy="232525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71750" y="1456702"/>
            <a:ext cx="14157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/>
              <a:t>换电交易逻辑</a:t>
            </a:r>
            <a:endParaRPr lang="en-US" altLang="zh-CN" sz="1600" dirty="0"/>
          </a:p>
          <a:p>
            <a:pPr algn="ctr"/>
            <a:endParaRPr lang="en-US" altLang="zh-CN" dirty="0"/>
          </a:p>
          <a:p>
            <a:pPr algn="ctr"/>
            <a:r>
              <a:rPr lang="zh-CN" altLang="en-US" sz="2000" dirty="0"/>
              <a:t>智能合约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7014424" y="131877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/>
              <a:t>共识机制</a:t>
            </a:r>
            <a:endParaRPr lang="en-US" altLang="zh-CN" sz="2000" dirty="0"/>
          </a:p>
          <a:p>
            <a:pPr algn="ctr"/>
            <a:r>
              <a:rPr lang="en-US" altLang="zh-CN" sz="2000" dirty="0"/>
              <a:t>SBFT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196304" y="2128749"/>
            <a:ext cx="902811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验证节点</a:t>
            </a:r>
            <a:endParaRPr lang="zh-CN" altLang="en-US" sz="1400" dirty="0"/>
          </a:p>
        </p:txBody>
      </p:sp>
      <p:pic>
        <p:nvPicPr>
          <p:cNvPr id="12" name="图片 1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76409" y="4527753"/>
            <a:ext cx="467200" cy="473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34856" y="4593257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换电站</a:t>
            </a:r>
            <a:endParaRPr lang="zh-CN" altLang="en-US" sz="1400" dirty="0"/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5294851" y="5028995"/>
            <a:ext cx="467200" cy="47371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13336" y="5502705"/>
            <a:ext cx="1071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电池供应商</a:t>
            </a:r>
            <a:endParaRPr lang="zh-CN" altLang="en-US" sz="1400" dirty="0"/>
          </a:p>
        </p:txBody>
      </p:sp>
      <p:pic>
        <p:nvPicPr>
          <p:cNvPr id="16" name="图片 15"/>
          <p:cNvPicPr/>
          <p:nvPr/>
        </p:nvPicPr>
        <p:blipFill>
          <a:blip r:embed="rId4"/>
          <a:stretch>
            <a:fillRect/>
          </a:stretch>
        </p:blipFill>
        <p:spPr>
          <a:xfrm>
            <a:off x="5151562" y="4003817"/>
            <a:ext cx="467200" cy="41021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938122" y="3721541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换电车主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5984218" y="3774699"/>
            <a:ext cx="1249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充放电服务商</a:t>
            </a:r>
            <a:endParaRPr lang="zh-CN" altLang="en-US" sz="1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301835" y="5502704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金融</a:t>
            </a:r>
            <a:endParaRPr lang="zh-CN" altLang="en-US" sz="1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7701290" y="4671816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保险</a:t>
            </a:r>
            <a:endParaRPr lang="zh-CN" altLang="en-US" sz="1400" dirty="0"/>
          </a:p>
        </p:txBody>
      </p:sp>
      <p:pic>
        <p:nvPicPr>
          <p:cNvPr id="21" name="图片 20"/>
          <p:cNvPicPr/>
          <p:nvPr/>
        </p:nvPicPr>
        <p:blipFill>
          <a:blip r:embed="rId5"/>
          <a:stretch>
            <a:fillRect/>
          </a:stretch>
        </p:blipFill>
        <p:spPr>
          <a:xfrm>
            <a:off x="6453984" y="4065975"/>
            <a:ext cx="373696" cy="398251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6"/>
          <a:stretch>
            <a:fillRect/>
          </a:stretch>
        </p:blipFill>
        <p:spPr>
          <a:xfrm>
            <a:off x="6361107" y="5047489"/>
            <a:ext cx="400220" cy="405797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7"/>
          <a:stretch>
            <a:fillRect/>
          </a:stretch>
        </p:blipFill>
        <p:spPr>
          <a:xfrm>
            <a:off x="7250686" y="4592970"/>
            <a:ext cx="467200" cy="473710"/>
          </a:xfrm>
          <a:prstGeom prst="rect">
            <a:avLst/>
          </a:prstGeom>
        </p:spPr>
      </p:pic>
      <p:cxnSp>
        <p:nvCxnSpPr>
          <p:cNvPr id="25" name="直接连接符 24"/>
          <p:cNvCxnSpPr>
            <a:stCxn id="16" idx="1"/>
            <a:endCxn id="12" idx="0"/>
          </p:cNvCxnSpPr>
          <p:nvPr/>
        </p:nvCxnSpPr>
        <p:spPr>
          <a:xfrm flipH="1">
            <a:off x="4510009" y="4208922"/>
            <a:ext cx="641553" cy="318831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  <a:endCxn id="22" idx="0"/>
          </p:cNvCxnSpPr>
          <p:nvPr/>
        </p:nvCxnSpPr>
        <p:spPr>
          <a:xfrm>
            <a:off x="5385162" y="4414027"/>
            <a:ext cx="1176055" cy="633462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6" idx="3"/>
            <a:endCxn id="23" idx="1"/>
          </p:cNvCxnSpPr>
          <p:nvPr/>
        </p:nvCxnSpPr>
        <p:spPr>
          <a:xfrm>
            <a:off x="5618762" y="4208922"/>
            <a:ext cx="1631924" cy="620903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2" idx="2"/>
            <a:endCxn id="14" idx="1"/>
          </p:cNvCxnSpPr>
          <p:nvPr/>
        </p:nvCxnSpPr>
        <p:spPr>
          <a:xfrm>
            <a:off x="4510009" y="5001463"/>
            <a:ext cx="784842" cy="264387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12" idx="3"/>
            <a:endCxn id="21" idx="1"/>
          </p:cNvCxnSpPr>
          <p:nvPr/>
        </p:nvCxnSpPr>
        <p:spPr>
          <a:xfrm flipV="1">
            <a:off x="4743609" y="4265101"/>
            <a:ext cx="1710375" cy="499507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21" idx="2"/>
            <a:endCxn id="14" idx="0"/>
          </p:cNvCxnSpPr>
          <p:nvPr/>
        </p:nvCxnSpPr>
        <p:spPr>
          <a:xfrm flipH="1">
            <a:off x="5528451" y="4464226"/>
            <a:ext cx="1112381" cy="564769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2" name="箭头: 左弧形 51"/>
          <p:cNvSpPr/>
          <p:nvPr/>
        </p:nvSpPr>
        <p:spPr>
          <a:xfrm>
            <a:off x="2487578" y="2210360"/>
            <a:ext cx="833073" cy="2554248"/>
          </a:xfrm>
          <a:prstGeom prst="curved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箭头: 左弧形 52"/>
          <p:cNvSpPr/>
          <p:nvPr/>
        </p:nvSpPr>
        <p:spPr>
          <a:xfrm flipH="1">
            <a:off x="8605819" y="2266303"/>
            <a:ext cx="833073" cy="2554248"/>
          </a:xfrm>
          <a:prstGeom prst="curved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2152190" y="801700"/>
            <a:ext cx="1256145" cy="1256145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77560" y="1047455"/>
            <a:ext cx="1005403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单元</a:t>
            </a:r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8" name="椭圆 7"/>
          <p:cNvSpPr/>
          <p:nvPr/>
        </p:nvSpPr>
        <p:spPr>
          <a:xfrm>
            <a:off x="297323" y="2313724"/>
            <a:ext cx="1256145" cy="1256145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2693" y="2559479"/>
            <a:ext cx="1005403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单元</a:t>
            </a:r>
            <a:r>
              <a:rPr lang="en-US" altLang="zh-CN" sz="1600" dirty="0"/>
              <a:t>n</a:t>
            </a:r>
            <a:endParaRPr lang="zh-CN" altLang="en-US" sz="1600" dirty="0"/>
          </a:p>
        </p:txBody>
      </p:sp>
      <p:sp>
        <p:nvSpPr>
          <p:cNvPr id="10" name="椭圆 9"/>
          <p:cNvSpPr/>
          <p:nvPr/>
        </p:nvSpPr>
        <p:spPr>
          <a:xfrm>
            <a:off x="4002519" y="2311415"/>
            <a:ext cx="1256145" cy="1256145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127889" y="2557170"/>
            <a:ext cx="1005403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单元</a:t>
            </a:r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12" name="椭圆 11"/>
          <p:cNvSpPr/>
          <p:nvPr/>
        </p:nvSpPr>
        <p:spPr>
          <a:xfrm>
            <a:off x="3070876" y="4550145"/>
            <a:ext cx="1256145" cy="1256145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196246" y="4795900"/>
            <a:ext cx="1005403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单元</a:t>
            </a:r>
            <a:r>
              <a:rPr lang="en-US" altLang="zh-CN" sz="1600" dirty="0"/>
              <a:t>k</a:t>
            </a:r>
            <a:endParaRPr lang="zh-CN" altLang="en-US" sz="1600" dirty="0"/>
          </a:p>
        </p:txBody>
      </p:sp>
      <p:sp>
        <p:nvSpPr>
          <p:cNvPr id="14" name="椭圆 13"/>
          <p:cNvSpPr/>
          <p:nvPr/>
        </p:nvSpPr>
        <p:spPr>
          <a:xfrm>
            <a:off x="1346658" y="4550145"/>
            <a:ext cx="1256145" cy="1256145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779805" y="4920744"/>
            <a:ext cx="389851" cy="416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/>
              <a:t>…</a:t>
            </a:r>
            <a:endParaRPr lang="zh-CN" altLang="en-US" sz="1600" dirty="0"/>
          </a:p>
        </p:txBody>
      </p:sp>
      <p:cxnSp>
        <p:nvCxnSpPr>
          <p:cNvPr id="19" name="直接连接符 18"/>
          <p:cNvCxnSpPr>
            <a:endCxn id="8" idx="7"/>
          </p:cNvCxnSpPr>
          <p:nvPr/>
        </p:nvCxnSpPr>
        <p:spPr>
          <a:xfrm flipH="1">
            <a:off x="1369510" y="1683059"/>
            <a:ext cx="817830" cy="81462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0" idx="1"/>
          </p:cNvCxnSpPr>
          <p:nvPr/>
        </p:nvCxnSpPr>
        <p:spPr>
          <a:xfrm flipH="1" flipV="1">
            <a:off x="3368647" y="1683059"/>
            <a:ext cx="817830" cy="81231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0" idx="4"/>
            <a:endCxn id="12" idx="7"/>
          </p:cNvCxnSpPr>
          <p:nvPr/>
        </p:nvCxnSpPr>
        <p:spPr>
          <a:xfrm flipH="1">
            <a:off x="4143063" y="3567560"/>
            <a:ext cx="487529" cy="116654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8" idx="4"/>
            <a:endCxn id="14" idx="1"/>
          </p:cNvCxnSpPr>
          <p:nvPr/>
        </p:nvCxnSpPr>
        <p:spPr>
          <a:xfrm>
            <a:off x="925396" y="3569869"/>
            <a:ext cx="605220" cy="116423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2" idx="2"/>
            <a:endCxn id="14" idx="6"/>
          </p:cNvCxnSpPr>
          <p:nvPr/>
        </p:nvCxnSpPr>
        <p:spPr>
          <a:xfrm flipH="1">
            <a:off x="2602803" y="5178218"/>
            <a:ext cx="46807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6" idx="4"/>
            <a:endCxn id="14" idx="0"/>
          </p:cNvCxnSpPr>
          <p:nvPr/>
        </p:nvCxnSpPr>
        <p:spPr>
          <a:xfrm flipH="1">
            <a:off x="1974731" y="2057845"/>
            <a:ext cx="805532" cy="24923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6" idx="4"/>
            <a:endCxn id="12" idx="0"/>
          </p:cNvCxnSpPr>
          <p:nvPr/>
        </p:nvCxnSpPr>
        <p:spPr>
          <a:xfrm>
            <a:off x="2780263" y="2057845"/>
            <a:ext cx="918686" cy="24923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10" idx="2"/>
            <a:endCxn id="8" idx="6"/>
          </p:cNvCxnSpPr>
          <p:nvPr/>
        </p:nvCxnSpPr>
        <p:spPr>
          <a:xfrm flipH="1">
            <a:off x="1553468" y="2939488"/>
            <a:ext cx="2449051" cy="230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10" idx="2"/>
            <a:endCxn id="14" idx="0"/>
          </p:cNvCxnSpPr>
          <p:nvPr/>
        </p:nvCxnSpPr>
        <p:spPr>
          <a:xfrm flipH="1">
            <a:off x="1974731" y="2939488"/>
            <a:ext cx="2027788" cy="161065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8" idx="6"/>
            <a:endCxn id="12" idx="0"/>
          </p:cNvCxnSpPr>
          <p:nvPr/>
        </p:nvCxnSpPr>
        <p:spPr>
          <a:xfrm>
            <a:off x="1553468" y="2941797"/>
            <a:ext cx="2145481" cy="160834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/>
          <p:cNvSpPr/>
          <p:nvPr/>
        </p:nvSpPr>
        <p:spPr>
          <a:xfrm>
            <a:off x="6085061" y="764480"/>
            <a:ext cx="1256145" cy="1256145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6210431" y="1010235"/>
            <a:ext cx="1005403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单元</a:t>
            </a:r>
            <a:r>
              <a:rPr lang="en-US" altLang="zh-CN" sz="1600" dirty="0"/>
              <a:t>k</a:t>
            </a:r>
            <a:endParaRPr lang="zh-CN" altLang="en-US" sz="1600" dirty="0"/>
          </a:p>
        </p:txBody>
      </p:sp>
      <p:sp>
        <p:nvSpPr>
          <p:cNvPr id="59" name="文本框 58"/>
          <p:cNvSpPr txBox="1"/>
          <p:nvPr/>
        </p:nvSpPr>
        <p:spPr>
          <a:xfrm>
            <a:off x="5883760" y="2712493"/>
            <a:ext cx="1658744" cy="7870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换电节点单元</a:t>
            </a:r>
            <a:r>
              <a:rPr lang="en-US" altLang="zh-CN" sz="1600" dirty="0"/>
              <a:t>k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的调度合约</a:t>
            </a:r>
            <a:endParaRPr lang="zh-CN" altLang="en-US" sz="1600" dirty="0"/>
          </a:p>
        </p:txBody>
      </p:sp>
      <p:sp>
        <p:nvSpPr>
          <p:cNvPr id="62" name="矩形 61"/>
          <p:cNvSpPr/>
          <p:nvPr/>
        </p:nvSpPr>
        <p:spPr>
          <a:xfrm>
            <a:off x="5860356" y="2653656"/>
            <a:ext cx="1705552" cy="962669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5883760" y="4755720"/>
            <a:ext cx="1658744" cy="7870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换电节点单元</a:t>
            </a:r>
            <a:r>
              <a:rPr lang="en-US" altLang="zh-CN" sz="1600" dirty="0"/>
              <a:t>k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的调度数据</a:t>
            </a:r>
            <a:endParaRPr lang="zh-CN" altLang="en-US" sz="1600" dirty="0"/>
          </a:p>
        </p:txBody>
      </p:sp>
      <p:sp>
        <p:nvSpPr>
          <p:cNvPr id="64" name="矩形 63"/>
          <p:cNvSpPr/>
          <p:nvPr/>
        </p:nvSpPr>
        <p:spPr>
          <a:xfrm>
            <a:off x="5860356" y="4696883"/>
            <a:ext cx="1705552" cy="962669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10339169" y="764480"/>
            <a:ext cx="1256145" cy="1256145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0464539" y="1010235"/>
            <a:ext cx="1005403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单元</a:t>
            </a:r>
            <a:r>
              <a:rPr lang="en-US" altLang="zh-CN" sz="1600" dirty="0"/>
              <a:t>k-1</a:t>
            </a:r>
            <a:endParaRPr lang="zh-CN" altLang="en-US" sz="1600" dirty="0"/>
          </a:p>
        </p:txBody>
      </p:sp>
      <p:sp>
        <p:nvSpPr>
          <p:cNvPr id="67" name="文本框 66"/>
          <p:cNvSpPr txBox="1"/>
          <p:nvPr/>
        </p:nvSpPr>
        <p:spPr>
          <a:xfrm>
            <a:off x="10063214" y="2712493"/>
            <a:ext cx="1831460" cy="7870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换电节点单元</a:t>
            </a:r>
            <a:r>
              <a:rPr lang="en-US" altLang="zh-CN" sz="1600" dirty="0"/>
              <a:t>k-1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的调度合约</a:t>
            </a:r>
            <a:endParaRPr lang="zh-CN" altLang="en-US" sz="1600" dirty="0"/>
          </a:p>
        </p:txBody>
      </p:sp>
      <p:sp>
        <p:nvSpPr>
          <p:cNvPr id="68" name="矩形 67"/>
          <p:cNvSpPr/>
          <p:nvPr/>
        </p:nvSpPr>
        <p:spPr>
          <a:xfrm>
            <a:off x="10039810" y="2653656"/>
            <a:ext cx="1854864" cy="962669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10063214" y="4755720"/>
            <a:ext cx="1831460" cy="7870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换电节点单元</a:t>
            </a:r>
            <a:r>
              <a:rPr lang="en-US" altLang="zh-CN" sz="1600" dirty="0"/>
              <a:t>k-1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的调度数据</a:t>
            </a:r>
            <a:endParaRPr lang="zh-CN" altLang="en-US" sz="1600" dirty="0"/>
          </a:p>
        </p:txBody>
      </p:sp>
      <p:sp>
        <p:nvSpPr>
          <p:cNvPr id="70" name="矩形 69"/>
          <p:cNvSpPr/>
          <p:nvPr/>
        </p:nvSpPr>
        <p:spPr>
          <a:xfrm>
            <a:off x="10039810" y="4696883"/>
            <a:ext cx="1854864" cy="962669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7908712" y="4762206"/>
            <a:ext cx="1658744" cy="41601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共享协商</a:t>
            </a:r>
            <a:endParaRPr lang="zh-CN" altLang="en-US" sz="1600" dirty="0"/>
          </a:p>
        </p:txBody>
      </p:sp>
      <p:cxnSp>
        <p:nvCxnSpPr>
          <p:cNvPr id="73" name="直接连接符 72"/>
          <p:cNvCxnSpPr>
            <a:stCxn id="57" idx="4"/>
            <a:endCxn id="62" idx="0"/>
          </p:cNvCxnSpPr>
          <p:nvPr/>
        </p:nvCxnSpPr>
        <p:spPr>
          <a:xfrm flipH="1">
            <a:off x="6713132" y="2020625"/>
            <a:ext cx="2" cy="63303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62" idx="2"/>
            <a:endCxn id="64" idx="0"/>
          </p:cNvCxnSpPr>
          <p:nvPr/>
        </p:nvCxnSpPr>
        <p:spPr>
          <a:xfrm>
            <a:off x="6713132" y="3616325"/>
            <a:ext cx="0" cy="108055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5" idx="4"/>
            <a:endCxn id="68" idx="0"/>
          </p:cNvCxnSpPr>
          <p:nvPr/>
        </p:nvCxnSpPr>
        <p:spPr>
          <a:xfrm>
            <a:off x="10967242" y="2020625"/>
            <a:ext cx="0" cy="63303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68" idx="2"/>
            <a:endCxn id="70" idx="0"/>
          </p:cNvCxnSpPr>
          <p:nvPr/>
        </p:nvCxnSpPr>
        <p:spPr>
          <a:xfrm>
            <a:off x="10967242" y="3616325"/>
            <a:ext cx="0" cy="108055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64" idx="3"/>
            <a:endCxn id="70" idx="1"/>
          </p:cNvCxnSpPr>
          <p:nvPr/>
        </p:nvCxnSpPr>
        <p:spPr>
          <a:xfrm>
            <a:off x="7565908" y="5178218"/>
            <a:ext cx="2473902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7520940" y="4740275"/>
            <a:ext cx="4315460" cy="1653540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727950" y="4971415"/>
            <a:ext cx="3902075" cy="95758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42570" y="4780915"/>
            <a:ext cx="4315460" cy="1653540"/>
          </a:xfrm>
          <a:prstGeom prst="roundRect">
            <a:avLst/>
          </a:prstGeom>
          <a:solidFill>
            <a:schemeClr val="accent1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圆角矩形 45"/>
          <p:cNvSpPr/>
          <p:nvPr/>
        </p:nvSpPr>
        <p:spPr>
          <a:xfrm>
            <a:off x="470535" y="4992370"/>
            <a:ext cx="3902075" cy="95758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3956685" y="2522855"/>
            <a:ext cx="4315460" cy="165354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4163695" y="2680970"/>
            <a:ext cx="3902075" cy="95758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7414895" y="318770"/>
            <a:ext cx="4315460" cy="1653540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7621270" y="485140"/>
            <a:ext cx="3902075" cy="95758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242570" y="318770"/>
            <a:ext cx="4315460" cy="1653540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470535" y="450215"/>
            <a:ext cx="3902075" cy="95758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440" y="608330"/>
            <a:ext cx="741680" cy="6210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915" y="636270"/>
            <a:ext cx="699135" cy="5969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625" y="2908935"/>
            <a:ext cx="643890" cy="5416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102225"/>
            <a:ext cx="835660" cy="69596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268470" y="3730625"/>
            <a:ext cx="3693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出行习惯、车辆用电、换电信息</a:t>
            </a:r>
            <a:endParaRPr lang="zh-CN" altLang="en-US" b="1"/>
          </a:p>
        </p:txBody>
      </p:sp>
      <p:sp>
        <p:nvSpPr>
          <p:cNvPr id="21" name="文本框 20"/>
          <p:cNvSpPr txBox="1"/>
          <p:nvPr/>
        </p:nvSpPr>
        <p:spPr>
          <a:xfrm>
            <a:off x="511810" y="1477645"/>
            <a:ext cx="386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用户年龄、性别、职业、购险信息</a:t>
            </a:r>
            <a:endParaRPr lang="zh-CN" altLang="en-US" b="1"/>
          </a:p>
        </p:txBody>
      </p:sp>
      <p:sp>
        <p:nvSpPr>
          <p:cNvPr id="22" name="文本框 21"/>
          <p:cNvSpPr txBox="1"/>
          <p:nvPr/>
        </p:nvSpPr>
        <p:spPr>
          <a:xfrm>
            <a:off x="8500745" y="59499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/>
              <a:t>......</a:t>
            </a:r>
            <a:endParaRPr lang="en-US" altLang="zh-CN" b="1"/>
          </a:p>
        </p:txBody>
      </p:sp>
      <p:sp>
        <p:nvSpPr>
          <p:cNvPr id="23" name="文本框 22"/>
          <p:cNvSpPr txBox="1"/>
          <p:nvPr/>
        </p:nvSpPr>
        <p:spPr>
          <a:xfrm>
            <a:off x="377825" y="5997575"/>
            <a:ext cx="40874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汽车维修数据、主机厂车辆运营数据等</a:t>
            </a:r>
            <a:endParaRPr lang="zh-CN" altLang="en-US" b="1"/>
          </a:p>
        </p:txBody>
      </p:sp>
      <p:sp>
        <p:nvSpPr>
          <p:cNvPr id="24" name="文本框 23"/>
          <p:cNvSpPr txBox="1"/>
          <p:nvPr/>
        </p:nvSpPr>
        <p:spPr>
          <a:xfrm>
            <a:off x="8409305" y="154178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/>
              <a:t>消费信息、贷款信息</a:t>
            </a:r>
            <a:endParaRPr lang="zh-CN" altLang="en-US" b="1"/>
          </a:p>
        </p:txBody>
      </p:sp>
      <p:sp>
        <p:nvSpPr>
          <p:cNvPr id="25" name="圆角右箭头 24"/>
          <p:cNvSpPr/>
          <p:nvPr/>
        </p:nvSpPr>
        <p:spPr>
          <a:xfrm rot="5400000">
            <a:off x="4651375" y="1471295"/>
            <a:ext cx="1087755" cy="848360"/>
          </a:xfrm>
          <a:prstGeom prst="bentArrow">
            <a:avLst>
              <a:gd name="adj1" fmla="val 8869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圆角右箭头 25"/>
          <p:cNvSpPr/>
          <p:nvPr/>
        </p:nvSpPr>
        <p:spPr>
          <a:xfrm rot="16200000">
            <a:off x="2502535" y="2209800"/>
            <a:ext cx="1087755" cy="848360"/>
          </a:xfrm>
          <a:prstGeom prst="bentArrow">
            <a:avLst>
              <a:gd name="adj1" fmla="val 12163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圆角右箭头 26"/>
          <p:cNvSpPr/>
          <p:nvPr/>
        </p:nvSpPr>
        <p:spPr>
          <a:xfrm rot="10800000">
            <a:off x="8446135" y="2150110"/>
            <a:ext cx="1087755" cy="848360"/>
          </a:xfrm>
          <a:prstGeom prst="bentArrow">
            <a:avLst>
              <a:gd name="adj1" fmla="val 1130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圆角右箭头 27"/>
          <p:cNvSpPr/>
          <p:nvPr/>
        </p:nvSpPr>
        <p:spPr>
          <a:xfrm>
            <a:off x="6289040" y="1301750"/>
            <a:ext cx="1087755" cy="848360"/>
          </a:xfrm>
          <a:prstGeom prst="bentArrow">
            <a:avLst>
              <a:gd name="adj1" fmla="val 10404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圆角右箭头 28"/>
          <p:cNvSpPr/>
          <p:nvPr/>
        </p:nvSpPr>
        <p:spPr>
          <a:xfrm rot="5400000">
            <a:off x="8518525" y="3709035"/>
            <a:ext cx="1087755" cy="848360"/>
          </a:xfrm>
          <a:prstGeom prst="bentArrow">
            <a:avLst>
              <a:gd name="adj1" fmla="val 13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圆角右箭头 29"/>
          <p:cNvSpPr/>
          <p:nvPr/>
        </p:nvSpPr>
        <p:spPr>
          <a:xfrm rot="10800000">
            <a:off x="4673600" y="4391025"/>
            <a:ext cx="1087755" cy="848360"/>
          </a:xfrm>
          <a:prstGeom prst="bentArrow">
            <a:avLst>
              <a:gd name="adj1" fmla="val 13023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圆角右箭头 30"/>
          <p:cNvSpPr/>
          <p:nvPr/>
        </p:nvSpPr>
        <p:spPr>
          <a:xfrm>
            <a:off x="2710815" y="3589655"/>
            <a:ext cx="1087755" cy="848360"/>
          </a:xfrm>
          <a:prstGeom prst="bentArrow">
            <a:avLst>
              <a:gd name="adj1" fmla="val 1212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圆角右箭头 31"/>
          <p:cNvSpPr/>
          <p:nvPr/>
        </p:nvSpPr>
        <p:spPr>
          <a:xfrm rot="16200000">
            <a:off x="6288405" y="4508500"/>
            <a:ext cx="1087755" cy="848360"/>
          </a:xfrm>
          <a:prstGeom prst="bentArrow">
            <a:avLst>
              <a:gd name="adj1" fmla="val 14708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68040" y="2090420"/>
            <a:ext cx="15544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车况维修预警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818630" y="2071370"/>
            <a:ext cx="20116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客户消费行为画像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98190" y="4295775"/>
            <a:ext cx="17830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个性化车险推荐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761355" y="291909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换电平台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205355" y="65786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保险行业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546590" y="69278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银行金融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687195" y="5189220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汽车维修行业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382125" y="5123180"/>
            <a:ext cx="77724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......</a:t>
            </a:r>
            <a:endParaRPr 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20940" y="4295775"/>
            <a:ext cx="8813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 . . . . . </a:t>
            </a:r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/>
          <p:nvPr/>
        </p:nvSpPr>
        <p:spPr>
          <a:xfrm rot="5400000">
            <a:off x="3558308" y="808468"/>
            <a:ext cx="1842657" cy="2189020"/>
          </a:xfrm>
          <a:prstGeom prst="hexagon">
            <a:avLst/>
          </a:prstGeom>
          <a:solidFill>
            <a:srgbClr val="F3B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6698389" y="981648"/>
            <a:ext cx="1842659" cy="184265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385126" y="3616325"/>
            <a:ext cx="5155922" cy="232525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78596" y="1456702"/>
            <a:ext cx="14020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/>
              <a:t>电池充电规则</a:t>
            </a:r>
            <a:endParaRPr lang="en-US" altLang="zh-CN" sz="1600" dirty="0"/>
          </a:p>
          <a:p>
            <a:pPr algn="ctr"/>
            <a:endParaRPr lang="en-US" altLang="zh-CN" dirty="0"/>
          </a:p>
          <a:p>
            <a:pPr algn="ctr"/>
            <a:r>
              <a:rPr lang="zh-CN" altLang="en-US" sz="2000" dirty="0"/>
              <a:t>智能合约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7014424" y="131877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/>
              <a:t>共识机制</a:t>
            </a:r>
            <a:endParaRPr lang="en-US" altLang="zh-CN" sz="2000" dirty="0"/>
          </a:p>
          <a:p>
            <a:pPr algn="ctr"/>
            <a:r>
              <a:rPr lang="en-US" altLang="zh-CN" sz="2000" dirty="0"/>
              <a:t>SBFT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196304" y="2128749"/>
            <a:ext cx="902811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验证节点</a:t>
            </a:r>
            <a:endParaRPr lang="zh-CN" altLang="en-US" sz="1400" dirty="0"/>
          </a:p>
        </p:txBody>
      </p:sp>
      <p:pic>
        <p:nvPicPr>
          <p:cNvPr id="12" name="图片 1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76409" y="4527753"/>
            <a:ext cx="467200" cy="473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34856" y="4593257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换电站</a:t>
            </a:r>
            <a:endParaRPr lang="zh-CN" altLang="en-US" sz="1400" dirty="0"/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5151341" y="5100115"/>
            <a:ext cx="467200" cy="47371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744121" y="5502705"/>
            <a:ext cx="1071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电池供应商</a:t>
            </a:r>
            <a:endParaRPr lang="zh-CN" altLang="en-US" sz="1400" dirty="0"/>
          </a:p>
        </p:txBody>
      </p:sp>
      <p:pic>
        <p:nvPicPr>
          <p:cNvPr id="16" name="图片 15"/>
          <p:cNvPicPr/>
          <p:nvPr/>
        </p:nvPicPr>
        <p:blipFill>
          <a:blip r:embed="rId4"/>
          <a:stretch>
            <a:fillRect/>
          </a:stretch>
        </p:blipFill>
        <p:spPr>
          <a:xfrm>
            <a:off x="5618287" y="3998102"/>
            <a:ext cx="467200" cy="41021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938122" y="3721541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换电车主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617948" y="4221104"/>
            <a:ext cx="1249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充放电服务商</a:t>
            </a:r>
            <a:endParaRPr lang="zh-CN" altLang="en-US" sz="1400" dirty="0"/>
          </a:p>
        </p:txBody>
      </p:sp>
      <p:pic>
        <p:nvPicPr>
          <p:cNvPr id="21" name="图片 20"/>
          <p:cNvPicPr/>
          <p:nvPr/>
        </p:nvPicPr>
        <p:blipFill>
          <a:blip r:embed="rId5"/>
          <a:stretch>
            <a:fillRect/>
          </a:stretch>
        </p:blipFill>
        <p:spPr>
          <a:xfrm>
            <a:off x="7014054" y="4505395"/>
            <a:ext cx="373696" cy="398251"/>
          </a:xfrm>
          <a:prstGeom prst="rect">
            <a:avLst/>
          </a:prstGeom>
        </p:spPr>
      </p:pic>
      <p:cxnSp>
        <p:nvCxnSpPr>
          <p:cNvPr id="25" name="直接连接符 24"/>
          <p:cNvCxnSpPr>
            <a:stCxn id="16" idx="1"/>
            <a:endCxn id="12" idx="0"/>
          </p:cNvCxnSpPr>
          <p:nvPr/>
        </p:nvCxnSpPr>
        <p:spPr>
          <a:xfrm flipH="1">
            <a:off x="4510212" y="4203207"/>
            <a:ext cx="1108075" cy="324485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5852160" y="4408170"/>
            <a:ext cx="572770" cy="69215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6" idx="3"/>
            <a:endCxn id="21" idx="1"/>
          </p:cNvCxnSpPr>
          <p:nvPr/>
        </p:nvCxnSpPr>
        <p:spPr>
          <a:xfrm>
            <a:off x="6085840" y="4203065"/>
            <a:ext cx="928370" cy="50165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2" idx="2"/>
            <a:endCxn id="14" idx="1"/>
          </p:cNvCxnSpPr>
          <p:nvPr/>
        </p:nvCxnSpPr>
        <p:spPr>
          <a:xfrm>
            <a:off x="4510644" y="5001463"/>
            <a:ext cx="640715" cy="335915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12" idx="3"/>
            <a:endCxn id="21" idx="1"/>
          </p:cNvCxnSpPr>
          <p:nvPr/>
        </p:nvCxnSpPr>
        <p:spPr>
          <a:xfrm flipV="1">
            <a:off x="4744244" y="4704918"/>
            <a:ext cx="2270125" cy="5969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21" idx="2"/>
            <a:endCxn id="2" idx="3"/>
          </p:cNvCxnSpPr>
          <p:nvPr/>
        </p:nvCxnSpPr>
        <p:spPr>
          <a:xfrm flipH="1">
            <a:off x="6868795" y="4903470"/>
            <a:ext cx="332105" cy="449580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2" name="箭头: 左弧形 51"/>
          <p:cNvSpPr/>
          <p:nvPr/>
        </p:nvSpPr>
        <p:spPr>
          <a:xfrm>
            <a:off x="2487578" y="2210360"/>
            <a:ext cx="833073" cy="2554248"/>
          </a:xfrm>
          <a:prstGeom prst="curved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箭头: 左弧形 52"/>
          <p:cNvSpPr/>
          <p:nvPr/>
        </p:nvSpPr>
        <p:spPr>
          <a:xfrm flipH="1">
            <a:off x="8605819" y="2266303"/>
            <a:ext cx="833073" cy="2554248"/>
          </a:xfrm>
          <a:prstGeom prst="curved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255" y="5100320"/>
            <a:ext cx="637540" cy="505460"/>
          </a:xfrm>
          <a:prstGeom prst="rect">
            <a:avLst/>
          </a:prstGeom>
        </p:spPr>
      </p:pic>
      <p:cxnSp>
        <p:nvCxnSpPr>
          <p:cNvPr id="3" name="直接连接符 2"/>
          <p:cNvCxnSpPr>
            <a:stCxn id="14" idx="3"/>
            <a:endCxn id="2" idx="1"/>
          </p:cNvCxnSpPr>
          <p:nvPr/>
        </p:nvCxnSpPr>
        <p:spPr>
          <a:xfrm>
            <a:off x="5618480" y="5337175"/>
            <a:ext cx="612775" cy="15875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279551" y="5552870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电网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/>
          <p:cNvGraphicFramePr>
            <a:graphicFrameLocks noGrp="1"/>
          </p:cNvGraphicFramePr>
          <p:nvPr/>
        </p:nvGraphicFramePr>
        <p:xfrm>
          <a:off x="938069" y="191367"/>
          <a:ext cx="10481724" cy="88053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</a:tblGrid>
              <a:tr h="446859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2100" dirty="0"/>
                        <a:t>第一阶段</a:t>
                      </a:r>
                      <a:endParaRPr lang="zh-CN" altLang="en-US" sz="2100" dirty="0"/>
                    </a:p>
                  </a:txBody>
                  <a:tcPr marL="121928" marR="121928" marT="60869" marB="60869" anchor="ctr"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2100" dirty="0"/>
                        <a:t>第二阶段</a:t>
                      </a:r>
                      <a:endParaRPr lang="zh-CN" altLang="en-US" sz="2100" dirty="0"/>
                    </a:p>
                  </a:txBody>
                  <a:tcPr marL="121928" marR="121928" marT="60869" marB="60869" anchor="ctr"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2100" dirty="0"/>
                        <a:t>第三阶段</a:t>
                      </a:r>
                      <a:endParaRPr lang="zh-CN" altLang="en-US" sz="2100" dirty="0"/>
                    </a:p>
                  </a:txBody>
                  <a:tcPr marL="121928" marR="121928" marT="60869" marB="60869" anchor="ctr"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  <a:tc hMerge="1">
                  <a:tcPr>
                    <a:solidFill>
                      <a:srgbClr val="284C78"/>
                    </a:solidFill>
                  </a:tcPr>
                </a:tc>
              </a:tr>
              <a:tr h="4336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Q1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Q2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Q3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Q4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Q1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Q2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Q3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Q4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Q1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Q2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Q3</a:t>
                      </a:r>
                      <a:endParaRPr lang="zh-CN" altLang="en-US" sz="1900"/>
                    </a:p>
                  </a:txBody>
                  <a:tcPr marL="121928" marR="121928" marT="60869" marB="608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dirty="0"/>
                        <a:t>Q4</a:t>
                      </a:r>
                      <a:endParaRPr lang="zh-CN" altLang="en-US" sz="1900" dirty="0"/>
                    </a:p>
                  </a:txBody>
                  <a:tcPr marL="121928" marR="121928" marT="60869" marB="60869"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38069" y="1184084"/>
          <a:ext cx="10481724" cy="540144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  <a:gridCol w="873477"/>
              </a:tblGrid>
              <a:tr h="5401443">
                <a:tc>
                  <a:txBody>
                    <a:bodyPr/>
                    <a:lstStyle/>
                    <a:p>
                      <a:endParaRPr lang="zh-CN" altLang="en-US" sz="1700"/>
                    </a:p>
                  </a:txBody>
                  <a:tcPr marL="121928" marR="121928" marT="60952" marB="60952"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700" dirty="0"/>
                    </a:p>
                  </a:txBody>
                  <a:tcPr marL="121928" marR="121928" marT="60952" marB="60952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2675540" y="1736136"/>
            <a:ext cx="4353983" cy="39216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电力供应管理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44524" y="1284999"/>
            <a:ext cx="2858912" cy="39216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物流与仓储管理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49307" y="2316623"/>
            <a:ext cx="2580216" cy="39216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地图服务功能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073826" y="2316623"/>
            <a:ext cx="2616439" cy="39216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车辆信息管理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449934" y="3351070"/>
            <a:ext cx="3435282" cy="39216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换电站交易订单管理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938068" y="4395994"/>
            <a:ext cx="2613143" cy="392165"/>
          </a:xfrm>
          <a:prstGeom prst="roundRect">
            <a:avLst/>
          </a:prstGeom>
          <a:solidFill>
            <a:srgbClr val="C850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电池生产区块链存证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944525" y="4395994"/>
            <a:ext cx="3400303" cy="392165"/>
          </a:xfrm>
          <a:prstGeom prst="roundRect">
            <a:avLst/>
          </a:prstGeom>
          <a:solidFill>
            <a:srgbClr val="C850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电池健康度管理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574493" y="4395994"/>
            <a:ext cx="4350697" cy="392165"/>
          </a:xfrm>
          <a:prstGeom prst="roundRect">
            <a:avLst/>
          </a:prstGeom>
          <a:solidFill>
            <a:srgbClr val="C8501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电池流通过程区块链存证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112117" y="3786977"/>
            <a:ext cx="2570693" cy="39216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换电站客流量查询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476075" y="3786978"/>
            <a:ext cx="2597751" cy="39216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换电站运营管理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0"/>
          <p:cNvSpPr/>
          <p:nvPr/>
        </p:nvSpPr>
        <p:spPr>
          <a:xfrm>
            <a:off x="930614" y="3351070"/>
            <a:ext cx="3477683" cy="392165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换电站电池管理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2"/>
          <p:cNvSpPr/>
          <p:nvPr/>
        </p:nvSpPr>
        <p:spPr>
          <a:xfrm>
            <a:off x="938068" y="1284999"/>
            <a:ext cx="3500967" cy="39216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电池零部件供应管理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3"/>
          <p:cNvSpPr/>
          <p:nvPr/>
        </p:nvSpPr>
        <p:spPr>
          <a:xfrm>
            <a:off x="5312455" y="1284999"/>
            <a:ext cx="2580216" cy="39216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供应链风险管理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4"/>
          <p:cNvSpPr/>
          <p:nvPr/>
        </p:nvSpPr>
        <p:spPr>
          <a:xfrm>
            <a:off x="934292" y="2316623"/>
            <a:ext cx="3500967" cy="39216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换电站查询功能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170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492000" y="6541200"/>
            <a:ext cx="2700000" cy="31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386E131-153B-41D8-8AEA-B571BBADBA66}" type="slidenum">
              <a:rPr lang="en-US" altLang="zh-CN" smtClean="0"/>
            </a:fld>
            <a:endParaRPr lang="zh-CN" altLang="en-US" dirty="0"/>
          </a:p>
        </p:txBody>
      </p:sp>
      <p:sp>
        <p:nvSpPr>
          <p:cNvPr id="29" name="圆角矩形 24"/>
          <p:cNvSpPr/>
          <p:nvPr/>
        </p:nvSpPr>
        <p:spPr>
          <a:xfrm>
            <a:off x="1800726" y="2755570"/>
            <a:ext cx="3500967" cy="39216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换电预约功能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10"/>
          <p:cNvSpPr/>
          <p:nvPr/>
        </p:nvSpPr>
        <p:spPr>
          <a:xfrm>
            <a:off x="5339253" y="2755570"/>
            <a:ext cx="3046695" cy="39216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换电交易服务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3"/>
          <p:cNvSpPr/>
          <p:nvPr/>
        </p:nvSpPr>
        <p:spPr>
          <a:xfrm>
            <a:off x="957402" y="4985163"/>
            <a:ext cx="3450895" cy="392165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链上智能合约制定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圆角矩形 14"/>
          <p:cNvSpPr/>
          <p:nvPr/>
        </p:nvSpPr>
        <p:spPr>
          <a:xfrm>
            <a:off x="5301693" y="4985163"/>
            <a:ext cx="3400303" cy="392165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换电站电池电量管理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15"/>
          <p:cNvSpPr/>
          <p:nvPr/>
        </p:nvSpPr>
        <p:spPr>
          <a:xfrm>
            <a:off x="2682850" y="5419049"/>
            <a:ext cx="3517926" cy="392165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电量可视化功能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13"/>
          <p:cNvSpPr/>
          <p:nvPr/>
        </p:nvSpPr>
        <p:spPr>
          <a:xfrm>
            <a:off x="961350" y="6021520"/>
            <a:ext cx="2613143" cy="39216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换电站金融、保险服务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14"/>
          <p:cNvSpPr/>
          <p:nvPr/>
        </p:nvSpPr>
        <p:spPr>
          <a:xfrm>
            <a:off x="7073826" y="6009594"/>
            <a:ext cx="3400303" cy="39216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换电用户金融、保险服务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5"/>
          <p:cNvSpPr/>
          <p:nvPr/>
        </p:nvSpPr>
        <p:spPr>
          <a:xfrm>
            <a:off x="3606954" y="6021520"/>
            <a:ext cx="3422569" cy="39216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kumimoji="1" lang="zh-CN" altLang="en-US" noProof="1">
                <a:latin typeface="微软雅黑" panose="020B0503020204020204" charset="-122"/>
                <a:ea typeface="微软雅黑" panose="020B0503020204020204" charset="-122"/>
              </a:rPr>
              <a:t>充放电服务商金融、保险服务</a:t>
            </a:r>
            <a:endParaRPr kumimoji="1" lang="zh-CN" altLang="en-US" sz="2400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Tm="14333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61340" y="146685"/>
            <a:ext cx="10484485" cy="6126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CustomShape 7"/>
          <p:cNvSpPr/>
          <p:nvPr/>
        </p:nvSpPr>
        <p:spPr>
          <a:xfrm>
            <a:off x="2003425" y="2092325"/>
            <a:ext cx="2713990" cy="1316355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数据引擎</a:t>
            </a: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" name="CustomShape 8"/>
          <p:cNvSpPr/>
          <p:nvPr/>
        </p:nvSpPr>
        <p:spPr>
          <a:xfrm>
            <a:off x="6530340" y="2092325"/>
            <a:ext cx="4230370" cy="131635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可信</a:t>
            </a:r>
            <a:r>
              <a:rPr kumimoji="0" lang="en-US" sz="16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计算引擎</a:t>
            </a: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6967220" y="2149475"/>
            <a:ext cx="1301750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可信计算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" name="CustomShape 10"/>
          <p:cNvSpPr/>
          <p:nvPr/>
        </p:nvSpPr>
        <p:spPr>
          <a:xfrm>
            <a:off x="2191385" y="2261235"/>
            <a:ext cx="1116965" cy="6362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半结构化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数据引擎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6" name="CustomShape 11"/>
          <p:cNvSpPr/>
          <p:nvPr/>
        </p:nvSpPr>
        <p:spPr>
          <a:xfrm>
            <a:off x="3536950" y="2261235"/>
            <a:ext cx="1017905" cy="6362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结构化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数据引擎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7" name="CustomShape 12"/>
          <p:cNvSpPr/>
          <p:nvPr/>
        </p:nvSpPr>
        <p:spPr>
          <a:xfrm>
            <a:off x="9037955" y="2149475"/>
            <a:ext cx="1335405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自动化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弹性部署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6967220" y="2677160"/>
            <a:ext cx="1301750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灾备容错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" name="CustomShape 14"/>
          <p:cNvSpPr/>
          <p:nvPr/>
        </p:nvSpPr>
        <p:spPr>
          <a:xfrm>
            <a:off x="9037955" y="2686050"/>
            <a:ext cx="1335405" cy="424815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安全策略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0" name="CustomShape 15"/>
          <p:cNvSpPr/>
          <p:nvPr/>
        </p:nvSpPr>
        <p:spPr>
          <a:xfrm>
            <a:off x="2003425" y="3886200"/>
            <a:ext cx="8757285" cy="485140"/>
          </a:xfrm>
          <a:prstGeom prst="rect">
            <a:avLst/>
          </a:prstGeom>
          <a:solidFill>
            <a:srgbClr val="8064A2"/>
          </a:solidFill>
          <a:ln w="25400" cap="flat" cmpd="sng" algn="ctr">
            <a:solidFill>
              <a:srgbClr val="8064A2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zh-CN" alt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分层分级数据权限管理</a:t>
            </a:r>
            <a:endParaRPr kumimoji="0" lang="zh-CN" alt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1" name="CustomShape 16"/>
          <p:cNvSpPr/>
          <p:nvPr/>
        </p:nvSpPr>
        <p:spPr>
          <a:xfrm>
            <a:off x="4717415" y="2574290"/>
            <a:ext cx="1812290" cy="51435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0" cap="none" spc="-1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高速数据通路</a:t>
            </a:r>
            <a:endParaRPr kumimoji="0" lang="en-US" sz="1200" b="0" i="0" u="none" strike="noStrike" kern="0" cap="none" spc="-1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CustomShape 17"/>
          <p:cNvSpPr/>
          <p:nvPr/>
        </p:nvSpPr>
        <p:spPr>
          <a:xfrm rot="16200000">
            <a:off x="8606790" y="3491865"/>
            <a:ext cx="514350" cy="34734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" name="CustomShape 18"/>
          <p:cNvSpPr/>
          <p:nvPr/>
        </p:nvSpPr>
        <p:spPr>
          <a:xfrm rot="16200000">
            <a:off x="3105785" y="3491865"/>
            <a:ext cx="514350" cy="34734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73735" y="1280795"/>
            <a:ext cx="10262235" cy="321818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CustomShape 15"/>
          <p:cNvSpPr/>
          <p:nvPr/>
        </p:nvSpPr>
        <p:spPr>
          <a:xfrm>
            <a:off x="2003425" y="1430655"/>
            <a:ext cx="8757285" cy="485140"/>
          </a:xfrm>
          <a:prstGeom prst="rect">
            <a:avLst/>
          </a:prstGeom>
          <a:solidFill>
            <a:srgbClr val="8064A2"/>
          </a:solidFill>
          <a:ln w="25400" cap="flat" cmpd="sng" algn="ctr">
            <a:solidFill>
              <a:srgbClr val="8064A2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0" cap="none" spc="-1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                                                      </a:t>
            </a: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3735" y="2672715"/>
            <a:ext cx="1329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体系架构层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91385" y="1489075"/>
            <a:ext cx="1678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0" spc="-1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数据接口</a:t>
            </a:r>
            <a:r>
              <a:rPr lang="en-US" kern="0" spc="-1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+mn-ea"/>
              </a:rPr>
              <a:t>  </a:t>
            </a:r>
            <a:endParaRPr lang="zh-CN" altLang="en-US"/>
          </a:p>
        </p:txBody>
      </p:sp>
      <p:sp>
        <p:nvSpPr>
          <p:cNvPr id="19" name="CustomShape 9"/>
          <p:cNvSpPr/>
          <p:nvPr/>
        </p:nvSpPr>
        <p:spPr>
          <a:xfrm>
            <a:off x="4034790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数据查询接口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0" name="CustomShape 9"/>
          <p:cNvSpPr/>
          <p:nvPr/>
        </p:nvSpPr>
        <p:spPr>
          <a:xfrm>
            <a:off x="6259195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数据计算接口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1" name="CustomShape 9"/>
          <p:cNvSpPr/>
          <p:nvPr/>
        </p:nvSpPr>
        <p:spPr>
          <a:xfrm>
            <a:off x="8482965" y="1489075"/>
            <a:ext cx="1620520" cy="36830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数据分析接口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2" name="CustomShape 15"/>
          <p:cNvSpPr/>
          <p:nvPr/>
        </p:nvSpPr>
        <p:spPr>
          <a:xfrm>
            <a:off x="673735" y="4589780"/>
            <a:ext cx="10262235" cy="12166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42010" y="4760595"/>
            <a:ext cx="1238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基础设施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>可信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增强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CustomShape 15"/>
          <p:cNvSpPr/>
          <p:nvPr/>
        </p:nvSpPr>
        <p:spPr>
          <a:xfrm>
            <a:off x="672465" y="5650230"/>
            <a:ext cx="10262235" cy="499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2810" y="5751195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资源层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CustomShape 9"/>
          <p:cNvSpPr/>
          <p:nvPr/>
        </p:nvSpPr>
        <p:spPr>
          <a:xfrm>
            <a:off x="2220595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身份管理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8" name="CustomShape 9"/>
          <p:cNvSpPr/>
          <p:nvPr/>
        </p:nvSpPr>
        <p:spPr>
          <a:xfrm>
            <a:off x="2219960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分布式账本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29" name="CustomShape 9"/>
          <p:cNvSpPr/>
          <p:nvPr/>
        </p:nvSpPr>
        <p:spPr>
          <a:xfrm>
            <a:off x="4966335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区块链存证溯源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0" name="CustomShape 9"/>
          <p:cNvSpPr/>
          <p:nvPr/>
        </p:nvSpPr>
        <p:spPr>
          <a:xfrm>
            <a:off x="4966335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智能合约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1" name="CustomShape 9"/>
          <p:cNvSpPr/>
          <p:nvPr/>
        </p:nvSpPr>
        <p:spPr>
          <a:xfrm>
            <a:off x="7805420" y="465899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密码算法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7805420" y="5088255"/>
            <a:ext cx="162052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共识机制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3" name="CustomShape 9"/>
          <p:cNvSpPr/>
          <p:nvPr/>
        </p:nvSpPr>
        <p:spPr>
          <a:xfrm>
            <a:off x="219138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政务云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5" name="CustomShape 9"/>
          <p:cNvSpPr/>
          <p:nvPr/>
        </p:nvSpPr>
        <p:spPr>
          <a:xfrm>
            <a:off x="501713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  <a:sym typeface="+mn-ea"/>
              </a:rPr>
              <a:t>公有云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6" name="CustomShape 9"/>
          <p:cNvSpPr/>
          <p:nvPr/>
        </p:nvSpPr>
        <p:spPr>
          <a:xfrm>
            <a:off x="7879715" y="5715635"/>
            <a:ext cx="2526030" cy="368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混合云</a:t>
            </a:r>
            <a:endParaRPr kumimoji="0" lang="zh-CN" alt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672465" y="321945"/>
            <a:ext cx="10263505" cy="860425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49935" y="568325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应用层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2130425" y="467360"/>
            <a:ext cx="1925320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跨业务数据分享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1" name="CustomShape 9"/>
          <p:cNvSpPr/>
          <p:nvPr/>
        </p:nvSpPr>
        <p:spPr>
          <a:xfrm>
            <a:off x="4504055" y="467360"/>
            <a:ext cx="1914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跨境数据监管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2" name="CustomShape 9"/>
          <p:cNvSpPr/>
          <p:nvPr/>
        </p:nvSpPr>
        <p:spPr>
          <a:xfrm>
            <a:off x="8691245" y="467360"/>
            <a:ext cx="188023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其他数据应用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44" name="CustomShape 9"/>
          <p:cNvSpPr/>
          <p:nvPr/>
        </p:nvSpPr>
        <p:spPr>
          <a:xfrm>
            <a:off x="6797040" y="467360"/>
            <a:ext cx="1533525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...</a:t>
            </a:r>
            <a:endParaRPr kumimoji="0" lang="en-US" altLang="zh-CN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8"/>
          <p:cNvSpPr/>
          <p:nvPr/>
        </p:nvSpPr>
        <p:spPr>
          <a:xfrm>
            <a:off x="78920" y="2038784"/>
            <a:ext cx="7728032" cy="148416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round/>
          </a:ln>
          <a:effectLst/>
        </p:spPr>
        <p:txBody>
          <a:bodyPr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CustomShape 9"/>
          <p:cNvSpPr/>
          <p:nvPr/>
        </p:nvSpPr>
        <p:spPr>
          <a:xfrm>
            <a:off x="1489625" y="214839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</a:rPr>
              <a:t>数据安全存储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8" name="CustomShape 13"/>
          <p:cNvSpPr/>
          <p:nvPr/>
        </p:nvSpPr>
        <p:spPr>
          <a:xfrm>
            <a:off x="1489625" y="284595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分布式身份统一</a:t>
            </a:r>
            <a:endParaRPr lang="zh-CN" altLang="en-US" sz="1400" kern="0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5415" y="2600325"/>
            <a:ext cx="1382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数据治理层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CustomShape 15"/>
          <p:cNvSpPr/>
          <p:nvPr/>
        </p:nvSpPr>
        <p:spPr>
          <a:xfrm>
            <a:off x="95885" y="505460"/>
            <a:ext cx="9744710" cy="1380490"/>
          </a:xfrm>
          <a:prstGeom prst="rect">
            <a:avLst/>
          </a:prstGeom>
          <a:gradFill>
            <a:gsLst>
              <a:gs pos="1000">
                <a:schemeClr val="accent1">
                  <a:lumMod val="45000"/>
                  <a:lumOff val="55000"/>
                  <a:alpha val="65000"/>
                </a:schemeClr>
              </a:gs>
              <a:gs pos="40000">
                <a:schemeClr val="accent1">
                  <a:lumMod val="45000"/>
                  <a:lumOff val="5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5415" y="97028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业务应用层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CustomShape 9"/>
          <p:cNvSpPr/>
          <p:nvPr/>
        </p:nvSpPr>
        <p:spPr>
          <a:xfrm>
            <a:off x="1490133" y="8586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跨业务数据分享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78920" y="6055749"/>
            <a:ext cx="7711328" cy="622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0" i="0" u="none" strike="noStrike" kern="0" cap="none" spc="-1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0674" y="6219222"/>
            <a:ext cx="173732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基础资源层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CustomShape 9"/>
          <p:cNvSpPr/>
          <p:nvPr/>
        </p:nvSpPr>
        <p:spPr>
          <a:xfrm>
            <a:off x="1489626" y="6147313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政务云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58" name="CustomShape 9"/>
          <p:cNvSpPr/>
          <p:nvPr/>
        </p:nvSpPr>
        <p:spPr>
          <a:xfrm>
            <a:off x="3594573" y="6137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公有云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sp>
        <p:nvSpPr>
          <p:cNvPr id="74" name="CustomShape 9"/>
          <p:cNvSpPr/>
          <p:nvPr/>
        </p:nvSpPr>
        <p:spPr>
          <a:xfrm>
            <a:off x="5706466" y="6137417"/>
            <a:ext cx="1722535" cy="5073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175" cap="flat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混合云</a:t>
            </a:r>
            <a:endParaRPr lang="zh-CN" altLang="en-US" sz="1600" kern="0" spc="-1">
              <a:solidFill>
                <a:prstClr val="black"/>
              </a:solidFill>
              <a:latin typeface="DejaVu San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5624" y="3749623"/>
            <a:ext cx="7711328" cy="2190679"/>
            <a:chOff x="95624" y="3749623"/>
            <a:chExt cx="7711328" cy="2190679"/>
          </a:xfrm>
        </p:grpSpPr>
        <p:sp>
          <p:nvSpPr>
            <p:cNvPr id="45" name="文本框 44"/>
            <p:cNvSpPr txBox="1"/>
            <p:nvPr/>
          </p:nvSpPr>
          <p:spPr>
            <a:xfrm>
              <a:off x="133088" y="4578092"/>
              <a:ext cx="25038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latin typeface="+mn-ea"/>
                </a:defRPr>
              </a:lvl1pPr>
            </a:lstStyle>
            <a:p>
              <a:r>
                <a:rPr lang="zh-CN" altLang="en-US" b="0">
                  <a:latin typeface="黑体" panose="02010609060101010101" charset="-122"/>
                  <a:ea typeface="黑体" panose="02010609060101010101" charset="-122"/>
                </a:rPr>
                <a:t>理论技术层</a:t>
              </a:r>
              <a:endParaRPr lang="zh-CN" altLang="en-US" b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471251" y="3931395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安全增强</a:t>
              </a:r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659123" y="442070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权限管理</a:t>
              </a:r>
              <a:endParaRPr lang="zh-CN" altLang="en-US" sz="1600"/>
            </a:p>
          </p:txBody>
        </p:sp>
        <p:sp>
          <p:nvSpPr>
            <p:cNvPr id="48" name="矩形 47"/>
            <p:cNvSpPr/>
            <p:nvPr/>
          </p:nvSpPr>
          <p:spPr>
            <a:xfrm>
              <a:off x="1671854" y="509598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密码学优化</a:t>
              </a:r>
              <a:endParaRPr lang="zh-CN" sz="1600"/>
            </a:p>
          </p:txBody>
        </p:sp>
        <p:sp>
          <p:nvSpPr>
            <p:cNvPr id="43" name="矩形 42"/>
            <p:cNvSpPr/>
            <p:nvPr/>
          </p:nvSpPr>
          <p:spPr>
            <a:xfrm>
              <a:off x="95624" y="3749623"/>
              <a:ext cx="7711328" cy="2190679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577752" y="3931395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隐私增强</a:t>
              </a:r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765624" y="4420702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安全计算</a:t>
              </a:r>
              <a:endParaRPr lang="zh-CN" altLang="en-US" sz="160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778355" y="5095982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隐私保护</a:t>
              </a:r>
              <a:endParaRPr lang="zh-CN" sz="160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684253" y="3926153"/>
              <a:ext cx="1793293" cy="18952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数据管控</a:t>
              </a:r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872125" y="4415460"/>
              <a:ext cx="1444413" cy="5024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溯源审计</a:t>
              </a:r>
              <a:endParaRPr lang="zh-CN" altLang="en-US" sz="16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884856" y="5090740"/>
              <a:ext cx="1444413" cy="5151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交易监督</a:t>
              </a:r>
              <a:endParaRPr lang="zh-CN" sz="1600"/>
            </a:p>
          </p:txBody>
        </p:sp>
      </p:grpSp>
      <p:sp>
        <p:nvSpPr>
          <p:cNvPr id="30" name="CustomShape 9"/>
          <p:cNvSpPr/>
          <p:nvPr/>
        </p:nvSpPr>
        <p:spPr>
          <a:xfrm>
            <a:off x="3612947" y="2148396"/>
            <a:ext cx="1740909" cy="53007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数据安全计算</a:t>
            </a:r>
            <a:endParaRPr kumimoji="0" lang="en-US" sz="14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31" name="CustomShape 13"/>
          <p:cNvSpPr/>
          <p:nvPr/>
        </p:nvSpPr>
        <p:spPr>
          <a:xfrm>
            <a:off x="3612947" y="2845951"/>
            <a:ext cx="1722535" cy="479221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数据分级管理</a:t>
            </a:r>
            <a:endParaRPr lang="zh-CN" altLang="en-US" sz="1400" kern="0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2" name="CustomShape 9"/>
          <p:cNvSpPr/>
          <p:nvPr/>
        </p:nvSpPr>
        <p:spPr>
          <a:xfrm>
            <a:off x="5688092" y="2148397"/>
            <a:ext cx="1740909" cy="517938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隐私计算</a:t>
            </a:r>
            <a:endParaRPr lang="zh-CN" altLang="en-US" sz="1400" kern="0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3" name="CustomShape 13"/>
          <p:cNvSpPr/>
          <p:nvPr/>
        </p:nvSpPr>
        <p:spPr>
          <a:xfrm>
            <a:off x="5706466" y="2835865"/>
            <a:ext cx="1722535" cy="489307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kern="0" spc="-1">
                <a:solidFill>
                  <a:srgbClr val="FFFFFF"/>
                </a:solidFill>
                <a:latin typeface="Arial" panose="020B0604020202020204"/>
              </a:rPr>
              <a:t>可信溯源</a:t>
            </a:r>
            <a:endParaRPr lang="zh-CN" altLang="en-US" sz="1400" kern="0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297041" y="2050843"/>
            <a:ext cx="1608620" cy="4536679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8416789" y="2811447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多方安全机器学习框架</a:t>
            </a:r>
            <a:endParaRPr lang="zh-CN" altLang="en-US" sz="1600"/>
          </a:p>
        </p:txBody>
      </p:sp>
      <p:sp>
        <p:nvSpPr>
          <p:cNvPr id="36" name="箭头: 右 35"/>
          <p:cNvSpPr/>
          <p:nvPr/>
        </p:nvSpPr>
        <p:spPr>
          <a:xfrm>
            <a:off x="7825891" y="4624636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8565011" y="2292954"/>
            <a:ext cx="116442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latin typeface="+mn-ea"/>
              </a:defRPr>
            </a:lvl1pPr>
          </a:lstStyle>
          <a:p>
            <a:r>
              <a:rPr lang="zh-CN" altLang="en-US" b="0">
                <a:latin typeface="黑体" panose="02010609060101010101" charset="-122"/>
                <a:ea typeface="黑体" panose="02010609060101010101" charset="-122"/>
              </a:rPr>
              <a:t>技术框架</a:t>
            </a:r>
            <a:endParaRPr lang="zh-CN" altLang="en-US" b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412136" y="3805706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可信联邦计算框架</a:t>
            </a:r>
            <a:endParaRPr lang="zh-CN" altLang="en-US" sz="1600"/>
          </a:p>
        </p:txBody>
      </p:sp>
      <p:sp>
        <p:nvSpPr>
          <p:cNvPr id="81" name="矩形 80"/>
          <p:cNvSpPr/>
          <p:nvPr/>
        </p:nvSpPr>
        <p:spPr>
          <a:xfrm>
            <a:off x="8412136" y="4797472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数据分布式存储与共享框架</a:t>
            </a:r>
            <a:endParaRPr lang="zh-CN" altLang="en-US" sz="1600"/>
          </a:p>
        </p:txBody>
      </p:sp>
      <p:sp>
        <p:nvSpPr>
          <p:cNvPr id="83" name="矩形 82"/>
          <p:cNvSpPr/>
          <p:nvPr/>
        </p:nvSpPr>
        <p:spPr>
          <a:xfrm>
            <a:off x="8412136" y="5681397"/>
            <a:ext cx="1324270" cy="731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分布式身份管理框架</a:t>
            </a:r>
            <a:endParaRPr lang="zh-CN" altLang="en-US" sz="1600"/>
          </a:p>
        </p:txBody>
      </p:sp>
      <p:sp>
        <p:nvSpPr>
          <p:cNvPr id="85" name="矩形 84"/>
          <p:cNvSpPr/>
          <p:nvPr/>
        </p:nvSpPr>
        <p:spPr>
          <a:xfrm>
            <a:off x="10412454" y="2718855"/>
            <a:ext cx="1717329" cy="36918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数据可信分享平台</a:t>
            </a:r>
            <a:endParaRPr lang="zh-CN" altLang="en-US" sz="2800" dirty="0"/>
          </a:p>
          <a:p>
            <a:pPr algn="ctr"/>
            <a:endParaRPr lang="zh-CN" altLang="en-US" sz="2800" dirty="0"/>
          </a:p>
        </p:txBody>
      </p:sp>
      <p:sp>
        <p:nvSpPr>
          <p:cNvPr id="87" name="箭头: 右 86"/>
          <p:cNvSpPr/>
          <p:nvPr/>
        </p:nvSpPr>
        <p:spPr>
          <a:xfrm>
            <a:off x="9871968" y="45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箭头: 下 87"/>
          <p:cNvSpPr/>
          <p:nvPr/>
        </p:nvSpPr>
        <p:spPr>
          <a:xfrm rot="10800000">
            <a:off x="10960399" y="1917732"/>
            <a:ext cx="621437" cy="760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/>
        </p:nvCxnSpPr>
        <p:spPr>
          <a:xfrm>
            <a:off x="1471251" y="2740962"/>
            <a:ext cx="5957750" cy="0"/>
          </a:xfrm>
          <a:prstGeom prst="line">
            <a:avLst/>
          </a:prstGeom>
          <a:ln w="28575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stomShape 9"/>
          <p:cNvSpPr/>
          <p:nvPr/>
        </p:nvSpPr>
        <p:spPr>
          <a:xfrm>
            <a:off x="3525514" y="85006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"/>
              </a:rPr>
              <a:t>数据协同计算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6" name="CustomShape 9"/>
          <p:cNvSpPr/>
          <p:nvPr/>
        </p:nvSpPr>
        <p:spPr>
          <a:xfrm>
            <a:off x="5574935" y="85864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数据隐私保护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98" name="CustomShape 9"/>
          <p:cNvSpPr/>
          <p:nvPr/>
        </p:nvSpPr>
        <p:spPr>
          <a:xfrm>
            <a:off x="7640796" y="850062"/>
            <a:ext cx="1670767" cy="570230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spc="-1">
                <a:solidFill>
                  <a:prstClr val="black"/>
                </a:solidFill>
                <a:latin typeface="DejaVu Sans"/>
              </a:rPr>
              <a:t>跨设备联动</a:t>
            </a:r>
            <a:endParaRPr kumimoji="0" lang="zh-CN" altLang="en-US" sz="1600" b="0" i="0" u="none" strike="noStrike" kern="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0379075" y="505460"/>
            <a:ext cx="171704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500"/>
              <a:t>智慧城市安全协同</a:t>
            </a:r>
            <a:endParaRPr lang="zh-CN" altLang="en-US" sz="2500"/>
          </a:p>
        </p:txBody>
      </p:sp>
      <p:sp>
        <p:nvSpPr>
          <p:cNvPr id="112" name="箭头: 右 111"/>
          <p:cNvSpPr/>
          <p:nvPr/>
        </p:nvSpPr>
        <p:spPr>
          <a:xfrm>
            <a:off x="9820080" y="878092"/>
            <a:ext cx="523782" cy="342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88185" y="4021455"/>
            <a:ext cx="1880870" cy="1444625"/>
          </a:xfrm>
          <a:prstGeom prst="rect">
            <a:avLst/>
          </a:prstGeom>
          <a:ln w="22225" cmpd="sng">
            <a:solidFill>
              <a:schemeClr val="tx1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auto">
              <a:lnSpc>
                <a:spcPct val="150000"/>
              </a:lnSpc>
            </a:pPr>
            <a:r>
              <a:rPr lang="zh-CN" altLang="en-US" sz="2000"/>
              <a:t>云基础设施</a:t>
            </a:r>
            <a:endParaRPr lang="zh-CN" altLang="en-US" sz="2000"/>
          </a:p>
          <a:p>
            <a:pPr algn="ctr" fontAlgn="auto">
              <a:lnSpc>
                <a:spcPct val="150000"/>
              </a:lnSpc>
            </a:pPr>
            <a:r>
              <a:rPr lang="zh-CN" altLang="en-US" sz="2000"/>
              <a:t>可信增强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990725" y="1132205"/>
            <a:ext cx="1880870" cy="1444625"/>
          </a:xfrm>
          <a:prstGeom prst="rect">
            <a:avLst/>
          </a:prstGeom>
          <a:ln w="22225" cmpd="sng">
            <a:solidFill>
              <a:schemeClr val="tx1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auto">
              <a:lnSpc>
                <a:spcPct val="150000"/>
              </a:lnSpc>
            </a:pPr>
            <a:r>
              <a:rPr lang="zh-CN" altLang="en-US" sz="2000"/>
              <a:t>跨域数据</a:t>
            </a:r>
            <a:endParaRPr lang="zh-CN" altLang="en-US" sz="2000"/>
          </a:p>
          <a:p>
            <a:pPr algn="ctr" fontAlgn="auto">
              <a:lnSpc>
                <a:spcPct val="150000"/>
              </a:lnSpc>
            </a:pPr>
            <a:r>
              <a:rPr lang="zh-CN" altLang="en-US" sz="2000"/>
              <a:t>可信共享</a:t>
            </a:r>
            <a:endParaRPr lang="zh-CN" altLang="en-US" sz="2000"/>
          </a:p>
        </p:txBody>
      </p:sp>
      <p:sp>
        <p:nvSpPr>
          <p:cNvPr id="12" name="矩形 11"/>
          <p:cNvSpPr/>
          <p:nvPr/>
        </p:nvSpPr>
        <p:spPr>
          <a:xfrm>
            <a:off x="3871595" y="1132205"/>
            <a:ext cx="6537960" cy="1444625"/>
          </a:xfrm>
          <a:prstGeom prst="rect">
            <a:avLst/>
          </a:prstGeom>
          <a:ln w="22225" cmpd="sng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991360" y="2576830"/>
            <a:ext cx="1880870" cy="1444625"/>
          </a:xfrm>
          <a:prstGeom prst="rect">
            <a:avLst/>
          </a:prstGeom>
          <a:ln w="22225" cmpd="sng">
            <a:solidFill>
              <a:schemeClr val="tx1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auto">
              <a:lnSpc>
                <a:spcPct val="150000"/>
              </a:lnSpc>
            </a:pPr>
            <a:r>
              <a:rPr lang="zh-CN" altLang="en-US" sz="2000"/>
              <a:t>分级数据</a:t>
            </a:r>
            <a:endParaRPr lang="zh-CN" altLang="en-US" sz="2000"/>
          </a:p>
          <a:p>
            <a:pPr algn="ctr" fontAlgn="auto">
              <a:lnSpc>
                <a:spcPct val="150000"/>
              </a:lnSpc>
            </a:pPr>
            <a:r>
              <a:rPr lang="zh-CN" altLang="en-US" sz="2000"/>
              <a:t>隐私保护</a:t>
            </a:r>
            <a:endParaRPr lang="zh-CN" altLang="en-US" sz="2000"/>
          </a:p>
        </p:txBody>
      </p:sp>
      <p:sp>
        <p:nvSpPr>
          <p:cNvPr id="16" name="矩形 15"/>
          <p:cNvSpPr/>
          <p:nvPr/>
        </p:nvSpPr>
        <p:spPr>
          <a:xfrm>
            <a:off x="3871595" y="2576830"/>
            <a:ext cx="6537960" cy="1444625"/>
          </a:xfrm>
          <a:prstGeom prst="rect">
            <a:avLst/>
          </a:prstGeom>
          <a:ln w="22225" cmpd="sng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871595" y="4021455"/>
            <a:ext cx="6537960" cy="1444625"/>
          </a:xfrm>
          <a:prstGeom prst="rect">
            <a:avLst/>
          </a:prstGeom>
          <a:ln w="22225" cmpd="sng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693410" y="1379220"/>
            <a:ext cx="3061970" cy="836930"/>
          </a:xfrm>
          <a:prstGeom prst="rect">
            <a:avLst/>
          </a:prstGeom>
          <a:solidFill>
            <a:srgbClr val="E8B8B4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693410" y="2880995"/>
            <a:ext cx="3061970" cy="945515"/>
          </a:xfrm>
          <a:prstGeom prst="rect">
            <a:avLst/>
          </a:prstGeom>
          <a:solidFill>
            <a:srgbClr val="B6DBE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34225" y="4324985"/>
            <a:ext cx="3038475" cy="922655"/>
          </a:xfrm>
          <a:prstGeom prst="rect">
            <a:avLst/>
          </a:prstGeom>
          <a:solidFill>
            <a:srgbClr val="CFC0D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206865" y="1497330"/>
            <a:ext cx="932180" cy="604520"/>
          </a:xfrm>
          <a:prstGeom prst="rect">
            <a:avLst/>
          </a:prstGeom>
          <a:solidFill>
            <a:srgbClr val="E8B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可信共享数据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206865" y="2997200"/>
            <a:ext cx="932180" cy="604520"/>
          </a:xfrm>
          <a:prstGeom prst="rect">
            <a:avLst/>
          </a:prstGeom>
          <a:solidFill>
            <a:srgbClr val="B6DB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隐私保护数据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241165" y="1538605"/>
            <a:ext cx="10134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隐私保护</a:t>
            </a:r>
            <a:endParaRPr lang="zh-CN" altLang="en-US" sz="1600"/>
          </a:p>
          <a:p>
            <a:pPr algn="ctr"/>
            <a:r>
              <a:rPr lang="zh-CN" altLang="en-US" sz="1600"/>
              <a:t>数据</a:t>
            </a:r>
            <a:endParaRPr lang="zh-CN" altLang="en-US" sz="160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5165725" y="1811655"/>
            <a:ext cx="512445" cy="4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5165725" y="3296920"/>
            <a:ext cx="512445" cy="4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6406515" y="4694555"/>
            <a:ext cx="512445" cy="4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449445" y="2997200"/>
            <a:ext cx="6242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隐私</a:t>
            </a:r>
            <a:endParaRPr lang="zh-CN" altLang="en-US" sz="1600"/>
          </a:p>
          <a:p>
            <a:r>
              <a:rPr lang="zh-CN" altLang="en-US" sz="1600"/>
              <a:t>数据</a:t>
            </a:r>
            <a:endParaRPr lang="zh-CN" altLang="en-US" sz="1600"/>
          </a:p>
        </p:txBody>
      </p:sp>
      <p:sp>
        <p:nvSpPr>
          <p:cNvPr id="32" name="文本框 31"/>
          <p:cNvSpPr txBox="1"/>
          <p:nvPr/>
        </p:nvSpPr>
        <p:spPr>
          <a:xfrm>
            <a:off x="6179820" y="1393825"/>
            <a:ext cx="2124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隐私与权限均衡</a:t>
            </a:r>
            <a:endParaRPr lang="zh-CN" altLang="en-US" sz="1600"/>
          </a:p>
        </p:txBody>
      </p:sp>
      <p:sp>
        <p:nvSpPr>
          <p:cNvPr id="33" name="矩形 32"/>
          <p:cNvSpPr/>
          <p:nvPr/>
        </p:nvSpPr>
        <p:spPr>
          <a:xfrm>
            <a:off x="5887085" y="1771015"/>
            <a:ext cx="1149985" cy="352425"/>
          </a:xfrm>
          <a:prstGeom prst="rect">
            <a:avLst/>
          </a:prstGeom>
          <a:solidFill>
            <a:srgbClr val="9239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同态加密</a:t>
            </a:r>
            <a:endParaRPr lang="zh-CN" altLang="en-US" sz="1400"/>
          </a:p>
        </p:txBody>
      </p:sp>
      <p:sp>
        <p:nvSpPr>
          <p:cNvPr id="34" name="矩形 33"/>
          <p:cNvSpPr/>
          <p:nvPr/>
        </p:nvSpPr>
        <p:spPr>
          <a:xfrm>
            <a:off x="7468235" y="1778000"/>
            <a:ext cx="1149985" cy="352425"/>
          </a:xfrm>
          <a:prstGeom prst="rect">
            <a:avLst/>
          </a:prstGeom>
          <a:solidFill>
            <a:srgbClr val="9239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联邦学习</a:t>
            </a:r>
            <a:endParaRPr lang="zh-CN" altLang="en-US" sz="1400"/>
          </a:p>
        </p:txBody>
      </p:sp>
      <p:sp>
        <p:nvSpPr>
          <p:cNvPr id="35" name="文本框 34"/>
          <p:cNvSpPr txBox="1"/>
          <p:nvPr/>
        </p:nvSpPr>
        <p:spPr>
          <a:xfrm>
            <a:off x="7120890" y="1753235"/>
            <a:ext cx="32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36" name="文本框 35"/>
          <p:cNvSpPr txBox="1"/>
          <p:nvPr/>
        </p:nvSpPr>
        <p:spPr>
          <a:xfrm>
            <a:off x="6167755" y="2917190"/>
            <a:ext cx="2124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/>
              <a:t>分级权限管理</a:t>
            </a:r>
            <a:endParaRPr lang="zh-CN" altLang="en-US" sz="1600"/>
          </a:p>
        </p:txBody>
      </p:sp>
      <p:sp>
        <p:nvSpPr>
          <p:cNvPr id="37" name="矩形 36"/>
          <p:cNvSpPr/>
          <p:nvPr/>
        </p:nvSpPr>
        <p:spPr>
          <a:xfrm>
            <a:off x="5875020" y="3294380"/>
            <a:ext cx="1229360" cy="436245"/>
          </a:xfrm>
          <a:prstGeom prst="rect">
            <a:avLst/>
          </a:prstGeom>
          <a:solidFill>
            <a:srgbClr val="2059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安全等级</a:t>
            </a:r>
            <a:endParaRPr lang="zh-CN" altLang="en-US" sz="1400"/>
          </a:p>
          <a:p>
            <a:pPr algn="ctr"/>
            <a:r>
              <a:rPr lang="zh-CN" altLang="en-US" sz="1400"/>
              <a:t>规则制订</a:t>
            </a:r>
            <a:endParaRPr lang="zh-CN" altLang="en-US" sz="1400"/>
          </a:p>
        </p:txBody>
      </p:sp>
      <p:sp>
        <p:nvSpPr>
          <p:cNvPr id="38" name="矩形 37"/>
          <p:cNvSpPr/>
          <p:nvPr/>
        </p:nvSpPr>
        <p:spPr>
          <a:xfrm>
            <a:off x="7456170" y="3301365"/>
            <a:ext cx="1149985" cy="431165"/>
          </a:xfrm>
          <a:prstGeom prst="rect">
            <a:avLst/>
          </a:prstGeom>
          <a:solidFill>
            <a:srgbClr val="2059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区块链合约权限管理</a:t>
            </a:r>
            <a:endParaRPr lang="zh-CN" altLang="en-US" sz="1400"/>
          </a:p>
        </p:txBody>
      </p:sp>
      <p:sp>
        <p:nvSpPr>
          <p:cNvPr id="39" name="文本框 38"/>
          <p:cNvSpPr txBox="1"/>
          <p:nvPr/>
        </p:nvSpPr>
        <p:spPr>
          <a:xfrm>
            <a:off x="7108825" y="3276600"/>
            <a:ext cx="32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7589520" y="4345305"/>
            <a:ext cx="2124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ym typeface="+mn-ea"/>
              </a:rPr>
              <a:t>最小化</a:t>
            </a:r>
            <a:r>
              <a:rPr lang="zh-CN" altLang="en-US" sz="1600"/>
              <a:t>隐私披露</a:t>
            </a:r>
            <a:endParaRPr lang="zh-CN" altLang="en-US" sz="1600"/>
          </a:p>
        </p:txBody>
      </p:sp>
      <p:sp>
        <p:nvSpPr>
          <p:cNvPr id="41" name="矩形 40"/>
          <p:cNvSpPr/>
          <p:nvPr/>
        </p:nvSpPr>
        <p:spPr>
          <a:xfrm>
            <a:off x="7210425" y="4705350"/>
            <a:ext cx="1284605" cy="434975"/>
          </a:xfrm>
          <a:prstGeom prst="rect">
            <a:avLst/>
          </a:prstGeom>
          <a:solidFill>
            <a:srgbClr val="5141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融合</a:t>
            </a:r>
            <a:r>
              <a:rPr lang="en-US" altLang="zh-CN" sz="1400"/>
              <a:t>DID</a:t>
            </a:r>
            <a:r>
              <a:rPr lang="zh-CN" altLang="en-US" sz="1400"/>
              <a:t>的分布式身份管理</a:t>
            </a:r>
            <a:endParaRPr lang="zh-CN" altLang="en-US" sz="1400"/>
          </a:p>
        </p:txBody>
      </p:sp>
      <p:sp>
        <p:nvSpPr>
          <p:cNvPr id="42" name="矩形 41"/>
          <p:cNvSpPr/>
          <p:nvPr/>
        </p:nvSpPr>
        <p:spPr>
          <a:xfrm>
            <a:off x="8679815" y="4704080"/>
            <a:ext cx="1452245" cy="436880"/>
          </a:xfrm>
          <a:prstGeom prst="rect">
            <a:avLst/>
          </a:prstGeom>
          <a:solidFill>
            <a:srgbClr val="5141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基于零知识证明的可验证凭证</a:t>
            </a:r>
            <a:endParaRPr lang="zh-CN" altLang="en-US" sz="1400"/>
          </a:p>
        </p:txBody>
      </p:sp>
      <p:sp>
        <p:nvSpPr>
          <p:cNvPr id="43" name="文本框 42"/>
          <p:cNvSpPr txBox="1"/>
          <p:nvPr/>
        </p:nvSpPr>
        <p:spPr>
          <a:xfrm>
            <a:off x="8439150" y="4704715"/>
            <a:ext cx="32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+</a:t>
            </a:r>
            <a:endParaRPr lang="en-US" altLang="zh-CN"/>
          </a:p>
        </p:txBody>
      </p:sp>
      <p:cxnSp>
        <p:nvCxnSpPr>
          <p:cNvPr id="44" name="直接箭头连接符 43"/>
          <p:cNvCxnSpPr/>
          <p:nvPr/>
        </p:nvCxnSpPr>
        <p:spPr>
          <a:xfrm>
            <a:off x="8844915" y="1819275"/>
            <a:ext cx="31369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850630" y="3319145"/>
            <a:ext cx="31369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连接符 46"/>
          <p:cNvCxnSpPr/>
          <p:nvPr/>
        </p:nvCxnSpPr>
        <p:spPr>
          <a:xfrm flipH="1" flipV="1">
            <a:off x="6462395" y="2123440"/>
            <a:ext cx="3676650" cy="2626995"/>
          </a:xfrm>
          <a:prstGeom prst="bentConnector4">
            <a:avLst>
              <a:gd name="adj1" fmla="val -3385"/>
              <a:gd name="adj2" fmla="val 88324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24" idx="0"/>
            <a:endCxn id="26" idx="2"/>
          </p:cNvCxnSpPr>
          <p:nvPr/>
        </p:nvCxnSpPr>
        <p:spPr>
          <a:xfrm rot="16200000" flipV="1">
            <a:off x="6772910" y="97155"/>
            <a:ext cx="875030" cy="4925060"/>
          </a:xfrm>
          <a:prstGeom prst="bentConnector3">
            <a:avLst>
              <a:gd name="adj1" fmla="val 34833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025265" y="4321810"/>
            <a:ext cx="2947670" cy="924560"/>
          </a:xfrm>
          <a:prstGeom prst="rect">
            <a:avLst/>
          </a:prstGeom>
          <a:solidFill>
            <a:srgbClr val="CFC0D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436110" y="4342130"/>
            <a:ext cx="2124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ym typeface="+mn-ea"/>
              </a:rPr>
              <a:t>云计算行为监管</a:t>
            </a:r>
            <a:endParaRPr lang="zh-CN" altLang="en-US" sz="16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07815" y="4693920"/>
            <a:ext cx="1306830" cy="447040"/>
          </a:xfrm>
          <a:prstGeom prst="rect">
            <a:avLst/>
          </a:prstGeom>
          <a:solidFill>
            <a:srgbClr val="5141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基于日志审计的计算溯源</a:t>
            </a:r>
            <a:endParaRPr lang="zh-CN" altLang="en-US" sz="1400"/>
          </a:p>
        </p:txBody>
      </p:sp>
      <p:sp>
        <p:nvSpPr>
          <p:cNvPr id="5" name="矩形 4"/>
          <p:cNvSpPr/>
          <p:nvPr/>
        </p:nvSpPr>
        <p:spPr>
          <a:xfrm>
            <a:off x="5704205" y="4693920"/>
            <a:ext cx="1149985" cy="447040"/>
          </a:xfrm>
          <a:prstGeom prst="rect">
            <a:avLst/>
          </a:prstGeom>
          <a:solidFill>
            <a:srgbClr val="5141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区块链存证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387340" y="4711700"/>
            <a:ext cx="32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+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028940" y="2130425"/>
            <a:ext cx="4445" cy="25146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5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6.xml><?xml version="1.0" encoding="utf-8"?>
<p:tagLst xmlns:p="http://schemas.openxmlformats.org/presentationml/2006/main">
  <p:tag name="KSO_WM_TEMPLATE_THUMBS_INDEX" val="1、2、3、6、9、11、12、13、14、15、16"/>
  <p:tag name="KSO_WM_SLIDE_ID" val="custom20187308_1"/>
  <p:tag name="KSO_WM_TEMPLATE_SUBCATEGORY" val="19"/>
  <p:tag name="KSO_WM_TEMPLATE_MASTER_TYPE" val="0"/>
  <p:tag name="KSO_WM_TEMPLATE_COLOR_TYPE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7.xml><?xml version="1.0" encoding="utf-8"?>
<p:tagLst xmlns:p="http://schemas.openxmlformats.org/presentationml/2006/main">
  <p:tag name="KSO_WM_UNIT_PLACING_PICTURE_USER_VIEWPORT" val="{&quot;height&quot;:8884,&quot;width&quot;:13713}"/>
</p:tagLst>
</file>

<file path=ppt/tags/tag78.xml><?xml version="1.0" encoding="utf-8"?>
<p:tagLst xmlns:p="http://schemas.openxmlformats.org/presentationml/2006/main">
  <p:tag name="KSO_WM_UNIT_PLACING_PICTURE_USER_VIEWPORT" val="{&quot;height&quot;:3555,&quot;width&quot;:3855}"/>
</p:tagLst>
</file>

<file path=ppt/tags/tag7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0.xml><?xml version="1.0" encoding="utf-8"?>
<p:tagLst xmlns:p="http://schemas.openxmlformats.org/presentationml/2006/main">
  <p:tag name="KSO_WM_UNIT_PLACING_PICTURE_USER_VIEWPORT" val="{&quot;height&quot;:3555,&quot;width&quot;:3855}"/>
</p:tagLst>
</file>

<file path=ppt/tags/tag81.xml><?xml version="1.0" encoding="utf-8"?>
<p:tagLst xmlns:p="http://schemas.openxmlformats.org/presentationml/2006/main">
  <p:tag name="KSO_WM_UNIT_PLACING_PICTURE_USER_VIEWPORT" val="{&quot;height&quot;:3555,&quot;width&quot;:3855}"/>
</p:tagLst>
</file>

<file path=ppt/tags/tag8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4.xml><?xml version="1.0" encoding="utf-8"?>
<p:tagLst xmlns:p="http://schemas.openxmlformats.org/presentationml/2006/main">
  <p:tag name="COMMONDATA" val="eyJoZGlkIjoiY2M5MjMxNDFkMmIwZDMyZmNmMmJmOTNjYmQzN2NmZDMifQ=="/>
  <p:tag name="KSO_WPP_MARK_KEY" val="1d905b5a-c3dd-4ae6-b030-7794c1bf595d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6811</Words>
  <Application>WPS 演示</Application>
  <PresentationFormat>宽屏</PresentationFormat>
  <Paragraphs>2303</Paragraphs>
  <Slides>33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Arial</vt:lpstr>
      <vt:lpstr>DejaVu Sans</vt:lpstr>
      <vt:lpstr>Calibri</vt:lpstr>
      <vt:lpstr>黑体</vt:lpstr>
      <vt:lpstr>Times New Roman</vt:lpstr>
      <vt:lpstr>Arial Unicode MS</vt:lpstr>
      <vt:lpstr>Wingdings</vt:lpstr>
      <vt:lpstr>Impact</vt:lpstr>
      <vt:lpstr>Aharoni</vt:lpstr>
      <vt:lpstr>Yu Gothic UI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默守黑白</cp:lastModifiedBy>
  <cp:revision>167</cp:revision>
  <dcterms:created xsi:type="dcterms:W3CDTF">2019-06-19T02:08:00Z</dcterms:created>
  <dcterms:modified xsi:type="dcterms:W3CDTF">2025-08-12T06:54:23Z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2052-12.8.2.18913</vt:lpwstr>
  </property>
  <property fmtid="{D5CDD505-2E9C-101B-9397-08002B2CF9AE}" pid="3" name="ICV">
    <vt:lpwstr>1BF6F5696DC543808B708B222239D5B3_13</vt:lpwstr>
  </property>
</Properties>
</file>